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9"/>
  </p:notesMasterIdLst>
  <p:sldIdLst>
    <p:sldId id="256" r:id="rId4"/>
    <p:sldId id="289" r:id="rId5"/>
    <p:sldId id="258" r:id="rId6"/>
    <p:sldId id="262" r:id="rId7"/>
    <p:sldId id="259" r:id="rId8"/>
    <p:sldId id="267" r:id="rId10"/>
    <p:sldId id="268" r:id="rId11"/>
    <p:sldId id="302" r:id="rId12"/>
    <p:sldId id="303" r:id="rId13"/>
    <p:sldId id="304" r:id="rId14"/>
    <p:sldId id="269" r:id="rId15"/>
    <p:sldId id="273" r:id="rId16"/>
    <p:sldId id="260" r:id="rId17"/>
    <p:sldId id="283" r:id="rId18"/>
    <p:sldId id="285" r:id="rId19"/>
    <p:sldId id="284" r:id="rId20"/>
    <p:sldId id="312" r:id="rId21"/>
    <p:sldId id="265" r:id="rId22"/>
    <p:sldId id="313" r:id="rId23"/>
    <p:sldId id="314" r:id="rId24"/>
    <p:sldId id="315" r:id="rId25"/>
    <p:sldId id="318" r:id="rId26"/>
    <p:sldId id="316" r:id="rId27"/>
    <p:sldId id="317" r:id="rId28"/>
    <p:sldId id="319" r:id="rId29"/>
    <p:sldId id="320" r:id="rId30"/>
    <p:sldId id="321" r:id="rId31"/>
    <p:sldId id="322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E395D"/>
    <a:srgbClr val="E87F34"/>
    <a:srgbClr val="F08A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36"/>
    <p:restoredTop sz="94618"/>
  </p:normalViewPr>
  <p:slideViewPr>
    <p:cSldViewPr snapToGrid="0" snapToObjects="1">
      <p:cViewPr varScale="1">
        <p:scale>
          <a:sx n="104" d="100"/>
          <a:sy n="104" d="100"/>
        </p:scale>
        <p:origin x="60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6CCC2C-6485-614B-8AB0-895F3D6DDF24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88EF34-A158-A64C-BAB1-A46DE725F49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8EF34-A158-A64C-BAB1-A46DE725F49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8EF34-A158-A64C-BAB1-A46DE725F49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8EF34-A158-A64C-BAB1-A46DE725F49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8EF34-A158-A64C-BAB1-A46DE725F49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8EF34-A158-A64C-BAB1-A46DE725F49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8EF34-A158-A64C-BAB1-A46DE725F49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8EF34-A158-A64C-BAB1-A46DE725F49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8EF34-A158-A64C-BAB1-A46DE725F49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34DC6-370D-BB4B-AAA3-AE305F3D44B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A6E1-250F-5043-9ACE-2C6F940A33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34DC6-370D-BB4B-AAA3-AE305F3D44B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A6E1-250F-5043-9ACE-2C6F940A33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34DC6-370D-BB4B-AAA3-AE305F3D44B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A6E1-250F-5043-9ACE-2C6F940A33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34DC6-370D-BB4B-AAA3-AE305F3D44B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A6E1-250F-5043-9ACE-2C6F940A33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34DC6-370D-BB4B-AAA3-AE305F3D44B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A6E1-250F-5043-9ACE-2C6F940A33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34DC6-370D-BB4B-AAA3-AE305F3D44B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A6E1-250F-5043-9ACE-2C6F940A33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34DC6-370D-BB4B-AAA3-AE305F3D44B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A6E1-250F-5043-9ACE-2C6F940A33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34DC6-370D-BB4B-AAA3-AE305F3D44B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A6E1-250F-5043-9ACE-2C6F940A33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34DC6-370D-BB4B-AAA3-AE305F3D44B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A6E1-250F-5043-9ACE-2C6F940A33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34DC6-370D-BB4B-AAA3-AE305F3D44B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A6E1-250F-5043-9ACE-2C6F940A33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34DC6-370D-BB4B-AAA3-AE305F3D44B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A6E1-250F-5043-9ACE-2C6F940A33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34DC6-370D-BB4B-AAA3-AE305F3D44B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A6E1-250F-5043-9ACE-2C6F940A33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34DC6-370D-BB4B-AAA3-AE305F3D44B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A6E1-250F-5043-9ACE-2C6F940A33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34DC6-370D-BB4B-AAA3-AE305F3D44B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A6E1-250F-5043-9ACE-2C6F940A33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34DC6-370D-BB4B-AAA3-AE305F3D44B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A6E1-250F-5043-9ACE-2C6F940A33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34DC6-370D-BB4B-AAA3-AE305F3D44B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A6E1-250F-5043-9ACE-2C6F940A33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34DC6-370D-BB4B-AAA3-AE305F3D44B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A6E1-250F-5043-9ACE-2C6F940A33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34DC6-370D-BB4B-AAA3-AE305F3D44B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A6E1-250F-5043-9ACE-2C6F940A33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34DC6-370D-BB4B-AAA3-AE305F3D44B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A6E1-250F-5043-9ACE-2C6F940A33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34DC6-370D-BB4B-AAA3-AE305F3D44B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A6E1-250F-5043-9ACE-2C6F940A33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34DC6-370D-BB4B-AAA3-AE305F3D44B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A6E1-250F-5043-9ACE-2C6F940A33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34DC6-370D-BB4B-AAA3-AE305F3D44B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A6E1-250F-5043-9ACE-2C6F940A334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834DC6-370D-BB4B-AAA3-AE305F3D44B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4A6E1-250F-5043-9ACE-2C6F940A334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834DC6-370D-BB4B-AAA3-AE305F3D44B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4A6E1-250F-5043-9ACE-2C6F940A334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chemeClr val="tx1"/>
                </a:solidFill>
                <a:latin typeface="微软雅黑" charset="0"/>
                <a:ea typeface="微软雅黑" charset="0"/>
              </a:rPr>
              <a:t>GPU</a:t>
            </a:r>
            <a:r>
              <a:rPr lang="zh-CN" altLang="en-US" b="1" dirty="0">
                <a:solidFill>
                  <a:schemeClr val="tx1"/>
                </a:solidFill>
                <a:latin typeface="微软雅黑" charset="0"/>
                <a:ea typeface="微软雅黑" charset="0"/>
              </a:rPr>
              <a:t>调度技术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0"/>
          <p:cNvCxnSpPr/>
          <p:nvPr/>
        </p:nvCxnSpPr>
        <p:spPr>
          <a:xfrm>
            <a:off x="578734" y="1075544"/>
            <a:ext cx="11331615" cy="1268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1"/>
          <p:cNvSpPr txBox="1"/>
          <p:nvPr/>
        </p:nvSpPr>
        <p:spPr>
          <a:xfrm>
            <a:off x="581867" y="261206"/>
            <a:ext cx="10515600" cy="829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大纲</a:t>
            </a:r>
            <a:endParaRPr lang="en-US" sz="4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30"/>
          <p:cNvCxnSpPr/>
          <p:nvPr/>
        </p:nvCxnSpPr>
        <p:spPr>
          <a:xfrm>
            <a:off x="578734" y="1075544"/>
            <a:ext cx="11331615" cy="1268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104900" y="1886585"/>
            <a:ext cx="11798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模型开发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能力组件</a:t>
            </a:r>
            <a:endParaRPr lang="zh-CN" altLang="en-US" sz="1400"/>
          </a:p>
        </p:txBody>
      </p:sp>
      <p:sp>
        <p:nvSpPr>
          <p:cNvPr id="8" name="矩形 7"/>
          <p:cNvSpPr/>
          <p:nvPr/>
        </p:nvSpPr>
        <p:spPr>
          <a:xfrm>
            <a:off x="708660" y="1720215"/>
            <a:ext cx="8844280" cy="641985"/>
          </a:xfrm>
          <a:prstGeom prst="rect">
            <a:avLst/>
          </a:prstGeom>
          <a:noFill/>
          <a:ln>
            <a:solidFill>
              <a:srgbClr val="FE39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Rounded Rectangle 5"/>
          <p:cNvSpPr/>
          <p:nvPr/>
        </p:nvSpPr>
        <p:spPr>
          <a:xfrm>
            <a:off x="892810" y="1524000"/>
            <a:ext cx="6765290" cy="362585"/>
          </a:xfrm>
          <a:prstGeom prst="roundRect">
            <a:avLst/>
          </a:prstGeom>
          <a:solidFill>
            <a:srgbClr val="FE39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104900" y="2889885"/>
            <a:ext cx="11798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架构</a:t>
            </a:r>
            <a:r>
              <a:rPr lang="zh-CN" altLang="en-US" sz="1400"/>
              <a:t>设计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组件</a:t>
            </a:r>
            <a:r>
              <a:rPr lang="zh-CN" altLang="en-US" sz="1400"/>
              <a:t>说明</a:t>
            </a:r>
            <a:endParaRPr lang="zh-CN" altLang="en-US" sz="1400"/>
          </a:p>
        </p:txBody>
      </p:sp>
      <p:sp>
        <p:nvSpPr>
          <p:cNvPr id="21" name="矩形 20"/>
          <p:cNvSpPr/>
          <p:nvPr/>
        </p:nvSpPr>
        <p:spPr>
          <a:xfrm>
            <a:off x="708660" y="2723515"/>
            <a:ext cx="8844280" cy="641985"/>
          </a:xfrm>
          <a:prstGeom prst="rect">
            <a:avLst/>
          </a:prstGeom>
          <a:noFill/>
          <a:ln>
            <a:solidFill>
              <a:srgbClr val="FE39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Rounded Rectangle 5"/>
          <p:cNvSpPr/>
          <p:nvPr/>
        </p:nvSpPr>
        <p:spPr>
          <a:xfrm>
            <a:off x="892810" y="2527300"/>
            <a:ext cx="6765290" cy="362585"/>
          </a:xfrm>
          <a:prstGeom prst="roundRect">
            <a:avLst/>
          </a:prstGeom>
          <a:solidFill>
            <a:srgbClr val="FE39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整体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104900" y="3893185"/>
            <a:ext cx="17360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GPU</a:t>
            </a:r>
            <a:r>
              <a:rPr lang="zh-CN" altLang="en-US" sz="1400"/>
              <a:t>池化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GPU</a:t>
            </a:r>
            <a:r>
              <a:rPr lang="zh-CN" altLang="en-US" sz="1400"/>
              <a:t>弹性</a:t>
            </a:r>
            <a:r>
              <a:rPr lang="zh-CN" altLang="en-US" sz="1400"/>
              <a:t>资源池</a:t>
            </a:r>
            <a:endParaRPr lang="zh-CN" altLang="en-US" sz="1400"/>
          </a:p>
        </p:txBody>
      </p:sp>
      <p:sp>
        <p:nvSpPr>
          <p:cNvPr id="24" name="矩形 23"/>
          <p:cNvSpPr/>
          <p:nvPr/>
        </p:nvSpPr>
        <p:spPr>
          <a:xfrm>
            <a:off x="708660" y="3726815"/>
            <a:ext cx="8844280" cy="641985"/>
          </a:xfrm>
          <a:prstGeom prst="rect">
            <a:avLst/>
          </a:prstGeom>
          <a:noFill/>
          <a:ln>
            <a:solidFill>
              <a:srgbClr val="FE39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Rounded Rectangle 5"/>
          <p:cNvSpPr/>
          <p:nvPr/>
        </p:nvSpPr>
        <p:spPr>
          <a:xfrm>
            <a:off x="892810" y="3530600"/>
            <a:ext cx="6765290" cy="362585"/>
          </a:xfrm>
          <a:prstGeom prst="roundRect">
            <a:avLst/>
          </a:prstGeom>
          <a:solidFill>
            <a:srgbClr val="FE39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GPU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调度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104900" y="4896485"/>
            <a:ext cx="19602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智能运维</a:t>
            </a:r>
            <a:r>
              <a:rPr lang="en-US" altLang="zh-CN" sz="1400"/>
              <a:t>-</a:t>
            </a:r>
            <a:r>
              <a:rPr lang="zh-CN" altLang="en-US" sz="1400"/>
              <a:t>故障</a:t>
            </a:r>
            <a:r>
              <a:rPr lang="zh-CN" altLang="en-US" sz="1400"/>
              <a:t>检测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智能运维</a:t>
            </a:r>
            <a:r>
              <a:rPr lang="en-US" altLang="zh-CN" sz="1400"/>
              <a:t>-</a:t>
            </a:r>
            <a:r>
              <a:rPr lang="zh-CN" altLang="en-US" sz="1400"/>
              <a:t>故障</a:t>
            </a:r>
            <a:r>
              <a:rPr lang="zh-CN" altLang="en-US" sz="1400"/>
              <a:t>自愈</a:t>
            </a:r>
            <a:endParaRPr lang="zh-CN" altLang="en-US" sz="1400"/>
          </a:p>
        </p:txBody>
      </p:sp>
      <p:sp>
        <p:nvSpPr>
          <p:cNvPr id="27" name="矩形 26"/>
          <p:cNvSpPr/>
          <p:nvPr/>
        </p:nvSpPr>
        <p:spPr>
          <a:xfrm>
            <a:off x="708660" y="4730115"/>
            <a:ext cx="8844280" cy="641985"/>
          </a:xfrm>
          <a:prstGeom prst="rect">
            <a:avLst/>
          </a:prstGeom>
          <a:noFill/>
          <a:ln>
            <a:solidFill>
              <a:srgbClr val="FE39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Rounded Rectangle 5"/>
          <p:cNvSpPr/>
          <p:nvPr/>
        </p:nvSpPr>
        <p:spPr>
          <a:xfrm>
            <a:off x="892810" y="4533900"/>
            <a:ext cx="6765290" cy="362585"/>
          </a:xfrm>
          <a:prstGeom prst="roundRect">
            <a:avLst/>
          </a:prstGeom>
          <a:solidFill>
            <a:srgbClr val="FE39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GPU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智能运维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104900" y="5967095"/>
            <a:ext cx="135763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虚拟化</a:t>
            </a:r>
            <a:r>
              <a:rPr lang="zh-CN" altLang="en-US" sz="1400"/>
              <a:t>讨论</a:t>
            </a:r>
            <a:endParaRPr lang="zh-CN" altLang="en-US" sz="1400"/>
          </a:p>
        </p:txBody>
      </p:sp>
      <p:sp>
        <p:nvSpPr>
          <p:cNvPr id="30" name="矩形 29"/>
          <p:cNvSpPr/>
          <p:nvPr/>
        </p:nvSpPr>
        <p:spPr>
          <a:xfrm>
            <a:off x="708660" y="5800725"/>
            <a:ext cx="8844280" cy="641985"/>
          </a:xfrm>
          <a:prstGeom prst="rect">
            <a:avLst/>
          </a:prstGeom>
          <a:noFill/>
          <a:ln>
            <a:solidFill>
              <a:srgbClr val="FE39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Rounded Rectangle 5"/>
          <p:cNvSpPr/>
          <p:nvPr/>
        </p:nvSpPr>
        <p:spPr>
          <a:xfrm>
            <a:off x="892810" y="5604510"/>
            <a:ext cx="6765290" cy="362585"/>
          </a:xfrm>
          <a:prstGeom prst="roundRect">
            <a:avLst/>
          </a:prstGeom>
          <a:solidFill>
            <a:srgbClr val="FE39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GPU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虚拟化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281116" y="1727640"/>
            <a:ext cx="2941320" cy="585216"/>
          </a:xfrm>
          <a:prstGeom prst="roundRect">
            <a:avLst/>
          </a:prstGeom>
          <a:solidFill>
            <a:srgbClr val="FE395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收集数据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数据处理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281116" y="2757581"/>
            <a:ext cx="2941320" cy="585216"/>
          </a:xfrm>
          <a:prstGeom prst="roundRect">
            <a:avLst/>
          </a:prstGeom>
          <a:solidFill>
            <a:srgbClr val="FE395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标注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281116" y="3787520"/>
            <a:ext cx="2941320" cy="585216"/>
          </a:xfrm>
          <a:prstGeom prst="roundRect">
            <a:avLst/>
          </a:prstGeom>
          <a:solidFill>
            <a:srgbClr val="FE395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模型开发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（编写代码）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281116" y="4854534"/>
            <a:ext cx="2941320" cy="585216"/>
          </a:xfrm>
          <a:prstGeom prst="roundRect">
            <a:avLst/>
          </a:prstGeom>
          <a:solidFill>
            <a:srgbClr val="FE395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模型训练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（实验）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281116" y="5835049"/>
            <a:ext cx="2941320" cy="585216"/>
          </a:xfrm>
          <a:prstGeom prst="roundRect">
            <a:avLst/>
          </a:prstGeom>
          <a:solidFill>
            <a:srgbClr val="FE395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模型上线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Straight Arrow Connector 9"/>
          <p:cNvCxnSpPr>
            <a:stCxn id="4" idx="2"/>
            <a:endCxn id="5" idx="0"/>
          </p:cNvCxnSpPr>
          <p:nvPr/>
        </p:nvCxnSpPr>
        <p:spPr>
          <a:xfrm>
            <a:off x="2751776" y="2312856"/>
            <a:ext cx="0" cy="4447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2"/>
            <a:endCxn id="6" idx="0"/>
          </p:cNvCxnSpPr>
          <p:nvPr/>
        </p:nvCxnSpPr>
        <p:spPr>
          <a:xfrm>
            <a:off x="2751776" y="3342797"/>
            <a:ext cx="0" cy="44472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2"/>
            <a:endCxn id="7" idx="0"/>
          </p:cNvCxnSpPr>
          <p:nvPr/>
        </p:nvCxnSpPr>
        <p:spPr>
          <a:xfrm>
            <a:off x="2751776" y="4372736"/>
            <a:ext cx="0" cy="48179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2"/>
            <a:endCxn id="8" idx="0"/>
          </p:cNvCxnSpPr>
          <p:nvPr/>
        </p:nvCxnSpPr>
        <p:spPr>
          <a:xfrm>
            <a:off x="2751776" y="5439750"/>
            <a:ext cx="0" cy="3952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/>
          <p:cNvCxnSpPr>
            <a:stCxn id="8" idx="2"/>
            <a:endCxn id="5" idx="1"/>
          </p:cNvCxnSpPr>
          <p:nvPr/>
        </p:nvCxnSpPr>
        <p:spPr>
          <a:xfrm rot="5400000" flipH="1">
            <a:off x="331408" y="3999897"/>
            <a:ext cx="3370076" cy="1470660"/>
          </a:xfrm>
          <a:prstGeom prst="bentConnector4">
            <a:avLst>
              <a:gd name="adj1" fmla="val -6783"/>
              <a:gd name="adj2" fmla="val 115544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8" idx="2"/>
            <a:endCxn id="4" idx="1"/>
          </p:cNvCxnSpPr>
          <p:nvPr/>
        </p:nvCxnSpPr>
        <p:spPr>
          <a:xfrm rot="5400000" flipH="1">
            <a:off x="-183563" y="3484927"/>
            <a:ext cx="4400017" cy="1470660"/>
          </a:xfrm>
          <a:prstGeom prst="bentConnector4">
            <a:avLst>
              <a:gd name="adj1" fmla="val -5195"/>
              <a:gd name="adj2" fmla="val 115544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ight Brace 24"/>
          <p:cNvSpPr/>
          <p:nvPr/>
        </p:nvSpPr>
        <p:spPr>
          <a:xfrm>
            <a:off x="4568383" y="1801782"/>
            <a:ext cx="155444" cy="1479232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Brace 25"/>
          <p:cNvSpPr/>
          <p:nvPr/>
        </p:nvSpPr>
        <p:spPr>
          <a:xfrm>
            <a:off x="4568382" y="3960518"/>
            <a:ext cx="155448" cy="2373248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4864963" y="2100487"/>
            <a:ext cx="461665" cy="101566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数据准备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64962" y="4786633"/>
            <a:ext cx="461665" cy="101566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模型开发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itle 1"/>
          <p:cNvSpPr txBox="1"/>
          <p:nvPr/>
        </p:nvSpPr>
        <p:spPr>
          <a:xfrm>
            <a:off x="581867" y="261206"/>
            <a:ext cx="10515600" cy="829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用户使用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模型开发流程</a:t>
            </a:r>
            <a:endParaRPr lang="en-US" sz="4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578734" y="1075544"/>
            <a:ext cx="11331615" cy="1268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828349" y="235055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数据集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2893828" y="338049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数据集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2893828" y="4428969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代码</a:t>
            </a:r>
            <a:r>
              <a:rPr lang="en-US" altLang="zh-CN" dirty="0"/>
              <a:t>+</a:t>
            </a:r>
            <a:r>
              <a:rPr lang="en-US" dirty="0"/>
              <a:t>数据集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2914789" y="5457293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模型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2016445" y="123651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典型开发流程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578734" y="1693820"/>
            <a:ext cx="2941320" cy="585216"/>
          </a:xfrm>
          <a:prstGeom prst="roundRect">
            <a:avLst/>
          </a:prstGeom>
          <a:solidFill>
            <a:srgbClr val="FE395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模型开发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（编写代码）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29229" y="1693820"/>
            <a:ext cx="2941320" cy="585216"/>
          </a:xfrm>
          <a:prstGeom prst="roundRect">
            <a:avLst/>
          </a:prstGeom>
          <a:solidFill>
            <a:srgbClr val="FE395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模型训练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（实验）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479724" y="1693820"/>
            <a:ext cx="2941320" cy="585216"/>
          </a:xfrm>
          <a:prstGeom prst="roundRect">
            <a:avLst/>
          </a:prstGeom>
          <a:solidFill>
            <a:srgbClr val="FE395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模型上线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3688885" y="1662290"/>
            <a:ext cx="671512" cy="648275"/>
          </a:xfrm>
          <a:prstGeom prst="rightArrow">
            <a:avLst/>
          </a:prstGeom>
          <a:solidFill>
            <a:srgbClr val="F08A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7639380" y="1662289"/>
            <a:ext cx="671512" cy="648275"/>
          </a:xfrm>
          <a:prstGeom prst="rightArrow">
            <a:avLst/>
          </a:prstGeom>
          <a:solidFill>
            <a:srgbClr val="F08A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8734" y="3146408"/>
            <a:ext cx="2941320" cy="1200329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代码管理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简单调试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数据访问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支持GPU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29229" y="3146432"/>
            <a:ext cx="2941320" cy="1477328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单机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、多机任务管理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数据集管理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调度器增强（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容器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Nvidia-Docker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479724" y="3146408"/>
            <a:ext cx="2941320" cy="92333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推理服务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服务发布机制（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DevOps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服务监控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itle 1"/>
          <p:cNvSpPr txBox="1"/>
          <p:nvPr/>
        </p:nvSpPr>
        <p:spPr>
          <a:xfrm>
            <a:off x="581867" y="261206"/>
            <a:ext cx="10515600" cy="829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用户使用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能力组件</a:t>
            </a:r>
            <a:endParaRPr lang="en-US" sz="4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接连接符 30"/>
          <p:cNvCxnSpPr/>
          <p:nvPr/>
        </p:nvCxnSpPr>
        <p:spPr>
          <a:xfrm>
            <a:off x="578734" y="1075544"/>
            <a:ext cx="11331615" cy="1268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867" y="261206"/>
            <a:ext cx="10515600" cy="82926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endParaRPr lang="en-US" sz="4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31"/>
          <p:cNvSpPr/>
          <p:nvPr/>
        </p:nvSpPr>
        <p:spPr>
          <a:xfrm>
            <a:off x="987701" y="1330397"/>
            <a:ext cx="4080001" cy="194850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圆角矩形 32"/>
          <p:cNvSpPr/>
          <p:nvPr/>
        </p:nvSpPr>
        <p:spPr>
          <a:xfrm>
            <a:off x="987701" y="3397300"/>
            <a:ext cx="1729452" cy="605173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K8s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集群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33"/>
          <p:cNvSpPr/>
          <p:nvPr/>
        </p:nvSpPr>
        <p:spPr>
          <a:xfrm>
            <a:off x="3345440" y="3402737"/>
            <a:ext cx="1722255" cy="605173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DevOps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标注 41"/>
          <p:cNvSpPr/>
          <p:nvPr/>
        </p:nvSpPr>
        <p:spPr>
          <a:xfrm rot="10800000">
            <a:off x="937551" y="4208771"/>
            <a:ext cx="4130144" cy="2388023"/>
          </a:xfrm>
          <a:prstGeom prst="wedgeRoundRectCallout">
            <a:avLst>
              <a:gd name="adj1" fmla="val 33960"/>
              <a:gd name="adj2" fmla="val 57588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42"/>
          <p:cNvSpPr/>
          <p:nvPr/>
        </p:nvSpPr>
        <p:spPr>
          <a:xfrm>
            <a:off x="1051773" y="4318510"/>
            <a:ext cx="3887930" cy="45767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K8s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中控组件（资源层）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圆角矩形 43"/>
          <p:cNvSpPr/>
          <p:nvPr/>
        </p:nvSpPr>
        <p:spPr>
          <a:xfrm>
            <a:off x="1051773" y="4823480"/>
            <a:ext cx="1125366" cy="45389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批量调度器</a:t>
            </a:r>
            <a:endParaRPr kumimoji="1"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圆角矩形 45"/>
          <p:cNvSpPr/>
          <p:nvPr/>
        </p:nvSpPr>
        <p:spPr>
          <a:xfrm>
            <a:off x="1065384" y="2013757"/>
            <a:ext cx="1248619" cy="548921"/>
          </a:xfrm>
          <a:prstGeom prst="roundRect">
            <a:avLst/>
          </a:prstGeom>
          <a:solidFill>
            <a:srgbClr val="FE39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</a:t>
            </a: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额度控制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圆角矩形 49"/>
          <p:cNvSpPr/>
          <p:nvPr/>
        </p:nvSpPr>
        <p:spPr>
          <a:xfrm>
            <a:off x="2277242" y="4823480"/>
            <a:ext cx="1342416" cy="45767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Kubeflow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管理器</a:t>
            </a:r>
            <a:endParaRPr kumimoji="1"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圆角矩形 51"/>
          <p:cNvSpPr/>
          <p:nvPr/>
        </p:nvSpPr>
        <p:spPr>
          <a:xfrm>
            <a:off x="1051773" y="1461848"/>
            <a:ext cx="3939371" cy="45767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机器学习平台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59"/>
          <p:cNvSpPr txBox="1"/>
          <p:nvPr/>
        </p:nvSpPr>
        <p:spPr>
          <a:xfrm>
            <a:off x="5829357" y="1816479"/>
            <a:ext cx="2463987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28600" indent="-228600">
              <a:buFont typeface="+mj-ea"/>
              <a:buAutoNum type="circleNumDbPlain"/>
            </a:pP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权限控制，多租户；</a:t>
            </a:r>
            <a:endParaRPr kumimoji="1"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buFont typeface="+mj-ea"/>
              <a:buAutoNum type="circleNumDbPlain"/>
            </a:pP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额度管控；</a:t>
            </a:r>
            <a:endParaRPr kumimoji="1"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83"/>
          <p:cNvSpPr txBox="1"/>
          <p:nvPr/>
        </p:nvSpPr>
        <p:spPr>
          <a:xfrm>
            <a:off x="5895629" y="5119250"/>
            <a:ext cx="246398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云原生批量调度器，解决资源竞争问题，并提供高低优任务抢占；</a:t>
            </a:r>
            <a:endParaRPr kumimoji="1"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圆角矩形 168"/>
          <p:cNvSpPr/>
          <p:nvPr/>
        </p:nvSpPr>
        <p:spPr>
          <a:xfrm>
            <a:off x="2140583" y="5332290"/>
            <a:ext cx="1022133" cy="688474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节点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圆角矩形 169"/>
          <p:cNvSpPr/>
          <p:nvPr/>
        </p:nvSpPr>
        <p:spPr>
          <a:xfrm>
            <a:off x="1051773" y="6112795"/>
            <a:ext cx="3887929" cy="39197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共享存储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圆角矩形 170"/>
          <p:cNvSpPr/>
          <p:nvPr/>
        </p:nvSpPr>
        <p:spPr>
          <a:xfrm>
            <a:off x="3243459" y="5332290"/>
            <a:ext cx="1700294" cy="688474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虚拟化节点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圆角矩形 56"/>
          <p:cNvSpPr/>
          <p:nvPr/>
        </p:nvSpPr>
        <p:spPr>
          <a:xfrm>
            <a:off x="5805510" y="1470032"/>
            <a:ext cx="1289770" cy="351182"/>
          </a:xfrm>
          <a:prstGeom prst="roundRect">
            <a:avLst/>
          </a:prstGeom>
          <a:solidFill>
            <a:srgbClr val="FE39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</a:t>
            </a:r>
            <a:r>
              <a:rPr kumimoji="1"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额度控制</a:t>
            </a:r>
            <a:endParaRPr kumimoji="1"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圆角矩形 58"/>
          <p:cNvSpPr/>
          <p:nvPr/>
        </p:nvSpPr>
        <p:spPr>
          <a:xfrm>
            <a:off x="5868440" y="4776189"/>
            <a:ext cx="996009" cy="35118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批量调度器</a:t>
            </a:r>
            <a:endParaRPr kumimoji="1"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圆角矩形 1"/>
          <p:cNvSpPr/>
          <p:nvPr/>
        </p:nvSpPr>
        <p:spPr>
          <a:xfrm>
            <a:off x="2177139" y="5672700"/>
            <a:ext cx="971063" cy="348064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缓存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圆角矩形 61"/>
          <p:cNvSpPr/>
          <p:nvPr/>
        </p:nvSpPr>
        <p:spPr>
          <a:xfrm>
            <a:off x="3281013" y="5672700"/>
            <a:ext cx="1642271" cy="33766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缓存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50"/>
          <p:cNvSpPr txBox="1"/>
          <p:nvPr/>
        </p:nvSpPr>
        <p:spPr>
          <a:xfrm>
            <a:off x="8470817" y="1821214"/>
            <a:ext cx="2463987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28600" indent="-228600">
              <a:buFont typeface="+mj-ea"/>
              <a:buAutoNum type="circleNumDbPlain"/>
            </a:pP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数据集版本；</a:t>
            </a:r>
            <a:endParaRPr kumimoji="1"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buFont typeface="+mj-ea"/>
              <a:buAutoNum type="circleNumDbPlain"/>
            </a:pP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数据集权限能力；</a:t>
            </a:r>
            <a:endParaRPr kumimoji="1"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圆角矩形 55"/>
          <p:cNvSpPr/>
          <p:nvPr/>
        </p:nvSpPr>
        <p:spPr>
          <a:xfrm>
            <a:off x="8436649" y="1469348"/>
            <a:ext cx="996009" cy="351182"/>
          </a:xfrm>
          <a:prstGeom prst="roundRect">
            <a:avLst/>
          </a:prstGeom>
          <a:solidFill>
            <a:srgbClr val="FE39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数据集服务</a:t>
            </a:r>
            <a:endParaRPr kumimoji="1"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圆角矩形 168"/>
          <p:cNvSpPr/>
          <p:nvPr/>
        </p:nvSpPr>
        <p:spPr>
          <a:xfrm>
            <a:off x="1051773" y="5332290"/>
            <a:ext cx="1022133" cy="68847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endParaRPr kumimoji="1"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圆角矩形 49"/>
          <p:cNvSpPr/>
          <p:nvPr/>
        </p:nvSpPr>
        <p:spPr>
          <a:xfrm>
            <a:off x="3674189" y="4827320"/>
            <a:ext cx="1265513" cy="45767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AIOps</a:t>
            </a:r>
            <a:endParaRPr kumimoji="1"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圆角矩形 45"/>
          <p:cNvSpPr/>
          <p:nvPr/>
        </p:nvSpPr>
        <p:spPr>
          <a:xfrm>
            <a:off x="1065383" y="2608725"/>
            <a:ext cx="1248619" cy="548921"/>
          </a:xfrm>
          <a:prstGeom prst="roundRect">
            <a:avLst/>
          </a:prstGeom>
          <a:solidFill>
            <a:srgbClr val="FE39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训练组件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圆角矩形 45"/>
          <p:cNvSpPr/>
          <p:nvPr/>
        </p:nvSpPr>
        <p:spPr>
          <a:xfrm>
            <a:off x="2491476" y="2001399"/>
            <a:ext cx="1099365" cy="548921"/>
          </a:xfrm>
          <a:prstGeom prst="roundRect">
            <a:avLst/>
          </a:prstGeom>
          <a:solidFill>
            <a:srgbClr val="FE39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开发服务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圆角矩形 45"/>
          <p:cNvSpPr/>
          <p:nvPr/>
        </p:nvSpPr>
        <p:spPr>
          <a:xfrm>
            <a:off x="2498687" y="2608725"/>
            <a:ext cx="1097821" cy="548921"/>
          </a:xfrm>
          <a:prstGeom prst="roundRect">
            <a:avLst/>
          </a:prstGeom>
          <a:solidFill>
            <a:srgbClr val="FE39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模型管理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圆角矩形 45"/>
          <p:cNvSpPr/>
          <p:nvPr/>
        </p:nvSpPr>
        <p:spPr>
          <a:xfrm>
            <a:off x="3742525" y="2608724"/>
            <a:ext cx="1248619" cy="548921"/>
          </a:xfrm>
          <a:prstGeom prst="roundRect">
            <a:avLst/>
          </a:prstGeom>
          <a:solidFill>
            <a:srgbClr val="FE39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推理服务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Up-Down Arrow 43"/>
          <p:cNvSpPr/>
          <p:nvPr/>
        </p:nvSpPr>
        <p:spPr>
          <a:xfrm>
            <a:off x="1663392" y="3133721"/>
            <a:ext cx="221479" cy="301975"/>
          </a:xfrm>
          <a:prstGeom prst="upDown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Up-Down Arrow 44"/>
          <p:cNvSpPr/>
          <p:nvPr/>
        </p:nvSpPr>
        <p:spPr>
          <a:xfrm>
            <a:off x="4272927" y="3136543"/>
            <a:ext cx="221479" cy="301975"/>
          </a:xfrm>
          <a:prstGeom prst="upDown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圆角矩形 45"/>
          <p:cNvSpPr/>
          <p:nvPr/>
        </p:nvSpPr>
        <p:spPr>
          <a:xfrm>
            <a:off x="3742525" y="2008672"/>
            <a:ext cx="1248619" cy="548921"/>
          </a:xfrm>
          <a:prstGeom prst="roundRect">
            <a:avLst/>
          </a:prstGeom>
          <a:solidFill>
            <a:srgbClr val="FE39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83"/>
          <p:cNvSpPr txBox="1"/>
          <p:nvPr/>
        </p:nvSpPr>
        <p:spPr>
          <a:xfrm>
            <a:off x="5895629" y="6040915"/>
            <a:ext cx="246398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Kubeflow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，提供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分布式任务通用管理器，用户可以使用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K8s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kumimoji="1"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圆角矩形 58"/>
          <p:cNvSpPr/>
          <p:nvPr/>
        </p:nvSpPr>
        <p:spPr>
          <a:xfrm>
            <a:off x="5868441" y="5697854"/>
            <a:ext cx="839794" cy="35118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任务管理</a:t>
            </a:r>
            <a:endParaRPr kumimoji="1"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文本框 83"/>
          <p:cNvSpPr txBox="1"/>
          <p:nvPr/>
        </p:nvSpPr>
        <p:spPr>
          <a:xfrm>
            <a:off x="8463838" y="5119250"/>
            <a:ext cx="246398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错误发现，自动化运维，提供容错能力；</a:t>
            </a:r>
            <a:endParaRPr kumimoji="1"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圆角矩形 58"/>
          <p:cNvSpPr/>
          <p:nvPr/>
        </p:nvSpPr>
        <p:spPr>
          <a:xfrm>
            <a:off x="8436649" y="4776189"/>
            <a:ext cx="996009" cy="35118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umimoji="1"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AIOps</a:t>
            </a:r>
            <a:endParaRPr kumimoji="1"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83"/>
          <p:cNvSpPr txBox="1"/>
          <p:nvPr/>
        </p:nvSpPr>
        <p:spPr>
          <a:xfrm>
            <a:off x="8463838" y="6020764"/>
            <a:ext cx="246398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基于用户数据集，挂载相应的对象存储，提供云原生存储加速能力；</a:t>
            </a:r>
            <a:endParaRPr kumimoji="1"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圆角矩形 58"/>
          <p:cNvSpPr/>
          <p:nvPr/>
        </p:nvSpPr>
        <p:spPr>
          <a:xfrm>
            <a:off x="8436649" y="5677703"/>
            <a:ext cx="996009" cy="35118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数据集控制</a:t>
            </a:r>
            <a:endParaRPr kumimoji="1"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0"/>
          <p:cNvSpPr txBox="1"/>
          <p:nvPr/>
        </p:nvSpPr>
        <p:spPr>
          <a:xfrm>
            <a:off x="5839667" y="2929144"/>
            <a:ext cx="2463987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28600" indent="-228600">
              <a:buFont typeface="+mj-ea"/>
              <a:buAutoNum type="circleNumDbPlain"/>
            </a:pP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对接多云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集群；</a:t>
            </a:r>
            <a:endParaRPr kumimoji="1"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buFont typeface="+mj-ea"/>
              <a:buAutoNum type="circleNumDbPlain"/>
            </a:pP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转换用户任务到</a:t>
            </a: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YAML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kumimoji="1"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圆角矩形 55"/>
          <p:cNvSpPr/>
          <p:nvPr/>
        </p:nvSpPr>
        <p:spPr>
          <a:xfrm>
            <a:off x="5805499" y="2577278"/>
            <a:ext cx="996009" cy="351182"/>
          </a:xfrm>
          <a:prstGeom prst="roundRect">
            <a:avLst/>
          </a:prstGeom>
          <a:solidFill>
            <a:srgbClr val="FE39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训练组件</a:t>
            </a:r>
            <a:endParaRPr kumimoji="1"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文本框 50"/>
          <p:cNvSpPr txBox="1"/>
          <p:nvPr/>
        </p:nvSpPr>
        <p:spPr>
          <a:xfrm>
            <a:off x="8470817" y="2909459"/>
            <a:ext cx="2463987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28600" indent="-228600">
              <a:buFont typeface="+mj-ea"/>
              <a:buAutoNum type="circleNumDbPlain"/>
            </a:pP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模型版本管理；</a:t>
            </a:r>
            <a:endParaRPr kumimoji="1"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圆角矩形 55"/>
          <p:cNvSpPr/>
          <p:nvPr/>
        </p:nvSpPr>
        <p:spPr>
          <a:xfrm>
            <a:off x="8436649" y="2557593"/>
            <a:ext cx="996009" cy="351182"/>
          </a:xfrm>
          <a:prstGeom prst="roundRect">
            <a:avLst/>
          </a:prstGeom>
          <a:solidFill>
            <a:srgbClr val="FE39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模型管理</a:t>
            </a:r>
            <a:endParaRPr kumimoji="1"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0"/>
          <p:cNvSpPr txBox="1"/>
          <p:nvPr/>
        </p:nvSpPr>
        <p:spPr>
          <a:xfrm>
            <a:off x="5863525" y="3920481"/>
            <a:ext cx="2463987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28600" indent="-228600">
              <a:buFont typeface="+mj-ea"/>
              <a:buAutoNum type="circleNumDbPlain"/>
            </a:pP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DevOps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能力：灰度、蓝绿等；</a:t>
            </a:r>
            <a:endParaRPr kumimoji="1"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buFont typeface="+mj-ea"/>
              <a:buAutoNum type="circleNumDbPlain"/>
            </a:pPr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监控；</a:t>
            </a:r>
            <a:endParaRPr kumimoji="1"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圆角矩形 55"/>
          <p:cNvSpPr/>
          <p:nvPr/>
        </p:nvSpPr>
        <p:spPr>
          <a:xfrm>
            <a:off x="5829357" y="3568615"/>
            <a:ext cx="996009" cy="351182"/>
          </a:xfrm>
          <a:prstGeom prst="roundRect">
            <a:avLst/>
          </a:prstGeom>
          <a:solidFill>
            <a:srgbClr val="FE39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推理服务</a:t>
            </a:r>
            <a:endParaRPr kumimoji="1"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0" name="直接连接符 30"/>
          <p:cNvCxnSpPr/>
          <p:nvPr/>
        </p:nvCxnSpPr>
        <p:spPr>
          <a:xfrm>
            <a:off x="578734" y="1075544"/>
            <a:ext cx="11331615" cy="1268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5428528" y="1330397"/>
            <a:ext cx="0" cy="526639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50"/>
          <p:cNvSpPr txBox="1"/>
          <p:nvPr/>
        </p:nvSpPr>
        <p:spPr>
          <a:xfrm>
            <a:off x="8504985" y="3913065"/>
            <a:ext cx="246398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28600" indent="-228600">
              <a:buFont typeface="+mj-ea"/>
              <a:buAutoNum type="circleNumDbPlain"/>
            </a:pP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kumimoji="1"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Jupyter</a:t>
            </a: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打造用户友好的交互界面；</a:t>
            </a:r>
            <a:endParaRPr kumimoji="1"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buFont typeface="+mj-ea"/>
              <a:buAutoNum type="circleNumDbPlain"/>
            </a:pPr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集成虚拟化能力，减少资源浪费；</a:t>
            </a:r>
            <a:endParaRPr kumimoji="1"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圆角矩形 55"/>
          <p:cNvSpPr/>
          <p:nvPr/>
        </p:nvSpPr>
        <p:spPr>
          <a:xfrm>
            <a:off x="8470817" y="3561199"/>
            <a:ext cx="996009" cy="351182"/>
          </a:xfrm>
          <a:prstGeom prst="roundRect">
            <a:avLst/>
          </a:prstGeom>
          <a:solidFill>
            <a:srgbClr val="FE39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开发服务</a:t>
            </a:r>
            <a:endParaRPr kumimoji="1"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867" y="261206"/>
            <a:ext cx="10515600" cy="82926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开发服务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WebIDE</a:t>
            </a:r>
            <a:endParaRPr lang="en-US" altLang="zh-CN" sz="4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31"/>
          <p:cNvSpPr/>
          <p:nvPr/>
        </p:nvSpPr>
        <p:spPr>
          <a:xfrm>
            <a:off x="987701" y="1330397"/>
            <a:ext cx="4080001" cy="194850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圆角矩形 32"/>
          <p:cNvSpPr/>
          <p:nvPr/>
        </p:nvSpPr>
        <p:spPr>
          <a:xfrm>
            <a:off x="987701" y="3397300"/>
            <a:ext cx="1729452" cy="605173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厂商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GPU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K8s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集群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33"/>
          <p:cNvSpPr/>
          <p:nvPr/>
        </p:nvSpPr>
        <p:spPr>
          <a:xfrm>
            <a:off x="3345440" y="3402737"/>
            <a:ext cx="1722255" cy="605173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厂商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GPU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K8s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集群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标注 41"/>
          <p:cNvSpPr/>
          <p:nvPr/>
        </p:nvSpPr>
        <p:spPr>
          <a:xfrm rot="10800000">
            <a:off x="937551" y="4208771"/>
            <a:ext cx="4130144" cy="2388023"/>
          </a:xfrm>
          <a:prstGeom prst="wedgeRoundRectCallout">
            <a:avLst>
              <a:gd name="adj1" fmla="val 33960"/>
              <a:gd name="adj2" fmla="val 57588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42"/>
          <p:cNvSpPr/>
          <p:nvPr/>
        </p:nvSpPr>
        <p:spPr>
          <a:xfrm>
            <a:off x="1051773" y="4318510"/>
            <a:ext cx="3887930" cy="45767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K8s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中控组件（资源层）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圆角矩形 43"/>
          <p:cNvSpPr/>
          <p:nvPr/>
        </p:nvSpPr>
        <p:spPr>
          <a:xfrm>
            <a:off x="1051773" y="4823480"/>
            <a:ext cx="1125366" cy="453891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批量调度器</a:t>
            </a:r>
            <a:endParaRPr kumimoji="1"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圆角矩形 45"/>
          <p:cNvSpPr/>
          <p:nvPr/>
        </p:nvSpPr>
        <p:spPr>
          <a:xfrm>
            <a:off x="1065384" y="2013757"/>
            <a:ext cx="1248619" cy="548921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</a:t>
            </a: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权限控制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圆角矩形 49"/>
          <p:cNvSpPr/>
          <p:nvPr/>
        </p:nvSpPr>
        <p:spPr>
          <a:xfrm>
            <a:off x="2277242" y="4823480"/>
            <a:ext cx="1342416" cy="45767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Kubeflow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管理器</a:t>
            </a:r>
            <a:endParaRPr kumimoji="1"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圆角矩形 51"/>
          <p:cNvSpPr/>
          <p:nvPr/>
        </p:nvSpPr>
        <p:spPr>
          <a:xfrm>
            <a:off x="1051773" y="1461848"/>
            <a:ext cx="3939371" cy="45767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机器学习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 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圆角矩形 168"/>
          <p:cNvSpPr/>
          <p:nvPr/>
        </p:nvSpPr>
        <p:spPr>
          <a:xfrm>
            <a:off x="2140583" y="5332290"/>
            <a:ext cx="1022133" cy="688474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节点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圆角矩形 169"/>
          <p:cNvSpPr/>
          <p:nvPr/>
        </p:nvSpPr>
        <p:spPr>
          <a:xfrm>
            <a:off x="1051773" y="6112795"/>
            <a:ext cx="3887929" cy="39197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共享存储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圆角矩形 170"/>
          <p:cNvSpPr/>
          <p:nvPr/>
        </p:nvSpPr>
        <p:spPr>
          <a:xfrm>
            <a:off x="3243459" y="5332290"/>
            <a:ext cx="1700294" cy="688474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虚拟化节点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圆角矩形 1"/>
          <p:cNvSpPr/>
          <p:nvPr/>
        </p:nvSpPr>
        <p:spPr>
          <a:xfrm>
            <a:off x="2177139" y="5672700"/>
            <a:ext cx="971063" cy="348064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缓存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圆角矩形 61"/>
          <p:cNvSpPr/>
          <p:nvPr/>
        </p:nvSpPr>
        <p:spPr>
          <a:xfrm>
            <a:off x="3281013" y="5672700"/>
            <a:ext cx="1642271" cy="33766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缓存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圆角矩形 168"/>
          <p:cNvSpPr/>
          <p:nvPr/>
        </p:nvSpPr>
        <p:spPr>
          <a:xfrm>
            <a:off x="1051773" y="5332290"/>
            <a:ext cx="1022133" cy="688474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endParaRPr kumimoji="1"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圆角矩形 49"/>
          <p:cNvSpPr/>
          <p:nvPr/>
        </p:nvSpPr>
        <p:spPr>
          <a:xfrm>
            <a:off x="3674189" y="4827320"/>
            <a:ext cx="1265513" cy="45767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AIOps</a:t>
            </a:r>
            <a:endParaRPr kumimoji="1"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圆角矩形 45"/>
          <p:cNvSpPr/>
          <p:nvPr/>
        </p:nvSpPr>
        <p:spPr>
          <a:xfrm>
            <a:off x="1065383" y="2608725"/>
            <a:ext cx="1248619" cy="548921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训练组件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圆角矩形 45"/>
          <p:cNvSpPr/>
          <p:nvPr/>
        </p:nvSpPr>
        <p:spPr>
          <a:xfrm>
            <a:off x="2497143" y="2028357"/>
            <a:ext cx="1099365" cy="548921"/>
          </a:xfrm>
          <a:prstGeom prst="roundRect">
            <a:avLst/>
          </a:prstGeom>
          <a:solidFill>
            <a:srgbClr val="FE39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开发服务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圆角矩形 45"/>
          <p:cNvSpPr/>
          <p:nvPr/>
        </p:nvSpPr>
        <p:spPr>
          <a:xfrm>
            <a:off x="2498687" y="2608725"/>
            <a:ext cx="1097821" cy="548921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模型管理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圆角矩形 45"/>
          <p:cNvSpPr/>
          <p:nvPr/>
        </p:nvSpPr>
        <p:spPr>
          <a:xfrm>
            <a:off x="3742525" y="2608724"/>
            <a:ext cx="1248619" cy="548921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推理服务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Up-Down Arrow 43"/>
          <p:cNvSpPr/>
          <p:nvPr/>
        </p:nvSpPr>
        <p:spPr>
          <a:xfrm>
            <a:off x="1663392" y="3133721"/>
            <a:ext cx="221479" cy="301975"/>
          </a:xfrm>
          <a:prstGeom prst="upDown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Up-Down Arrow 44"/>
          <p:cNvSpPr/>
          <p:nvPr/>
        </p:nvSpPr>
        <p:spPr>
          <a:xfrm>
            <a:off x="4272927" y="3136543"/>
            <a:ext cx="221479" cy="301975"/>
          </a:xfrm>
          <a:prstGeom prst="upDown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圆角矩形 45"/>
          <p:cNvSpPr/>
          <p:nvPr/>
        </p:nvSpPr>
        <p:spPr>
          <a:xfrm>
            <a:off x="3742525" y="2008672"/>
            <a:ext cx="1248619" cy="548921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0" name="直接连接符 30"/>
          <p:cNvCxnSpPr/>
          <p:nvPr/>
        </p:nvCxnSpPr>
        <p:spPr>
          <a:xfrm>
            <a:off x="578734" y="1075544"/>
            <a:ext cx="11331615" cy="1268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5428528" y="1330397"/>
            <a:ext cx="0" cy="526639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839667" y="1257245"/>
            <a:ext cx="547687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开发服务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开发模型，撰写代码，简单验证的环境；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提供交互式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terminal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的开发方式；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保存历史记录，保存到共享存储；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多人共用，分时复用，节省资源；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>
            <a:hlinkClick r:id="" action="ppaction://noaction" highlightClick="1"/>
            <a:hlinkHover r:id="" action="ppaction://noaction" highlightClick="1"/>
          </p:cNvPr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4698" y="2883184"/>
            <a:ext cx="5915159" cy="3327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3624" y="2894490"/>
            <a:ext cx="6477966" cy="3656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989" y="2987798"/>
            <a:ext cx="6488555" cy="3470096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8336441" y="4440736"/>
            <a:ext cx="1785937" cy="5286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867" y="261206"/>
            <a:ext cx="10515600" cy="82926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训练服务</a:t>
            </a:r>
            <a:endParaRPr lang="en-US" sz="4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31"/>
          <p:cNvSpPr/>
          <p:nvPr/>
        </p:nvSpPr>
        <p:spPr>
          <a:xfrm>
            <a:off x="987701" y="1330397"/>
            <a:ext cx="4080001" cy="194850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圆角矩形 32"/>
          <p:cNvSpPr/>
          <p:nvPr/>
        </p:nvSpPr>
        <p:spPr>
          <a:xfrm>
            <a:off x="987701" y="3397300"/>
            <a:ext cx="1729452" cy="605173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厂商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K8s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集群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33"/>
          <p:cNvSpPr/>
          <p:nvPr/>
        </p:nvSpPr>
        <p:spPr>
          <a:xfrm>
            <a:off x="3345440" y="3402737"/>
            <a:ext cx="1722255" cy="605173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厂商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K8s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集群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标注 41"/>
          <p:cNvSpPr/>
          <p:nvPr/>
        </p:nvSpPr>
        <p:spPr>
          <a:xfrm rot="10800000">
            <a:off x="937551" y="4208771"/>
            <a:ext cx="4130144" cy="2388023"/>
          </a:xfrm>
          <a:prstGeom prst="wedgeRoundRectCallout">
            <a:avLst>
              <a:gd name="adj1" fmla="val 33960"/>
              <a:gd name="adj2" fmla="val 57588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42"/>
          <p:cNvSpPr/>
          <p:nvPr/>
        </p:nvSpPr>
        <p:spPr>
          <a:xfrm>
            <a:off x="1051773" y="4318510"/>
            <a:ext cx="3887930" cy="45767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K8s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中控组件（资源层）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圆角矩形 43"/>
          <p:cNvSpPr/>
          <p:nvPr/>
        </p:nvSpPr>
        <p:spPr>
          <a:xfrm>
            <a:off x="1051773" y="4823480"/>
            <a:ext cx="1125366" cy="453891"/>
          </a:xfrm>
          <a:prstGeom prst="roundRect">
            <a:avLst/>
          </a:prstGeom>
          <a:solidFill>
            <a:srgbClr val="FE39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批量调度器</a:t>
            </a:r>
            <a:endParaRPr kumimoji="1"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圆角矩形 45"/>
          <p:cNvSpPr/>
          <p:nvPr/>
        </p:nvSpPr>
        <p:spPr>
          <a:xfrm>
            <a:off x="1065384" y="2013757"/>
            <a:ext cx="1248619" cy="548921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</a:t>
            </a: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权限控制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圆角矩形 49"/>
          <p:cNvSpPr/>
          <p:nvPr/>
        </p:nvSpPr>
        <p:spPr>
          <a:xfrm>
            <a:off x="2277242" y="4823480"/>
            <a:ext cx="1342416" cy="457679"/>
          </a:xfrm>
          <a:prstGeom prst="roundRect">
            <a:avLst/>
          </a:prstGeom>
          <a:solidFill>
            <a:srgbClr val="FE39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Kubeflow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管理器</a:t>
            </a:r>
            <a:endParaRPr kumimoji="1"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圆角矩形 51"/>
          <p:cNvSpPr/>
          <p:nvPr/>
        </p:nvSpPr>
        <p:spPr>
          <a:xfrm>
            <a:off x="1051773" y="1461848"/>
            <a:ext cx="3939371" cy="45767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机器学习平台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圆角矩形 168"/>
          <p:cNvSpPr/>
          <p:nvPr/>
        </p:nvSpPr>
        <p:spPr>
          <a:xfrm>
            <a:off x="2140583" y="5332290"/>
            <a:ext cx="1022133" cy="688474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节点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圆角矩形 169"/>
          <p:cNvSpPr/>
          <p:nvPr/>
        </p:nvSpPr>
        <p:spPr>
          <a:xfrm>
            <a:off x="1051773" y="6112795"/>
            <a:ext cx="3887929" cy="39197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共享存储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圆角矩形 170"/>
          <p:cNvSpPr/>
          <p:nvPr/>
        </p:nvSpPr>
        <p:spPr>
          <a:xfrm>
            <a:off x="3243459" y="5332290"/>
            <a:ext cx="1700294" cy="688474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虚拟化节点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圆角矩形 1"/>
          <p:cNvSpPr/>
          <p:nvPr/>
        </p:nvSpPr>
        <p:spPr>
          <a:xfrm>
            <a:off x="2177139" y="5672700"/>
            <a:ext cx="971063" cy="348064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缓存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圆角矩形 61"/>
          <p:cNvSpPr/>
          <p:nvPr/>
        </p:nvSpPr>
        <p:spPr>
          <a:xfrm>
            <a:off x="3281013" y="5672700"/>
            <a:ext cx="1642271" cy="33766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缓存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圆角矩形 168"/>
          <p:cNvSpPr/>
          <p:nvPr/>
        </p:nvSpPr>
        <p:spPr>
          <a:xfrm>
            <a:off x="1051773" y="5332290"/>
            <a:ext cx="1022133" cy="688474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endParaRPr kumimoji="1"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圆角矩形 49"/>
          <p:cNvSpPr/>
          <p:nvPr/>
        </p:nvSpPr>
        <p:spPr>
          <a:xfrm>
            <a:off x="3674189" y="4827320"/>
            <a:ext cx="1265513" cy="45767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AIOps</a:t>
            </a:r>
            <a:endParaRPr kumimoji="1"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圆角矩形 45"/>
          <p:cNvSpPr/>
          <p:nvPr/>
        </p:nvSpPr>
        <p:spPr>
          <a:xfrm>
            <a:off x="1065383" y="2608725"/>
            <a:ext cx="1248619" cy="548921"/>
          </a:xfrm>
          <a:prstGeom prst="roundRect">
            <a:avLst/>
          </a:prstGeom>
          <a:solidFill>
            <a:srgbClr val="FE39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训练组件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圆角矩形 45"/>
          <p:cNvSpPr/>
          <p:nvPr/>
        </p:nvSpPr>
        <p:spPr>
          <a:xfrm>
            <a:off x="2497143" y="2028357"/>
            <a:ext cx="1099365" cy="548921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开发服务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圆角矩形 45"/>
          <p:cNvSpPr/>
          <p:nvPr/>
        </p:nvSpPr>
        <p:spPr>
          <a:xfrm>
            <a:off x="2498687" y="2608725"/>
            <a:ext cx="1097821" cy="548921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模型管理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圆角矩形 45"/>
          <p:cNvSpPr/>
          <p:nvPr/>
        </p:nvSpPr>
        <p:spPr>
          <a:xfrm>
            <a:off x="3742525" y="2608724"/>
            <a:ext cx="1248619" cy="548921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推理服务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Up-Down Arrow 43"/>
          <p:cNvSpPr/>
          <p:nvPr/>
        </p:nvSpPr>
        <p:spPr>
          <a:xfrm>
            <a:off x="1663392" y="3133721"/>
            <a:ext cx="221479" cy="301975"/>
          </a:xfrm>
          <a:prstGeom prst="upDown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Up-Down Arrow 44"/>
          <p:cNvSpPr/>
          <p:nvPr/>
        </p:nvSpPr>
        <p:spPr>
          <a:xfrm>
            <a:off x="4272927" y="3136543"/>
            <a:ext cx="221479" cy="301975"/>
          </a:xfrm>
          <a:prstGeom prst="upDown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圆角矩形 45"/>
          <p:cNvSpPr/>
          <p:nvPr/>
        </p:nvSpPr>
        <p:spPr>
          <a:xfrm>
            <a:off x="3742525" y="2008672"/>
            <a:ext cx="1248619" cy="548921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0" name="直接连接符 30"/>
          <p:cNvCxnSpPr/>
          <p:nvPr/>
        </p:nvCxnSpPr>
        <p:spPr>
          <a:xfrm>
            <a:off x="578734" y="1075544"/>
            <a:ext cx="11331615" cy="1268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5428528" y="1330397"/>
            <a:ext cx="0" cy="526639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839667" y="1330397"/>
            <a:ext cx="5476874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训练服务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算法工程师用于训练模型的组件；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提供单机、多机任意形式的训练方式；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TensorFlow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PyTorch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以及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Horovod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分布式训练的能力；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K8s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scheduling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的能力；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可观测性：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日志查看，持久化；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调试，远程登录；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训练任务监控，利用率查看；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1532" y="4378228"/>
            <a:ext cx="3133724" cy="2218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3837" y="4993651"/>
            <a:ext cx="3076512" cy="1315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867" y="261206"/>
            <a:ext cx="10515600" cy="82926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训练服务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调度器</a:t>
            </a:r>
            <a:endParaRPr lang="zh-CN" altLang="en-US" sz="4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圆角矩形 32"/>
          <p:cNvSpPr/>
          <p:nvPr/>
        </p:nvSpPr>
        <p:spPr>
          <a:xfrm>
            <a:off x="1091565" y="4874895"/>
            <a:ext cx="3930015" cy="60515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厂商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K8s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集群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圆角矩形 51"/>
          <p:cNvSpPr/>
          <p:nvPr/>
        </p:nvSpPr>
        <p:spPr>
          <a:xfrm>
            <a:off x="1051560" y="1461770"/>
            <a:ext cx="3939540" cy="93472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机器学习平台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圆角矩形 45"/>
          <p:cNvSpPr/>
          <p:nvPr/>
        </p:nvSpPr>
        <p:spPr>
          <a:xfrm>
            <a:off x="1091418" y="3251345"/>
            <a:ext cx="1248619" cy="548921"/>
          </a:xfrm>
          <a:prstGeom prst="roundRect">
            <a:avLst/>
          </a:prstGeom>
          <a:solidFill>
            <a:srgbClr val="FE39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调度器</a:t>
            </a:r>
            <a:endParaRPr kumimoji="1"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Up-Down Arrow 43"/>
          <p:cNvSpPr/>
          <p:nvPr/>
        </p:nvSpPr>
        <p:spPr>
          <a:xfrm>
            <a:off x="1267460" y="3819525"/>
            <a:ext cx="748665" cy="1038860"/>
          </a:xfrm>
          <a:prstGeom prst="upDownArrow">
            <a:avLst>
              <a:gd name="adj1" fmla="val 50000"/>
              <a:gd name="adj2" fmla="val 49889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直接连接符 30"/>
          <p:cNvCxnSpPr/>
          <p:nvPr/>
        </p:nvCxnSpPr>
        <p:spPr>
          <a:xfrm>
            <a:off x="578734" y="1075544"/>
            <a:ext cx="11331615" cy="1268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5428528" y="1330397"/>
            <a:ext cx="0" cy="526639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圆角矩形 45"/>
          <p:cNvSpPr/>
          <p:nvPr/>
        </p:nvSpPr>
        <p:spPr>
          <a:xfrm>
            <a:off x="3560445" y="3251835"/>
            <a:ext cx="1461135" cy="548640"/>
          </a:xfrm>
          <a:prstGeom prst="roundRect">
            <a:avLst/>
          </a:prstGeom>
          <a:solidFill>
            <a:srgbClr val="FE39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任务状态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</a:t>
            </a:r>
            <a:endParaRPr kumimoji="1"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Up-Down Arrow 43"/>
          <p:cNvSpPr/>
          <p:nvPr/>
        </p:nvSpPr>
        <p:spPr>
          <a:xfrm>
            <a:off x="3916680" y="3827780"/>
            <a:ext cx="748665" cy="1038860"/>
          </a:xfrm>
          <a:prstGeom prst="upDownArrow">
            <a:avLst>
              <a:gd name="adj1" fmla="val 50000"/>
              <a:gd name="adj2" fmla="val 49889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Up-Down Arrow 43"/>
          <p:cNvSpPr/>
          <p:nvPr/>
        </p:nvSpPr>
        <p:spPr>
          <a:xfrm>
            <a:off x="1348740" y="2396490"/>
            <a:ext cx="586105" cy="829945"/>
          </a:xfrm>
          <a:prstGeom prst="upDownArrow">
            <a:avLst>
              <a:gd name="adj1" fmla="val 50000"/>
              <a:gd name="adj2" fmla="val 49889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Up-Down Arrow 43"/>
          <p:cNvSpPr/>
          <p:nvPr/>
        </p:nvSpPr>
        <p:spPr>
          <a:xfrm>
            <a:off x="3997960" y="2396490"/>
            <a:ext cx="586105" cy="829945"/>
          </a:xfrm>
          <a:prstGeom prst="upDownArrow">
            <a:avLst>
              <a:gd name="adj1" fmla="val 50000"/>
              <a:gd name="adj2" fmla="val 49889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文本框 18"/>
          <p:cNvSpPr txBox="1"/>
          <p:nvPr/>
        </p:nvSpPr>
        <p:spPr>
          <a:xfrm>
            <a:off x="5937250" y="1797685"/>
            <a:ext cx="2474595" cy="203009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/>
              <a:t>任务调度器</a:t>
            </a:r>
            <a:r>
              <a:rPr lang="zh-CN" altLang="en-US" b="1"/>
              <a:t>核心能力</a:t>
            </a:r>
            <a:r>
              <a:rPr lang="zh-CN" altLang="en-US"/>
              <a:t>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任务</a:t>
            </a:r>
            <a:r>
              <a:rPr lang="zh-CN" altLang="en-US"/>
              <a:t>下发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任务</a:t>
            </a:r>
            <a:r>
              <a:rPr lang="zh-CN" altLang="en-US"/>
              <a:t>删除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任务</a:t>
            </a:r>
            <a:r>
              <a:rPr lang="zh-CN" altLang="en-US"/>
              <a:t>抢占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任务</a:t>
            </a:r>
            <a:r>
              <a:rPr lang="zh-CN" altLang="en-US"/>
              <a:t>优先级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任务</a:t>
            </a:r>
            <a:r>
              <a:rPr lang="zh-CN" altLang="en-US"/>
              <a:t>置顶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quota</a:t>
            </a:r>
            <a:r>
              <a:rPr lang="zh-CN" altLang="en-US"/>
              <a:t>管控</a:t>
            </a:r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5937250" y="4219575"/>
            <a:ext cx="184023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/>
              <a:t>核心点</a:t>
            </a:r>
            <a:r>
              <a:rPr lang="en-US" altLang="zh-CN" b="1"/>
              <a:t>:</a:t>
            </a:r>
            <a:endParaRPr lang="en-US" altLang="zh-CN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工作</a:t>
            </a:r>
            <a:r>
              <a:rPr lang="zh-CN" altLang="en-US"/>
              <a:t>效率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资源利用</a:t>
            </a:r>
            <a:r>
              <a:rPr lang="zh-CN" altLang="en-US"/>
              <a:t>效率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867" y="261206"/>
            <a:ext cx="10515600" cy="82926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训练服务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调度器</a:t>
            </a:r>
            <a:endParaRPr lang="zh-CN" altLang="en-US" sz="4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0" name="直接连接符 30"/>
          <p:cNvCxnSpPr/>
          <p:nvPr/>
        </p:nvCxnSpPr>
        <p:spPr>
          <a:xfrm>
            <a:off x="578734" y="1075544"/>
            <a:ext cx="11331615" cy="1268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591820" y="1798320"/>
            <a:ext cx="87058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/>
              <a:t>方案：</a:t>
            </a:r>
            <a:endParaRPr lang="zh-CN" altLang="en-US" b="1"/>
          </a:p>
        </p:txBody>
      </p:sp>
      <p:sp>
        <p:nvSpPr>
          <p:cNvPr id="25" name="文本框 24"/>
          <p:cNvSpPr txBox="1"/>
          <p:nvPr/>
        </p:nvSpPr>
        <p:spPr>
          <a:xfrm>
            <a:off x="581660" y="2181225"/>
            <a:ext cx="494157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自研任务</a:t>
            </a:r>
            <a:r>
              <a:rPr lang="zh-CN" altLang="en-US"/>
              <a:t>调度器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业务层面的东西上浮到平台业务</a:t>
            </a:r>
            <a:r>
              <a:rPr lang="zh-CN" altLang="en-US"/>
              <a:t>层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避免</a:t>
            </a:r>
            <a:r>
              <a:rPr lang="en-US" altLang="zh-CN"/>
              <a:t>k8s</a:t>
            </a:r>
            <a:r>
              <a:rPr lang="zh-CN" altLang="en-US"/>
              <a:t>压力</a:t>
            </a:r>
            <a:r>
              <a:rPr lang="zh-CN" altLang="en-US"/>
              <a:t>过大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方便</a:t>
            </a:r>
            <a:r>
              <a:rPr lang="zh-CN" altLang="en-US"/>
              <a:t>多集群</a:t>
            </a:r>
            <a:r>
              <a:rPr lang="zh-CN" altLang="en-US"/>
              <a:t>扩展</a:t>
            </a:r>
            <a:endParaRPr lang="zh-CN" altLang="en-US"/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/>
              <a:t>volcano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任务</a:t>
            </a:r>
            <a:r>
              <a:rPr lang="zh-CN" altLang="en-US"/>
              <a:t>管理功能</a:t>
            </a:r>
            <a:r>
              <a:rPr lang="zh-CN" altLang="en-US"/>
              <a:t>相对完善</a:t>
            </a:r>
            <a:r>
              <a:rPr lang="zh-CN" altLang="en-US"/>
              <a:t>不必从</a:t>
            </a:r>
            <a:r>
              <a:rPr lang="en-US" altLang="zh-CN"/>
              <a:t>0</a:t>
            </a:r>
            <a:r>
              <a:rPr lang="zh-CN" altLang="en-US"/>
              <a:t>到</a:t>
            </a:r>
            <a:r>
              <a:rPr lang="en-US" altLang="zh-CN"/>
              <a:t>1</a:t>
            </a:r>
            <a:r>
              <a:rPr lang="zh-CN" altLang="en-US"/>
              <a:t>研发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业务下沉到</a:t>
            </a:r>
            <a:r>
              <a:rPr lang="en-US" altLang="zh-CN"/>
              <a:t>k8s</a:t>
            </a:r>
            <a:r>
              <a:rPr lang="zh-CN" altLang="en-US"/>
              <a:t>完成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单集群玩法</a:t>
            </a:r>
            <a:endParaRPr lang="zh-CN" altLang="en-US"/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/>
              <a:t>kubequeue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维护较少不详细</a:t>
            </a:r>
            <a:r>
              <a:rPr lang="zh-CN" altLang="en-US"/>
              <a:t>介绍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03250" y="5355590"/>
            <a:ext cx="252603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/>
              <a:t>核心原则：</a:t>
            </a:r>
            <a:endParaRPr lang="zh-CN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可扩展性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尽量避免过度</a:t>
            </a:r>
            <a:r>
              <a:rPr lang="en-US" altLang="zh-CN"/>
              <a:t>native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尽量提高资源</a:t>
            </a:r>
            <a:r>
              <a:rPr lang="zh-CN" altLang="en-US"/>
              <a:t>使用率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867" y="261206"/>
            <a:ext cx="10515600" cy="82926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训练服务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调度器</a:t>
            </a:r>
            <a:endParaRPr lang="zh-CN" altLang="en-US" sz="4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0" name="直接连接符 30"/>
          <p:cNvCxnSpPr/>
          <p:nvPr/>
        </p:nvCxnSpPr>
        <p:spPr>
          <a:xfrm>
            <a:off x="578734" y="1075544"/>
            <a:ext cx="11331615" cy="1268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圆角矩形 3"/>
          <p:cNvSpPr/>
          <p:nvPr/>
        </p:nvSpPr>
        <p:spPr>
          <a:xfrm>
            <a:off x="1348740" y="1899920"/>
            <a:ext cx="3133725" cy="7505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任务</a:t>
            </a:r>
            <a:r>
              <a:rPr lang="zh-CN" altLang="en-US"/>
              <a:t>调度器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06780" y="3469640"/>
            <a:ext cx="1745615" cy="217043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064260" y="3985895"/>
            <a:ext cx="1430020" cy="40513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job1-pod1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1064895" y="4518660"/>
            <a:ext cx="1430020" cy="40513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job1-pod2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1064895" y="5051425"/>
            <a:ext cx="1430020" cy="40513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job1-pod3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928370" y="3550920"/>
            <a:ext cx="17018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zone1-cluster1</a:t>
            </a:r>
            <a:endParaRPr lang="en-US" altLang="zh-CN"/>
          </a:p>
        </p:txBody>
      </p:sp>
      <p:sp>
        <p:nvSpPr>
          <p:cNvPr id="13" name="矩形 12"/>
          <p:cNvSpPr/>
          <p:nvPr/>
        </p:nvSpPr>
        <p:spPr>
          <a:xfrm>
            <a:off x="3123565" y="3460115"/>
            <a:ext cx="1745615" cy="217043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281045" y="3976370"/>
            <a:ext cx="1430020" cy="40513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job2-pod1</a:t>
            </a:r>
            <a:endParaRPr lang="en-US" altLang="zh-CN"/>
          </a:p>
        </p:txBody>
      </p:sp>
      <p:sp>
        <p:nvSpPr>
          <p:cNvPr id="15" name="矩形 14"/>
          <p:cNvSpPr/>
          <p:nvPr/>
        </p:nvSpPr>
        <p:spPr>
          <a:xfrm>
            <a:off x="3281680" y="4509135"/>
            <a:ext cx="1430020" cy="40513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job2-pod2</a:t>
            </a:r>
            <a:endParaRPr lang="en-US" altLang="zh-CN"/>
          </a:p>
        </p:txBody>
      </p:sp>
      <p:sp>
        <p:nvSpPr>
          <p:cNvPr id="16" name="矩形 15"/>
          <p:cNvSpPr/>
          <p:nvPr/>
        </p:nvSpPr>
        <p:spPr>
          <a:xfrm>
            <a:off x="3281680" y="5041900"/>
            <a:ext cx="1430020" cy="40513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job2-pod3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3145155" y="3541395"/>
            <a:ext cx="17018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zone1-cluster2</a:t>
            </a:r>
            <a:endParaRPr lang="en-US" altLang="zh-CN"/>
          </a:p>
        </p:txBody>
      </p:sp>
      <p:sp>
        <p:nvSpPr>
          <p:cNvPr id="23" name="上下箭头 22"/>
          <p:cNvSpPr/>
          <p:nvPr/>
        </p:nvSpPr>
        <p:spPr>
          <a:xfrm>
            <a:off x="1515110" y="2650490"/>
            <a:ext cx="527685" cy="809625"/>
          </a:xfrm>
          <a:prstGeom prst="upDown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上下箭头 23"/>
          <p:cNvSpPr/>
          <p:nvPr/>
        </p:nvSpPr>
        <p:spPr>
          <a:xfrm>
            <a:off x="3630295" y="2656205"/>
            <a:ext cx="527685" cy="809625"/>
          </a:xfrm>
          <a:prstGeom prst="upDown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4" name="Straight Connector 63"/>
          <p:cNvCxnSpPr/>
          <p:nvPr/>
        </p:nvCxnSpPr>
        <p:spPr>
          <a:xfrm>
            <a:off x="6095913" y="1310077"/>
            <a:ext cx="0" cy="526639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圆角矩形 25"/>
          <p:cNvSpPr/>
          <p:nvPr/>
        </p:nvSpPr>
        <p:spPr>
          <a:xfrm>
            <a:off x="7744460" y="1149350"/>
            <a:ext cx="3133725" cy="7505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任务</a:t>
            </a:r>
            <a:r>
              <a:rPr lang="zh-CN" altLang="en-US"/>
              <a:t>调度器</a:t>
            </a:r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7165340" y="4134485"/>
            <a:ext cx="1745615" cy="217043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7322820" y="4650740"/>
            <a:ext cx="1430020" cy="40513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job1-pod1</a:t>
            </a:r>
            <a:endParaRPr lang="en-US" altLang="zh-CN"/>
          </a:p>
        </p:txBody>
      </p:sp>
      <p:sp>
        <p:nvSpPr>
          <p:cNvPr id="29" name="矩形 28"/>
          <p:cNvSpPr/>
          <p:nvPr/>
        </p:nvSpPr>
        <p:spPr>
          <a:xfrm>
            <a:off x="7323455" y="5183505"/>
            <a:ext cx="1430020" cy="40513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job2-pod2</a:t>
            </a:r>
            <a:endParaRPr lang="en-US" altLang="zh-CN"/>
          </a:p>
        </p:txBody>
      </p:sp>
      <p:sp>
        <p:nvSpPr>
          <p:cNvPr id="30" name="矩形 29"/>
          <p:cNvSpPr/>
          <p:nvPr/>
        </p:nvSpPr>
        <p:spPr>
          <a:xfrm>
            <a:off x="7323455" y="5716270"/>
            <a:ext cx="1430020" cy="40513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job1-pod3</a:t>
            </a:r>
            <a:endParaRPr lang="en-US" altLang="zh-CN"/>
          </a:p>
        </p:txBody>
      </p:sp>
      <p:sp>
        <p:nvSpPr>
          <p:cNvPr id="34" name="文本框 33"/>
          <p:cNvSpPr txBox="1"/>
          <p:nvPr/>
        </p:nvSpPr>
        <p:spPr>
          <a:xfrm>
            <a:off x="7186930" y="4215765"/>
            <a:ext cx="17018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zone1-cluster1</a:t>
            </a:r>
            <a:endParaRPr lang="en-US" altLang="zh-CN"/>
          </a:p>
        </p:txBody>
      </p:sp>
      <p:sp>
        <p:nvSpPr>
          <p:cNvPr id="35" name="矩形 34"/>
          <p:cNvSpPr/>
          <p:nvPr/>
        </p:nvSpPr>
        <p:spPr>
          <a:xfrm>
            <a:off x="9382125" y="4124960"/>
            <a:ext cx="1745615" cy="217043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9539605" y="4641215"/>
            <a:ext cx="1430020" cy="40513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job2-pod1</a:t>
            </a:r>
            <a:endParaRPr lang="en-US" altLang="zh-CN"/>
          </a:p>
        </p:txBody>
      </p:sp>
      <p:sp>
        <p:nvSpPr>
          <p:cNvPr id="37" name="矩形 36"/>
          <p:cNvSpPr/>
          <p:nvPr/>
        </p:nvSpPr>
        <p:spPr>
          <a:xfrm>
            <a:off x="9540240" y="5173980"/>
            <a:ext cx="1430020" cy="40513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job1-pod2</a:t>
            </a:r>
            <a:endParaRPr lang="en-US" altLang="zh-CN"/>
          </a:p>
        </p:txBody>
      </p:sp>
      <p:sp>
        <p:nvSpPr>
          <p:cNvPr id="38" name="矩形 37"/>
          <p:cNvSpPr/>
          <p:nvPr/>
        </p:nvSpPr>
        <p:spPr>
          <a:xfrm>
            <a:off x="9540240" y="5706745"/>
            <a:ext cx="1430020" cy="40513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job2-pod3</a:t>
            </a:r>
            <a:endParaRPr lang="en-US" altLang="zh-CN"/>
          </a:p>
        </p:txBody>
      </p:sp>
      <p:sp>
        <p:nvSpPr>
          <p:cNvPr id="42" name="文本框 41"/>
          <p:cNvSpPr txBox="1"/>
          <p:nvPr/>
        </p:nvSpPr>
        <p:spPr>
          <a:xfrm>
            <a:off x="9403715" y="4206240"/>
            <a:ext cx="17018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zone1-cluster2</a:t>
            </a:r>
            <a:endParaRPr lang="en-US" altLang="zh-CN"/>
          </a:p>
        </p:txBody>
      </p:sp>
      <p:sp>
        <p:nvSpPr>
          <p:cNvPr id="43" name="上下箭头 42"/>
          <p:cNvSpPr/>
          <p:nvPr/>
        </p:nvSpPr>
        <p:spPr>
          <a:xfrm>
            <a:off x="7876540" y="3294380"/>
            <a:ext cx="527685" cy="809625"/>
          </a:xfrm>
          <a:prstGeom prst="upDown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上下箭头 43"/>
          <p:cNvSpPr/>
          <p:nvPr/>
        </p:nvSpPr>
        <p:spPr>
          <a:xfrm>
            <a:off x="9991725" y="3300095"/>
            <a:ext cx="527685" cy="809625"/>
          </a:xfrm>
          <a:prstGeom prst="upDown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圆角矩形 44"/>
          <p:cNvSpPr/>
          <p:nvPr/>
        </p:nvSpPr>
        <p:spPr>
          <a:xfrm>
            <a:off x="7744460" y="2479040"/>
            <a:ext cx="3133725" cy="7505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多集群</a:t>
            </a:r>
            <a:r>
              <a:rPr lang="zh-CN" altLang="en-US"/>
              <a:t>管理</a:t>
            </a:r>
            <a:endParaRPr lang="zh-CN" altLang="en-US"/>
          </a:p>
        </p:txBody>
      </p:sp>
      <p:sp>
        <p:nvSpPr>
          <p:cNvPr id="46" name="上下箭头 45"/>
          <p:cNvSpPr/>
          <p:nvPr/>
        </p:nvSpPr>
        <p:spPr>
          <a:xfrm>
            <a:off x="9105265" y="1743710"/>
            <a:ext cx="527685" cy="809625"/>
          </a:xfrm>
          <a:prstGeom prst="upDown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618490" y="1310005"/>
            <a:ext cx="27044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/>
              <a:t>任务多集群任务调度形式</a:t>
            </a:r>
            <a:endParaRPr lang="zh-CN" altLang="en-US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867" y="261206"/>
            <a:ext cx="10515600" cy="82926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推理服务</a:t>
            </a:r>
            <a:endParaRPr lang="en-US" sz="4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31"/>
          <p:cNvSpPr/>
          <p:nvPr/>
        </p:nvSpPr>
        <p:spPr>
          <a:xfrm>
            <a:off x="987701" y="1330397"/>
            <a:ext cx="4080001" cy="194850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圆角矩形 32"/>
          <p:cNvSpPr/>
          <p:nvPr/>
        </p:nvSpPr>
        <p:spPr>
          <a:xfrm>
            <a:off x="987701" y="3397300"/>
            <a:ext cx="1729452" cy="605173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厂商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GPU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K8s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集群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33"/>
          <p:cNvSpPr/>
          <p:nvPr/>
        </p:nvSpPr>
        <p:spPr>
          <a:xfrm>
            <a:off x="3345440" y="3402737"/>
            <a:ext cx="1722255" cy="605173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厂商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GPU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K8s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集群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标注 41"/>
          <p:cNvSpPr/>
          <p:nvPr/>
        </p:nvSpPr>
        <p:spPr>
          <a:xfrm rot="10800000">
            <a:off x="937551" y="4208771"/>
            <a:ext cx="4130144" cy="2388023"/>
          </a:xfrm>
          <a:prstGeom prst="wedgeRoundRectCallout">
            <a:avLst>
              <a:gd name="adj1" fmla="val 33960"/>
              <a:gd name="adj2" fmla="val 57588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42"/>
          <p:cNvSpPr/>
          <p:nvPr/>
        </p:nvSpPr>
        <p:spPr>
          <a:xfrm>
            <a:off x="1051773" y="4318510"/>
            <a:ext cx="3887930" cy="45767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K8s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中控组件（资源层）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圆角矩形 43"/>
          <p:cNvSpPr/>
          <p:nvPr/>
        </p:nvSpPr>
        <p:spPr>
          <a:xfrm>
            <a:off x="1051773" y="4823480"/>
            <a:ext cx="1125366" cy="453891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批量调度器</a:t>
            </a:r>
            <a:endParaRPr kumimoji="1"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圆角矩形 45"/>
          <p:cNvSpPr/>
          <p:nvPr/>
        </p:nvSpPr>
        <p:spPr>
          <a:xfrm>
            <a:off x="1065384" y="2013757"/>
            <a:ext cx="1248619" cy="548921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</a:t>
            </a:r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额度控制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圆角矩形 49"/>
          <p:cNvSpPr/>
          <p:nvPr/>
        </p:nvSpPr>
        <p:spPr>
          <a:xfrm>
            <a:off x="2277242" y="4823480"/>
            <a:ext cx="1342416" cy="45767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Kubeflow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管理器</a:t>
            </a:r>
            <a:endParaRPr kumimoji="1"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圆角矩形 51"/>
          <p:cNvSpPr/>
          <p:nvPr/>
        </p:nvSpPr>
        <p:spPr>
          <a:xfrm>
            <a:off x="1051773" y="1461848"/>
            <a:ext cx="3939371" cy="45767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机器学习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 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圆角矩形 168"/>
          <p:cNvSpPr/>
          <p:nvPr/>
        </p:nvSpPr>
        <p:spPr>
          <a:xfrm>
            <a:off x="2140583" y="5332290"/>
            <a:ext cx="1022133" cy="688474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节点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圆角矩形 169"/>
          <p:cNvSpPr/>
          <p:nvPr/>
        </p:nvSpPr>
        <p:spPr>
          <a:xfrm>
            <a:off x="1051773" y="6112795"/>
            <a:ext cx="3887929" cy="39197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共享存储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圆角矩形 170"/>
          <p:cNvSpPr/>
          <p:nvPr/>
        </p:nvSpPr>
        <p:spPr>
          <a:xfrm>
            <a:off x="3243459" y="5332290"/>
            <a:ext cx="1700294" cy="688474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虚拟化节点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圆角矩形 1"/>
          <p:cNvSpPr/>
          <p:nvPr/>
        </p:nvSpPr>
        <p:spPr>
          <a:xfrm>
            <a:off x="2177139" y="5672700"/>
            <a:ext cx="971063" cy="348064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缓存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圆角矩形 61"/>
          <p:cNvSpPr/>
          <p:nvPr/>
        </p:nvSpPr>
        <p:spPr>
          <a:xfrm>
            <a:off x="3281013" y="5672700"/>
            <a:ext cx="1642271" cy="33766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缓存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圆角矩形 168"/>
          <p:cNvSpPr/>
          <p:nvPr/>
        </p:nvSpPr>
        <p:spPr>
          <a:xfrm>
            <a:off x="1051773" y="5332290"/>
            <a:ext cx="1022133" cy="688474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endParaRPr kumimoji="1"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圆角矩形 49"/>
          <p:cNvSpPr/>
          <p:nvPr/>
        </p:nvSpPr>
        <p:spPr>
          <a:xfrm>
            <a:off x="3674189" y="4827320"/>
            <a:ext cx="1265513" cy="45767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AIOps</a:t>
            </a:r>
            <a:endParaRPr kumimoji="1"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圆角矩形 45"/>
          <p:cNvSpPr/>
          <p:nvPr/>
        </p:nvSpPr>
        <p:spPr>
          <a:xfrm>
            <a:off x="1065383" y="2608725"/>
            <a:ext cx="1248619" cy="548921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训练组件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圆角矩形 45"/>
          <p:cNvSpPr/>
          <p:nvPr/>
        </p:nvSpPr>
        <p:spPr>
          <a:xfrm>
            <a:off x="2497143" y="2028357"/>
            <a:ext cx="1099365" cy="548921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开发服务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圆角矩形 45"/>
          <p:cNvSpPr/>
          <p:nvPr/>
        </p:nvSpPr>
        <p:spPr>
          <a:xfrm>
            <a:off x="2498687" y="2608725"/>
            <a:ext cx="1097821" cy="548921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模型管理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圆角矩形 45"/>
          <p:cNvSpPr/>
          <p:nvPr/>
        </p:nvSpPr>
        <p:spPr>
          <a:xfrm>
            <a:off x="3742525" y="2608724"/>
            <a:ext cx="1248619" cy="548921"/>
          </a:xfrm>
          <a:prstGeom prst="roundRect">
            <a:avLst/>
          </a:prstGeom>
          <a:solidFill>
            <a:srgbClr val="FE39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推理服务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Up-Down Arrow 43"/>
          <p:cNvSpPr/>
          <p:nvPr/>
        </p:nvSpPr>
        <p:spPr>
          <a:xfrm>
            <a:off x="1663392" y="3133721"/>
            <a:ext cx="221479" cy="301975"/>
          </a:xfrm>
          <a:prstGeom prst="upDown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Up-Down Arrow 44"/>
          <p:cNvSpPr/>
          <p:nvPr/>
        </p:nvSpPr>
        <p:spPr>
          <a:xfrm>
            <a:off x="4272927" y="3136543"/>
            <a:ext cx="221479" cy="301975"/>
          </a:xfrm>
          <a:prstGeom prst="upDown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圆角矩形 45"/>
          <p:cNvSpPr/>
          <p:nvPr/>
        </p:nvSpPr>
        <p:spPr>
          <a:xfrm>
            <a:off x="3742525" y="2008672"/>
            <a:ext cx="1248619" cy="548921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0" name="直接连接符 30"/>
          <p:cNvCxnSpPr/>
          <p:nvPr/>
        </p:nvCxnSpPr>
        <p:spPr>
          <a:xfrm>
            <a:off x="578734" y="1075544"/>
            <a:ext cx="11331615" cy="1268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5428528" y="1330397"/>
            <a:ext cx="0" cy="526639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839667" y="1330397"/>
            <a:ext cx="5476874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推理服务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DevOps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模型发布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灰度发布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金丝雀发布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模型监控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服务状态监控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数据分布监控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模型性能监控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A/B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指标监控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推理软件能力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 descr="TensorRT 3: Faster TensorFlow Inference and Volta Support | NVIDIA  Developer Blo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4541" y="4547349"/>
            <a:ext cx="2482737" cy="2121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867" y="261206"/>
            <a:ext cx="10515600" cy="82926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——GPU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调度</a:t>
            </a:r>
            <a:endParaRPr lang="zh-CN" altLang="en-US" sz="4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0" name="直接连接符 30"/>
          <p:cNvCxnSpPr/>
          <p:nvPr/>
        </p:nvCxnSpPr>
        <p:spPr>
          <a:xfrm>
            <a:off x="578734" y="1075544"/>
            <a:ext cx="11331615" cy="1268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78485" y="1784985"/>
            <a:ext cx="7282815" cy="341503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/>
              <a:t>训练：</a:t>
            </a:r>
            <a:endParaRPr lang="zh-CN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任务类型调度，一般单</a:t>
            </a:r>
            <a:r>
              <a:rPr lang="en-US" altLang="zh-CN"/>
              <a:t>pod</a:t>
            </a:r>
            <a:r>
              <a:rPr lang="zh-CN" altLang="en-US"/>
              <a:t>调度或者多</a:t>
            </a:r>
            <a:r>
              <a:rPr lang="en-US" altLang="zh-CN"/>
              <a:t>pod Gang</a:t>
            </a:r>
            <a:r>
              <a:rPr lang="zh-CN" altLang="en-US"/>
              <a:t>调度</a:t>
            </a: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/>
              <a:t>高效调度</a:t>
            </a:r>
            <a:r>
              <a:rPr lang="zh-CN" altLang="en-US"/>
              <a:t>任务</a:t>
            </a: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/>
              <a:t>高效利用</a:t>
            </a:r>
            <a:r>
              <a:rPr lang="zh-CN" altLang="en-US"/>
              <a:t>资源</a:t>
            </a:r>
            <a:endParaRPr lang="zh-CN" altLang="en-US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/>
              <a:t>通过配额超发，任务优先级抢占等能力实现资源高</a:t>
            </a:r>
            <a:r>
              <a:rPr lang="zh-CN" altLang="en-US"/>
              <a:t>使用率</a:t>
            </a:r>
            <a:endParaRPr lang="zh-CN" altLang="en-US"/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 b="1"/>
              <a:t>推理：</a:t>
            </a:r>
            <a:endParaRPr lang="zh-CN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和传统在线业务区别不大</a:t>
            </a: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Deepseek</a:t>
            </a:r>
            <a:r>
              <a:rPr lang="zh-CN" altLang="en-US"/>
              <a:t>多机形态和传统在线业务部署有</a:t>
            </a:r>
            <a:r>
              <a:rPr lang="zh-CN" altLang="en-US"/>
              <a:t>区别</a:t>
            </a: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GPU</a:t>
            </a:r>
            <a:r>
              <a:rPr lang="zh-CN" altLang="en-US"/>
              <a:t>碎片多卡部署</a:t>
            </a:r>
            <a:r>
              <a:rPr lang="zh-CN" altLang="en-US"/>
              <a:t>问题</a:t>
            </a:r>
            <a:endParaRPr lang="zh-CN" altLang="en-US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/>
              <a:t>可以通过潮汐等能力实现资源高</a:t>
            </a:r>
            <a:r>
              <a:rPr lang="zh-CN" altLang="en-US"/>
              <a:t>复用率</a:t>
            </a:r>
            <a:endParaRPr lang="zh-CN" altLang="en-US"/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 b="1"/>
              <a:t>最大难题：</a:t>
            </a:r>
            <a:endParaRPr lang="zh-CN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GPU</a:t>
            </a:r>
            <a:r>
              <a:rPr lang="zh-CN" altLang="en-US"/>
              <a:t>碎片化，无解，通过</a:t>
            </a:r>
            <a:r>
              <a:rPr lang="en-US" altLang="zh-CN"/>
              <a:t>GPU</a:t>
            </a:r>
            <a:r>
              <a:rPr lang="zh-CN" altLang="en-US"/>
              <a:t>池化、</a:t>
            </a:r>
            <a:r>
              <a:rPr lang="en-US" altLang="zh-CN"/>
              <a:t>binpack</a:t>
            </a:r>
            <a:r>
              <a:rPr lang="zh-CN" altLang="en-US"/>
              <a:t>以及二次</a:t>
            </a:r>
            <a:r>
              <a:rPr lang="zh-CN" altLang="en-US"/>
              <a:t>调度尽量</a:t>
            </a:r>
            <a:r>
              <a:rPr lang="zh-CN" altLang="en-US"/>
              <a:t>避免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581867" y="261206"/>
            <a:ext cx="10515600" cy="829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架构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——GPU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池化</a:t>
            </a:r>
            <a:endParaRPr lang="zh-CN" altLang="en-US" sz="4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5" name="直接连接符 30"/>
          <p:cNvCxnSpPr/>
          <p:nvPr/>
        </p:nvCxnSpPr>
        <p:spPr>
          <a:xfrm>
            <a:off x="578734" y="1075544"/>
            <a:ext cx="11331615" cy="1268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581660" y="1590040"/>
          <a:ext cx="10133330" cy="3064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3440"/>
                <a:gridCol w="3634105"/>
                <a:gridCol w="4375785"/>
              </a:tblGrid>
              <a:tr h="6483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优点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缺点</a:t>
                      </a:r>
                      <a:endParaRPr lang="zh-CN" altLang="en-US"/>
                    </a:p>
                  </a:txBody>
                  <a:tcPr/>
                </a:tc>
              </a:tr>
              <a:tr h="17678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传统物理机</a:t>
                      </a:r>
                      <a:r>
                        <a:rPr lang="zh-CN" altLang="en-US"/>
                        <a:t>玩法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-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资源和业务强绑定</a:t>
                      </a:r>
                      <a:endParaRPr lang="zh-CN" altLang="en-US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/>
                        <a:t>不利于资源统一管理（包括驱动</a:t>
                      </a:r>
                      <a:r>
                        <a:rPr lang="zh-CN" altLang="en-US"/>
                        <a:t>等）</a:t>
                      </a:r>
                      <a:endParaRPr lang="zh-CN" altLang="en-US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/>
                        <a:t>不利于统一盘活资源</a:t>
                      </a:r>
                      <a:r>
                        <a:rPr lang="zh-CN" altLang="en-US"/>
                        <a:t>利用</a:t>
                      </a:r>
                      <a:endParaRPr lang="zh-CN" altLang="en-US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/>
                        <a:t>无法</a:t>
                      </a:r>
                      <a:r>
                        <a:rPr lang="zh-CN" altLang="en-US"/>
                        <a:t>编排</a:t>
                      </a:r>
                      <a:endParaRPr lang="zh-CN" altLang="en-US"/>
                    </a:p>
                  </a:txBody>
                  <a:tcPr/>
                </a:tc>
              </a:tr>
              <a:tr h="6483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云原生时代</a:t>
                      </a:r>
                      <a:r>
                        <a:rPr lang="zh-CN" altLang="en-US"/>
                        <a:t>玩法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资源池化，业务只需要关心</a:t>
                      </a:r>
                      <a:r>
                        <a:rPr lang="en-US" altLang="zh-CN"/>
                        <a:t>quota</a:t>
                      </a:r>
                      <a:endParaRPr lang="en-US" altLang="zh-CN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/>
                        <a:t>统一管理硬件</a:t>
                      </a:r>
                      <a:r>
                        <a:rPr lang="zh-CN" altLang="en-US"/>
                        <a:t>资源</a:t>
                      </a:r>
                      <a:endParaRPr lang="zh-CN" altLang="en-US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/>
                        <a:t>灵活丰富的任务</a:t>
                      </a:r>
                      <a:r>
                        <a:rPr lang="zh-CN" altLang="en-US"/>
                        <a:t>编排</a:t>
                      </a:r>
                      <a:endParaRPr lang="zh-CN" altLang="en-US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/>
                        <a:t>统一构建</a:t>
                      </a:r>
                      <a:r>
                        <a:rPr lang="en-US" altLang="zh-CN"/>
                        <a:t>GPU</a:t>
                      </a:r>
                      <a:r>
                        <a:rPr lang="zh-CN" altLang="en-US"/>
                        <a:t>资源池，盘活</a:t>
                      </a:r>
                      <a:r>
                        <a:rPr lang="en-US" altLang="zh-CN"/>
                        <a:t>GPU</a:t>
                      </a:r>
                      <a:r>
                        <a:rPr lang="zh-CN" altLang="en-US"/>
                        <a:t>资源高效</a:t>
                      </a:r>
                      <a:r>
                        <a:rPr lang="zh-CN" altLang="en-US"/>
                        <a:t>利用</a:t>
                      </a:r>
                      <a:endParaRPr lang="zh-CN" altLang="en-US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>
                          <a:solidFill>
                            <a:srgbClr val="FF0000"/>
                          </a:solidFill>
                        </a:rPr>
                        <a:t>避免云原生时代机器和业务线强绑定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  <a:p>
                      <a:pPr>
                        <a:buNone/>
                      </a:pP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-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581867" y="261206"/>
            <a:ext cx="10515600" cy="829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架构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——GPU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池化</a:t>
            </a:r>
            <a:endParaRPr lang="zh-CN" altLang="en-US" sz="4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5" name="直接连接符 30"/>
          <p:cNvCxnSpPr/>
          <p:nvPr/>
        </p:nvCxnSpPr>
        <p:spPr>
          <a:xfrm>
            <a:off x="578734" y="1075544"/>
            <a:ext cx="11331615" cy="1268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圆角矩形 1"/>
          <p:cNvSpPr/>
          <p:nvPr/>
        </p:nvSpPr>
        <p:spPr>
          <a:xfrm>
            <a:off x="644525" y="2237105"/>
            <a:ext cx="4037330" cy="259588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770380" y="3244850"/>
            <a:ext cx="15836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训推共用</a:t>
            </a:r>
            <a:r>
              <a:rPr lang="en-US" altLang="zh-CN"/>
              <a:t>GPU</a:t>
            </a:r>
            <a:endParaRPr lang="en-US" altLang="zh-CN"/>
          </a:p>
        </p:txBody>
      </p:sp>
      <p:cxnSp>
        <p:nvCxnSpPr>
          <p:cNvPr id="64" name="Straight Connector 63"/>
          <p:cNvCxnSpPr/>
          <p:nvPr/>
        </p:nvCxnSpPr>
        <p:spPr>
          <a:xfrm>
            <a:off x="5712373" y="1350082"/>
            <a:ext cx="0" cy="526639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圆角矩形 6"/>
          <p:cNvSpPr/>
          <p:nvPr/>
        </p:nvSpPr>
        <p:spPr>
          <a:xfrm>
            <a:off x="6278880" y="2237105"/>
            <a:ext cx="2038985" cy="259588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9058275" y="2237105"/>
            <a:ext cx="2038985" cy="259588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635115" y="3350895"/>
            <a:ext cx="132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训练</a:t>
            </a:r>
            <a:r>
              <a:rPr lang="zh-CN" altLang="en-US"/>
              <a:t>公共池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415145" y="3350895"/>
            <a:ext cx="132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推理公共池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172210" y="5325110"/>
            <a:ext cx="275463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/>
              <a:t>问题：</a:t>
            </a:r>
            <a:endParaRPr lang="zh-CN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推理碎片恶化训练</a:t>
            </a:r>
            <a:r>
              <a:rPr lang="zh-CN" altLang="en-US"/>
              <a:t>任务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训练</a:t>
            </a:r>
            <a:r>
              <a:rPr lang="zh-CN" altLang="en-US"/>
              <a:t>密集计算影响</a:t>
            </a:r>
            <a:r>
              <a:rPr lang="zh-CN" altLang="en-US"/>
              <a:t>推理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278880" y="5601970"/>
            <a:ext cx="3611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训练和推理分开建设减少相互</a:t>
            </a:r>
            <a:r>
              <a:rPr lang="zh-CN" altLang="en-US"/>
              <a:t>影响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3444875" y="3691890"/>
            <a:ext cx="6237605" cy="25768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Title 1"/>
          <p:cNvSpPr txBox="1"/>
          <p:nvPr/>
        </p:nvSpPr>
        <p:spPr>
          <a:xfrm>
            <a:off x="581867" y="261206"/>
            <a:ext cx="10515600" cy="829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架构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——GPU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弹性池</a:t>
            </a:r>
            <a:endParaRPr lang="zh-CN" altLang="en-US" sz="4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5" name="直接连接符 30"/>
          <p:cNvCxnSpPr/>
          <p:nvPr/>
        </p:nvCxnSpPr>
        <p:spPr>
          <a:xfrm>
            <a:off x="578734" y="1075544"/>
            <a:ext cx="11331615" cy="1268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圆角矩形 6"/>
          <p:cNvSpPr/>
          <p:nvPr/>
        </p:nvSpPr>
        <p:spPr>
          <a:xfrm>
            <a:off x="4159250" y="1953260"/>
            <a:ext cx="2038985" cy="259588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6938645" y="1953260"/>
            <a:ext cx="2038985" cy="259588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515485" y="3067050"/>
            <a:ext cx="132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训练</a:t>
            </a:r>
            <a:r>
              <a:rPr lang="zh-CN" altLang="en-US"/>
              <a:t>公共池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295515" y="3067050"/>
            <a:ext cx="132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推理公共池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841365" y="5172710"/>
            <a:ext cx="132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弹性</a:t>
            </a:r>
            <a:r>
              <a:rPr lang="zh-CN" altLang="en-US"/>
              <a:t>资源池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581660" y="1391920"/>
            <a:ext cx="298323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弹性</a:t>
            </a:r>
            <a:r>
              <a:rPr lang="en-US" altLang="zh-CN"/>
              <a:t>GPU</a:t>
            </a:r>
            <a:r>
              <a:rPr lang="zh-CN" altLang="en-US"/>
              <a:t>资源</a:t>
            </a:r>
            <a:r>
              <a:rPr lang="zh-CN" altLang="en-US"/>
              <a:t>来源：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冗余或者潮汐推理</a:t>
            </a:r>
            <a:r>
              <a:rPr lang="zh-CN" altLang="en-US"/>
              <a:t>资源池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冗余训练</a:t>
            </a:r>
            <a:r>
              <a:rPr lang="zh-CN" altLang="en-US"/>
              <a:t>资源池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581867" y="261206"/>
            <a:ext cx="10515600" cy="829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架构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故障检测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&amp;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自愈</a:t>
            </a:r>
            <a:endParaRPr lang="zh-CN" altLang="en-US" sz="4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5" name="直接连接符 30"/>
          <p:cNvCxnSpPr/>
          <p:nvPr/>
        </p:nvCxnSpPr>
        <p:spPr>
          <a:xfrm>
            <a:off x="581909" y="1075544"/>
            <a:ext cx="11331615" cy="1268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581660" y="1825625"/>
            <a:ext cx="275590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GPU</a:t>
            </a:r>
            <a:r>
              <a:rPr lang="zh-CN" altLang="en-US"/>
              <a:t>另一恶疾，</a:t>
            </a:r>
            <a:r>
              <a:rPr lang="en-US" altLang="zh-CN"/>
              <a:t>GPU</a:t>
            </a:r>
            <a:r>
              <a:rPr lang="zh-CN" altLang="en-US"/>
              <a:t>故障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影响训推</a:t>
            </a:r>
            <a:r>
              <a:rPr lang="zh-CN" altLang="en-US"/>
              <a:t>效率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造成资源</a:t>
            </a:r>
            <a:r>
              <a:rPr lang="zh-CN" altLang="en-US"/>
              <a:t>浪费</a:t>
            </a:r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695325" y="3174365"/>
            <a:ext cx="1663700" cy="86233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78535" y="3428365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故障</a:t>
            </a:r>
            <a:r>
              <a:rPr lang="zh-CN" altLang="en-US"/>
              <a:t>检测</a:t>
            </a:r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695325" y="5026025"/>
            <a:ext cx="1663700" cy="86233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978535" y="527304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自动</a:t>
            </a:r>
            <a:r>
              <a:rPr lang="zh-CN" altLang="en-US"/>
              <a:t>维修</a:t>
            </a:r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3337560" y="5026025"/>
            <a:ext cx="1663700" cy="86233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3620770" y="527304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人肉维修</a:t>
            </a:r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3337560" y="3174365"/>
            <a:ext cx="1663700" cy="86233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491865" y="3421380"/>
            <a:ext cx="13550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GPU</a:t>
            </a:r>
            <a:r>
              <a:rPr lang="zh-CN" altLang="en-US"/>
              <a:t>资源池</a:t>
            </a:r>
            <a:endParaRPr lang="zh-CN" altLang="en-US"/>
          </a:p>
        </p:txBody>
      </p:sp>
      <p:cxnSp>
        <p:nvCxnSpPr>
          <p:cNvPr id="20" name="直接箭头连接符 19"/>
          <p:cNvCxnSpPr>
            <a:stCxn id="10" idx="2"/>
            <a:endCxn id="14" idx="0"/>
          </p:cNvCxnSpPr>
          <p:nvPr/>
        </p:nvCxnSpPr>
        <p:spPr>
          <a:xfrm>
            <a:off x="1527175" y="4036695"/>
            <a:ext cx="0" cy="9893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14" idx="3"/>
            <a:endCxn id="16" idx="1"/>
          </p:cNvCxnSpPr>
          <p:nvPr/>
        </p:nvCxnSpPr>
        <p:spPr>
          <a:xfrm>
            <a:off x="2359025" y="5457190"/>
            <a:ext cx="97853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16" idx="0"/>
            <a:endCxn id="18" idx="2"/>
          </p:cNvCxnSpPr>
          <p:nvPr/>
        </p:nvCxnSpPr>
        <p:spPr>
          <a:xfrm flipV="1">
            <a:off x="4169410" y="4036695"/>
            <a:ext cx="0" cy="9893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V="1">
            <a:off x="2308225" y="4036695"/>
            <a:ext cx="1029335" cy="10045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18" idx="1"/>
            <a:endCxn id="10" idx="3"/>
          </p:cNvCxnSpPr>
          <p:nvPr/>
        </p:nvCxnSpPr>
        <p:spPr>
          <a:xfrm flipH="1">
            <a:off x="2359025" y="3605530"/>
            <a:ext cx="97853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63"/>
          <p:cNvCxnSpPr/>
          <p:nvPr/>
        </p:nvCxnSpPr>
        <p:spPr>
          <a:xfrm>
            <a:off x="5839373" y="1350082"/>
            <a:ext cx="0" cy="526639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6294755" y="1653540"/>
            <a:ext cx="10998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/>
              <a:t>常见错误</a:t>
            </a:r>
            <a:endParaRPr lang="zh-CN" altLang="en-US" b="1"/>
          </a:p>
        </p:txBody>
      </p:sp>
      <p:graphicFrame>
        <p:nvGraphicFramePr>
          <p:cNvPr id="27" name="表格 26"/>
          <p:cNvGraphicFramePr/>
          <p:nvPr/>
        </p:nvGraphicFramePr>
        <p:xfrm>
          <a:off x="6457315" y="2332355"/>
          <a:ext cx="473075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75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错误</a:t>
                      </a:r>
                      <a:r>
                        <a:rPr lang="zh-CN" altLang="en-US"/>
                        <a:t>类型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miss_card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device_unknown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ecc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uecc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nvdia_fabricmanager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xid_95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xid_64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nccl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......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6004560" y="6248400"/>
            <a:ext cx="590867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https://mp.weixin.qq.com/s/geSijcXTAA8zoEM60F968w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581867" y="261206"/>
            <a:ext cx="10515600" cy="829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GPU虚拟化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zh-CN" altLang="en-US" sz="4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30"/>
          <p:cNvCxnSpPr/>
          <p:nvPr/>
        </p:nvCxnSpPr>
        <p:spPr>
          <a:xfrm>
            <a:off x="578734" y="1075544"/>
            <a:ext cx="11331615" cy="1268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1"/>
          <p:cNvSpPr txBox="1"/>
          <p:nvPr/>
        </p:nvSpPr>
        <p:spPr>
          <a:xfrm>
            <a:off x="434975" y="1063625"/>
            <a:ext cx="6846570" cy="1229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对于开发环境利用率低，如何提升单卡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利用率？</a:t>
            </a:r>
            <a:endParaRPr kumimoji="1"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分析：</a:t>
            </a:r>
            <a:r>
              <a:rPr kumimoji="1"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kumimoji="1"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</a:t>
            </a:r>
            <a:endParaRPr kumimoji="1"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+mj-ea"/>
              <a:buAutoNum type="circleNumDbPlain"/>
            </a:pP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开发过程中，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没有一直在运行，而且数据集规模小；</a:t>
            </a: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+mj-ea"/>
              <a:buAutoNum type="circleNumDbPlain"/>
            </a:pP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但是需要保证资源隔离，最好是支持容器，可以运行在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K8s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架构下；</a:t>
            </a: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+mj-ea"/>
              <a:buAutoNum type="circleNumDbPlain"/>
            </a:pP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高安全性，互相不影响；</a:t>
            </a: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5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98676" y="2933073"/>
          <a:ext cx="5093976" cy="227757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15311"/>
                <a:gridCol w="1014269"/>
                <a:gridCol w="918935"/>
                <a:gridCol w="955330"/>
                <a:gridCol w="890131"/>
              </a:tblGrid>
              <a:tr h="34353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GPU</a:t>
                      </a:r>
                      <a:r>
                        <a:rPr lang="zh-CN" altLang="en-US" sz="1100" b="0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共享技术</a:t>
                      </a:r>
                      <a:endParaRPr lang="zh-CN" altLang="en-US" sz="1100" b="0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0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CUDA</a:t>
                      </a:r>
                      <a:r>
                        <a:rPr lang="zh-CN" altLang="en-US" sz="1100" b="0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聚合</a:t>
                      </a:r>
                      <a:endParaRPr lang="zh-CN" altLang="en-US" sz="1100" b="0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0" i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Mdev</a:t>
                      </a:r>
                      <a:r>
                        <a:rPr lang="zh-CN" altLang="en-US" sz="1100" b="0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框架</a:t>
                      </a:r>
                      <a:endParaRPr lang="zh-CN" altLang="en-US" sz="1100" b="0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0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CUDA</a:t>
                      </a:r>
                      <a:r>
                        <a:rPr lang="zh-CN" altLang="en-US" sz="1100" b="0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劫持</a:t>
                      </a:r>
                      <a:endParaRPr lang="zh-CN" altLang="en-US" sz="1100" b="0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b="0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内核虚拟化</a:t>
                      </a:r>
                      <a:endParaRPr lang="zh-CN" altLang="en-US" sz="1100" b="0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33870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0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容器支持</a:t>
                      </a:r>
                      <a:endParaRPr lang="zh-CN" altLang="en-US" sz="1100" b="0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dirty="0">
                          <a:solidFill>
                            <a:schemeClr val="accent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1400" b="0" i="0" dirty="0">
                        <a:solidFill>
                          <a:schemeClr val="accent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  <a:endParaRPr lang="zh-CN" altLang="en-US" sz="1400" b="0" i="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dirty="0">
                          <a:solidFill>
                            <a:schemeClr val="accent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1400" b="0" i="0" dirty="0">
                        <a:solidFill>
                          <a:schemeClr val="accent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dirty="0">
                          <a:solidFill>
                            <a:schemeClr val="accent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1400" b="0" i="0" dirty="0">
                        <a:solidFill>
                          <a:schemeClr val="accent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4824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0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资源隔离</a:t>
                      </a:r>
                      <a:endParaRPr lang="zh-CN" altLang="en-US" sz="1100" b="0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  <a:endParaRPr lang="zh-CN" altLang="en-US" sz="1400" b="0" i="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dirty="0">
                          <a:solidFill>
                            <a:schemeClr val="accent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1400" b="0" i="0" dirty="0">
                        <a:solidFill>
                          <a:schemeClr val="accent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dirty="0">
                          <a:solidFill>
                            <a:schemeClr val="accent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1400" b="0" i="0" dirty="0">
                        <a:solidFill>
                          <a:schemeClr val="accent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dirty="0">
                          <a:solidFill>
                            <a:schemeClr val="accent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1400" b="0" i="0" dirty="0">
                        <a:solidFill>
                          <a:schemeClr val="accent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2739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0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安全性</a:t>
                      </a:r>
                      <a:endParaRPr lang="zh-CN" altLang="en-US" sz="1100" b="0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  <a:endParaRPr lang="zh-CN" altLang="en-US" sz="1400" b="0" i="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dirty="0">
                          <a:solidFill>
                            <a:schemeClr val="accent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1400" b="0" i="0" dirty="0">
                        <a:solidFill>
                          <a:schemeClr val="accent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  <a:endParaRPr lang="zh-CN" altLang="en-US" sz="1400" b="0" i="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dirty="0">
                          <a:solidFill>
                            <a:schemeClr val="accent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1400" b="0" i="0" dirty="0">
                        <a:solidFill>
                          <a:schemeClr val="accent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253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0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开销极低</a:t>
                      </a:r>
                      <a:endParaRPr lang="zh-CN" altLang="en-US" sz="1100" b="0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dirty="0">
                          <a:solidFill>
                            <a:schemeClr val="accent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1400" b="0" i="0" dirty="0">
                        <a:solidFill>
                          <a:schemeClr val="accent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  <a:endParaRPr lang="en-US" altLang="zh-CN" sz="1400" b="0" i="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dirty="0">
                          <a:solidFill>
                            <a:schemeClr val="accent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1400" b="0" i="0" dirty="0">
                        <a:solidFill>
                          <a:schemeClr val="accent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dirty="0">
                          <a:solidFill>
                            <a:schemeClr val="accent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1400" b="0" i="0" dirty="0">
                        <a:solidFill>
                          <a:schemeClr val="accent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179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0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代表产品</a:t>
                      </a:r>
                      <a:endParaRPr lang="zh-CN" altLang="en-US" sz="1100" b="0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Nvidia</a:t>
                      </a:r>
                      <a:r>
                        <a:rPr lang="zh-CN" altLang="en-US" sz="1100" b="0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100" b="0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MPS</a:t>
                      </a:r>
                      <a:r>
                        <a:rPr lang="zh-CN" altLang="en-US" sz="1100" b="0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（不开源）</a:t>
                      </a:r>
                      <a:endParaRPr lang="zh-CN" altLang="en-US" sz="1100" b="0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Nvidia</a:t>
                      </a:r>
                      <a:r>
                        <a:rPr lang="zh-CN" altLang="en-US" sz="1100" b="0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100" b="0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Grid</a:t>
                      </a:r>
                      <a:endParaRPr lang="en-US" altLang="zh-CN" sz="1100" b="0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0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（不开源）</a:t>
                      </a:r>
                      <a:endParaRPr lang="zh-CN" altLang="en-US" sz="1100" b="0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0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腾讯</a:t>
                      </a:r>
                      <a:r>
                        <a:rPr lang="en-US" altLang="zh-CN" sz="1100" b="0" i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vCUDA</a:t>
                      </a:r>
                      <a:endParaRPr lang="zh-CN" altLang="en-US" sz="1100" b="0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0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阿里</a:t>
                      </a:r>
                      <a:r>
                        <a:rPr lang="en-US" altLang="zh-CN" sz="1100" b="0" i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cgpu</a:t>
                      </a:r>
                      <a:endParaRPr lang="en-US" altLang="zh-CN" sz="1100" b="0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0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（不开源）</a:t>
                      </a:r>
                      <a:endParaRPr lang="zh-CN" altLang="en-US" sz="1100" b="0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6" name="文本框 26"/>
          <p:cNvSpPr txBox="1"/>
          <p:nvPr/>
        </p:nvSpPr>
        <p:spPr>
          <a:xfrm>
            <a:off x="434975" y="2595880"/>
            <a:ext cx="54457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技术对比，选型：大体分为可抢占和不可抢占两种</a:t>
            </a: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区别</a:t>
            </a:r>
            <a:endParaRPr kumimoji="1"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46"/>
          <p:cNvSpPr txBox="1"/>
          <p:nvPr/>
        </p:nvSpPr>
        <p:spPr>
          <a:xfrm>
            <a:off x="439420" y="5457825"/>
            <a:ext cx="726122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Nvidia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MPS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和腾讯</a:t>
            </a:r>
            <a:r>
              <a:rPr kumimoji="1"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vCUDA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，虽然开销低，但是多租户互相影响大，平台难以维护；</a:t>
            </a: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+mj-ea"/>
              <a:buAutoNum type="circleNumDbPlain"/>
            </a:pP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Nvidia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Grid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技术作为官方方案，但是不支持容器，而且由于虚拟化带来了极大的开销；</a:t>
            </a: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+mj-ea"/>
              <a:buAutoNum type="circleNumDbPlain"/>
            </a:pP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从性能以及隔离性角度内核虚拟化为代表的友商方案最优，但是封闭未公开；</a:t>
            </a: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581867" y="261206"/>
            <a:ext cx="10515600" cy="829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GPU虚拟化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  <a:endParaRPr lang="zh-CN" altLang="en-US" sz="4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30"/>
          <p:cNvCxnSpPr/>
          <p:nvPr/>
        </p:nvCxnSpPr>
        <p:spPr>
          <a:xfrm>
            <a:off x="578734" y="1075544"/>
            <a:ext cx="11331615" cy="1268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485" y="1364615"/>
            <a:ext cx="11543030" cy="45878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581867" y="259301"/>
            <a:ext cx="10515600" cy="829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GPU虚拟化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  <a:endParaRPr lang="zh-CN" altLang="en-US" sz="4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30"/>
          <p:cNvCxnSpPr/>
          <p:nvPr/>
        </p:nvCxnSpPr>
        <p:spPr>
          <a:xfrm>
            <a:off x="578734" y="1075544"/>
            <a:ext cx="11331615" cy="1268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660" y="1309370"/>
            <a:ext cx="1097534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581867" y="259301"/>
            <a:ext cx="10515600" cy="829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GPU虚拟化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  <a:endParaRPr lang="zh-CN" altLang="en-US" sz="4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30"/>
          <p:cNvCxnSpPr/>
          <p:nvPr/>
        </p:nvCxnSpPr>
        <p:spPr>
          <a:xfrm>
            <a:off x="578734" y="1075544"/>
            <a:ext cx="11331615" cy="1268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660" y="1359535"/>
            <a:ext cx="10015855" cy="513270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581867" y="259301"/>
            <a:ext cx="10515600" cy="829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GPU虚拟化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  <a:endParaRPr lang="zh-CN" altLang="en-US" sz="4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30"/>
          <p:cNvCxnSpPr/>
          <p:nvPr/>
        </p:nvCxnSpPr>
        <p:spPr>
          <a:xfrm>
            <a:off x="578734" y="1075544"/>
            <a:ext cx="11331615" cy="1268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775" y="1327785"/>
            <a:ext cx="10200005" cy="534733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581867" y="259301"/>
            <a:ext cx="10515600" cy="829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GPU虚拟化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  <a:endParaRPr lang="zh-CN" altLang="en-US" sz="4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30"/>
          <p:cNvCxnSpPr/>
          <p:nvPr/>
        </p:nvCxnSpPr>
        <p:spPr>
          <a:xfrm>
            <a:off x="578734" y="1075544"/>
            <a:ext cx="11331615" cy="1268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485" y="1232535"/>
            <a:ext cx="10336530" cy="547751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581867" y="259301"/>
            <a:ext cx="10515600" cy="829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GPU虚拟化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  <a:endParaRPr lang="zh-CN" altLang="en-US" sz="4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30"/>
          <p:cNvCxnSpPr/>
          <p:nvPr/>
        </p:nvCxnSpPr>
        <p:spPr>
          <a:xfrm>
            <a:off x="578734" y="1075544"/>
            <a:ext cx="11331615" cy="1268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660" y="1310005"/>
            <a:ext cx="11249025" cy="515493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581867" y="259301"/>
            <a:ext cx="10515600" cy="829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GPU虚拟化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  <a:endParaRPr lang="zh-CN" altLang="en-US" sz="4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30"/>
          <p:cNvCxnSpPr/>
          <p:nvPr/>
        </p:nvCxnSpPr>
        <p:spPr>
          <a:xfrm>
            <a:off x="578734" y="1075544"/>
            <a:ext cx="11331615" cy="1268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950" y="1288415"/>
            <a:ext cx="11331575" cy="532701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581867" y="259301"/>
            <a:ext cx="10515600" cy="829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潮汐</a:t>
            </a:r>
            <a:r>
              <a:rPr lang="en-US" altLang="zh-CN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  <a:endParaRPr lang="zh-CN" altLang="en-US" sz="4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30"/>
          <p:cNvCxnSpPr/>
          <p:nvPr/>
        </p:nvCxnSpPr>
        <p:spPr>
          <a:xfrm>
            <a:off x="578734" y="1075544"/>
            <a:ext cx="11331615" cy="1268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950" y="1316990"/>
            <a:ext cx="10447655" cy="49974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581867" y="259301"/>
            <a:ext cx="10515600" cy="829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潮汐</a:t>
            </a:r>
            <a:r>
              <a:rPr lang="en-US" altLang="zh-CN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风险与</a:t>
            </a:r>
            <a:r>
              <a:rPr lang="zh-CN" alt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挑战</a:t>
            </a:r>
            <a:endParaRPr lang="zh-CN" altLang="en-US" sz="4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30"/>
          <p:cNvCxnSpPr/>
          <p:nvPr/>
        </p:nvCxnSpPr>
        <p:spPr>
          <a:xfrm>
            <a:off x="578734" y="1075544"/>
            <a:ext cx="11331615" cy="1268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660" y="1481455"/>
            <a:ext cx="10397490" cy="505142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581867" y="259301"/>
            <a:ext cx="10515600" cy="829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潮汐</a:t>
            </a:r>
            <a:r>
              <a:rPr lang="en-US" altLang="zh-CN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潮汐周期</a:t>
            </a:r>
            <a:r>
              <a:rPr lang="zh-CN" alt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切换</a:t>
            </a:r>
            <a:endParaRPr lang="zh-CN" altLang="en-US" sz="4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30"/>
          <p:cNvCxnSpPr/>
          <p:nvPr/>
        </p:nvCxnSpPr>
        <p:spPr>
          <a:xfrm>
            <a:off x="578734" y="1075544"/>
            <a:ext cx="11331615" cy="1268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485" y="1459230"/>
            <a:ext cx="10515600" cy="504761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581867" y="259301"/>
            <a:ext cx="10515600" cy="829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QA</a:t>
            </a:r>
            <a:endParaRPr lang="zh-CN" altLang="en-US" sz="4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30"/>
          <p:cNvCxnSpPr/>
          <p:nvPr/>
        </p:nvCxnSpPr>
        <p:spPr>
          <a:xfrm>
            <a:off x="578734" y="1075544"/>
            <a:ext cx="11331615" cy="1268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81839" y="1310230"/>
            <a:ext cx="10359933" cy="4048037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1. CRD的业务边界与开发管理成本如何均衡</a:t>
            </a:r>
            <a:endParaRPr lang="zh-CN" altLang="en-US"/>
          </a:p>
          <a:p>
            <a:r>
              <a:rPr lang="zh-CN" altLang="en-US"/>
              <a:t>2. 如何提升系统可观测性、告警准确性</a:t>
            </a:r>
            <a:endParaRPr lang="zh-CN" altLang="en-US"/>
          </a:p>
          <a:p>
            <a:r>
              <a:rPr lang="zh-CN" altLang="en-US"/>
              <a:t>3. 如何提高业务Pod的服务质量，避免CPU竞争导致的节流</a:t>
            </a:r>
            <a:endParaRPr lang="zh-CN" altLang="en-US"/>
          </a:p>
          <a:p>
            <a:r>
              <a:rPr lang="zh-CN" altLang="en-US"/>
              <a:t>4. 如何提升Pod的OVN网络就绪速度</a:t>
            </a:r>
            <a:endParaRPr lang="zh-CN" altLang="en-US"/>
          </a:p>
          <a:p>
            <a:r>
              <a:rPr lang="zh-CN" altLang="en-US"/>
              <a:t>5. 如何处理OVN网络的Pod挂载的NFS异常时导致线程卡死的问题</a:t>
            </a:r>
            <a:endParaRPr lang="zh-CN" altLang="en-US"/>
          </a:p>
          <a:p>
            <a:r>
              <a:rPr lang="zh-CN" altLang="en-US"/>
              <a:t>6. 容器如何支持高性能网络(RDMA)，CNI如何适应AI应用需求和高性能网络需求</a:t>
            </a:r>
            <a:endParaRPr lang="zh-CN" altLang="en-US"/>
          </a:p>
          <a:p>
            <a:r>
              <a:rPr lang="zh-CN" altLang="en-US"/>
              <a:t>7. 单集群最大规模节点/Pod数据量，如何达成</a:t>
            </a:r>
            <a:endParaRPr lang="zh-CN" altLang="en-US"/>
          </a:p>
          <a:p>
            <a:r>
              <a:rPr lang="zh-CN" altLang="en-US"/>
              <a:t>8. 多卡协同训练，分布式训练等场景的基础设施建设和产品标准化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1. 异构GPU集群怎么提升GPU使用率</a:t>
            </a:r>
            <a:endParaRPr lang="zh-CN" altLang="en-US"/>
          </a:p>
          <a:p>
            <a:r>
              <a:rPr lang="zh-CN" altLang="en-US"/>
              <a:t>2. 怎么实现GPU/vGPU资源动态调度与弹性伸缩，保证资源高利用率和应用稳定性</a:t>
            </a:r>
            <a:endParaRPr lang="zh-CN" altLang="en-US"/>
          </a:p>
          <a:p>
            <a:r>
              <a:rPr lang="zh-CN" altLang="en-US"/>
              <a:t>3. 怎么实现跨集群跨AZ高效调度，保证资源高利用率和应用稳定性</a:t>
            </a:r>
            <a:endParaRPr lang="zh-CN" altLang="en-US"/>
          </a:p>
          <a:p>
            <a:r>
              <a:rPr lang="zh-CN" altLang="en-US"/>
              <a:t>4. 细粒度资源划分（如MIG）虽提升利用率，但可能牺牲单任务的计算性能，如何平衡</a:t>
            </a:r>
            <a:endParaRPr lang="zh-CN" altLang="en-US"/>
          </a:p>
          <a:p>
            <a:r>
              <a:rPr lang="zh-CN" altLang="en-US"/>
              <a:t>5. 动态调度可能因资源竞争导致性能波动，尤其在共享GPU实例时，任务间干扰可能影响稳定性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30b76855-122f-4919-9640-de7417e56074}"/>
  <p:tag name="TABLE_ENDDRAG_ORIGIN_RECT" val="668*241"/>
  <p:tag name="TABLE_ENDDRAG_RECT" val="45*118*668*241"/>
</p:tagLst>
</file>

<file path=ppt/tags/tag2.xml><?xml version="1.0" encoding="utf-8"?>
<p:tagLst xmlns:p="http://schemas.openxmlformats.org/presentationml/2006/main">
  <p:tag name="KSO_WM_UNIT_TABLE_BEAUTIFY" val="smartTable{a04d334d-3276-4c33-973a-9105cc24495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3294</Words>
  <Application>WPS Office WWO_feishu_20241028185521-3ecd29d096</Application>
  <PresentationFormat>Widescreen</PresentationFormat>
  <Paragraphs>626</Paragraphs>
  <Slides>28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42" baseType="lpstr">
      <vt:lpstr>Arial</vt:lpstr>
      <vt:lpstr>宋体</vt:lpstr>
      <vt:lpstr>Wingdings</vt:lpstr>
      <vt:lpstr>微软雅黑</vt:lpstr>
      <vt:lpstr>汉仪旗黑KW 55S</vt:lpstr>
      <vt:lpstr>汉仪书宋二KW</vt:lpstr>
      <vt:lpstr>微软雅黑</vt:lpstr>
      <vt:lpstr>Calibri Light</vt:lpstr>
      <vt:lpstr>Century Gothic</vt:lpstr>
      <vt:lpstr>等线</vt:lpstr>
      <vt:lpstr>汉仪中等线KW</vt:lpstr>
      <vt:lpstr>Calibri</vt:lpstr>
      <vt:lpstr>Office Theme</vt:lpstr>
      <vt:lpstr>1_Office Theme</vt:lpstr>
      <vt:lpstr>AI平台(GPU)</vt:lpstr>
      <vt:lpstr>PowerPoint 演示文稿</vt:lpstr>
      <vt:lpstr>PowerPoint 演示文稿</vt:lpstr>
      <vt:lpstr>PowerPoint 演示文稿</vt:lpstr>
      <vt:lpstr>架构</vt:lpstr>
      <vt:lpstr>架构——开发服务WebIDE</vt:lpstr>
      <vt:lpstr>架构——训练服务</vt:lpstr>
      <vt:lpstr>架构——训练服务-任务调度器</vt:lpstr>
      <vt:lpstr>架构——训练服务-任务调度器</vt:lpstr>
      <vt:lpstr>架构——训练服务-任务调度器</vt:lpstr>
      <vt:lpstr>架构——推理服务</vt:lpstr>
      <vt:lpstr>架构——GPU调度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GPU调度技术</dc:title>
  <dc:creator>Microsoft Office User</dc:creator>
  <cp:lastModifiedBy>General</cp:lastModifiedBy>
  <dcterms:created xsi:type="dcterms:W3CDTF">2025-05-16T05:41:51Z</dcterms:created>
  <dcterms:modified xsi:type="dcterms:W3CDTF">2025-05-16T05:41:51Z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C06E7B2E63CD73EBE7CF2668AD33CEAA_42</vt:lpwstr>
  </property>
</Properties>
</file>
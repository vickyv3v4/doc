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75" r:id="rId3"/>
    <p:sldId id="257" r:id="rId4"/>
    <p:sldId id="258" r:id="rId5"/>
    <p:sldId id="276" r:id="rId6"/>
    <p:sldId id="259" r:id="rId7"/>
    <p:sldId id="260" r:id="rId8"/>
    <p:sldId id="371" r:id="rId9"/>
    <p:sldId id="377" r:id="rId10"/>
    <p:sldId id="372" r:id="rId11"/>
    <p:sldId id="373" r:id="rId12"/>
    <p:sldId id="374" r:id="rId13"/>
    <p:sldId id="375" r:id="rId14"/>
    <p:sldId id="376" r:id="rId15"/>
    <p:sldId id="378" r:id="rId16"/>
    <p:sldId id="383" r:id="rId17"/>
    <p:sldId id="384" r:id="rId18"/>
    <p:sldId id="385" r:id="rId19"/>
    <p:sldId id="386" r:id="rId20"/>
    <p:sldId id="263" r:id="rId21"/>
    <p:sldId id="264" r:id="rId22"/>
    <p:sldId id="265" r:id="rId23"/>
    <p:sldId id="394" r:id="rId24"/>
    <p:sldId id="395" r:id="rId25"/>
    <p:sldId id="266" r:id="rId26"/>
    <p:sldId id="390" r:id="rId27"/>
    <p:sldId id="388" r:id="rId28"/>
    <p:sldId id="389" r:id="rId29"/>
    <p:sldId id="268" r:id="rId30"/>
    <p:sldId id="270" r:id="rId31"/>
    <p:sldId id="396" r:id="rId32"/>
    <p:sldId id="397" r:id="rId33"/>
    <p:sldId id="398" r:id="rId34"/>
    <p:sldId id="399" r:id="rId35"/>
    <p:sldId id="273" r:id="rId36"/>
    <p:sldId id="400" r:id="rId37"/>
    <p:sldId id="401" r:id="rId38"/>
    <p:sldId id="274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12"/>
  </p:normalViewPr>
  <p:slideViewPr>
    <p:cSldViewPr snapToGrid="0" snapToObjects="1">
      <p:cViewPr varScale="1">
        <p:scale>
          <a:sx n="129" d="100"/>
          <a:sy n="129" d="100"/>
        </p:scale>
        <p:origin x="200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83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89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99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26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60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这里需要提一个比较重要的技术细节</a:t>
                </a:r>
                <a:r>
                  <a:rPr lang="zh-CN" altLang="en-US" dirty="0"/>
                  <a:t>，在一个多业务混部的场景中，低优的离线能调度多少服务上来这件事情是怎么做的，本质上单机侧可以做一些系统资源用量采集，精确到</a:t>
                </a:r>
                <a:r>
                  <a:rPr lang="en-US" altLang="zh-CN" dirty="0"/>
                  <a:t>Pod</a:t>
                </a:r>
                <a:r>
                  <a:rPr lang="zh-CN" altLang="en-US" dirty="0"/>
                  <a:t>粒度的，主要调度维度是</a:t>
                </a:r>
                <a:r>
                  <a:rPr lang="en-US" altLang="zh-CN" dirty="0"/>
                  <a:t>CPU</a:t>
                </a:r>
                <a:r>
                  <a:rPr lang="zh-CN" altLang="en-US" dirty="0"/>
                  <a:t>和内存，那我们可以用这样的公式来计算离线可用资源。</a:t>
                </a:r>
                <a:endParaRPr lang="en-US" altLang="zh-CN" dirty="0"/>
              </a:p>
              <a:p>
                <a:r>
                  <a:rPr lang="zh-CN" altLang="en-US" dirty="0"/>
                  <a:t>看右图，</a:t>
                </a:r>
                <a:r>
                  <a:rPr lang="en-US" altLang="zh-CN" dirty="0" err="1"/>
                  <a:t>balabala</a:t>
                </a:r>
                <a:endParaRPr lang="en-US" altLang="zh-CN" dirty="0"/>
              </a:p>
              <a:p>
                <a:r>
                  <a:rPr lang="en-US" altLang="zh-CN" sz="1200" i="0" dirty="0">
                    <a:solidFill>
                      <a:srgbClr val="1E1E1E"/>
                    </a:solidFill>
                    <a:latin typeface="Cambria Math" panose="02040503050406030204" pitchFamily="18" charset="0"/>
                  </a:rPr>
                  <a:t>"batch.allocatable</a:t>
                </a:r>
                <a:r>
                  <a:rPr lang="zh-CN" altLang="en-US" sz="1200" i="0" dirty="0">
                    <a:solidFill>
                      <a:srgbClr val="1E1E1E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zh-CN" sz="1200" i="0" dirty="0">
                    <a:solidFill>
                      <a:srgbClr val="1E1E1E"/>
                    </a:solidFill>
                    <a:latin typeface="Cambria Math" panose="02040503050406030204" pitchFamily="18" charset="0"/>
                  </a:rPr>
                  <a:t>=</a:t>
                </a:r>
                <a:r>
                  <a:rPr lang="zh-CN" altLang="en-US" sz="1200" i="0" dirty="0">
                    <a:solidFill>
                      <a:srgbClr val="1E1E1E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zh-CN" sz="1200" i="0" dirty="0">
                    <a:solidFill>
                      <a:srgbClr val="1E1E1E"/>
                    </a:solidFill>
                    <a:latin typeface="Cambria Math" panose="02040503050406030204" pitchFamily="18" charset="0"/>
                  </a:rPr>
                  <a:t>total</a:t>
                </a:r>
                <a:r>
                  <a:rPr lang="zh-CN" altLang="en-US" sz="1200" i="0" dirty="0">
                    <a:solidFill>
                      <a:srgbClr val="1E1E1E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zh-CN" sz="1200" i="0" dirty="0">
                    <a:solidFill>
                      <a:srgbClr val="1E1E1E"/>
                    </a:solidFill>
                    <a:latin typeface="Cambria Math" panose="02040503050406030204" pitchFamily="18" charset="0"/>
                  </a:rPr>
                  <a:t>"–</a:t>
                </a:r>
                <a:r>
                  <a:rPr lang="zh-CN" altLang="en-US" sz="1200" i="0" dirty="0">
                    <a:solidFill>
                      <a:srgbClr val="1E1E1E"/>
                    </a:solidFill>
                    <a:latin typeface="Cambria Math" panose="02040503050406030204" pitchFamily="18" charset="0"/>
                  </a:rPr>
                  <a:t>" </a:t>
                </a:r>
                <a:r>
                  <a:rPr lang="en-US" altLang="zh-CN" sz="1200" i="0" dirty="0">
                    <a:solidFill>
                      <a:srgbClr val="1E1E1E"/>
                    </a:solidFill>
                    <a:latin typeface="Cambria Math" panose="02040503050406030204" pitchFamily="18" charset="0"/>
                  </a:rPr>
                  <a:t>reserved</a:t>
                </a:r>
                <a:r>
                  <a:rPr lang="zh-CN" altLang="en-US" sz="1200" i="0" dirty="0">
                    <a:solidFill>
                      <a:srgbClr val="1E1E1E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zh-CN" sz="1200" i="0" dirty="0">
                    <a:solidFill>
                      <a:srgbClr val="1E1E1E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zh-CN" altLang="en-US" sz="1200" i="0" dirty="0">
                    <a:solidFill>
                      <a:srgbClr val="1E1E1E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zh-CN" sz="1200" i="0" dirty="0">
                    <a:solidFill>
                      <a:srgbClr val="1E1E1E"/>
                    </a:solidFill>
                    <a:latin typeface="Cambria Math" panose="02040503050406030204" pitchFamily="18" charset="0"/>
                  </a:rPr>
                  <a:t>prod.used</a:t>
                </a:r>
                <a:r>
                  <a:rPr lang="zh-CN" altLang="en-US" sz="1200" i="0" dirty="0">
                    <a:solidFill>
                      <a:srgbClr val="1E1E1E"/>
                    </a:solidFill>
                  </a:rPr>
                  <a:t>"</a:t>
                </a:r>
                <a:endParaRPr lang="en-US" altLang="zh-CN" sz="1200" dirty="0">
                  <a:solidFill>
                    <a:srgbClr val="1E1E1E"/>
                  </a:solidFill>
                </a:endParaRPr>
              </a:p>
              <a:p>
                <a:r>
                  <a:rPr lang="en-US" dirty="0" err="1"/>
                  <a:t>公式中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reserved</a:t>
                </a:r>
                <a:r>
                  <a:rPr lang="zh-CN" altLang="en-US" dirty="0"/>
                  <a:t>为为了安全预留出来的资源，或者可以理解为</a:t>
                </a:r>
                <a:r>
                  <a:rPr lang="en-US" altLang="zh-CN" dirty="0"/>
                  <a:t>buffer</a:t>
                </a:r>
                <a:r>
                  <a:rPr lang="zh-CN" altLang="en-US" dirty="0"/>
                  <a:t>，比如</a:t>
                </a:r>
                <a:r>
                  <a:rPr lang="en-US" altLang="zh-CN" dirty="0"/>
                  <a:t>100</a:t>
                </a:r>
                <a:r>
                  <a:rPr lang="zh-CN" altLang="en-US" dirty="0"/>
                  <a:t>核的在线集群机器，如果预留</a:t>
                </a:r>
                <a:r>
                  <a:rPr lang="en-US" altLang="zh-CN" dirty="0"/>
                  <a:t>35%</a:t>
                </a:r>
                <a:r>
                  <a:rPr lang="zh-CN" altLang="en-US" dirty="0"/>
                  <a:t>的安全阈值，则 </a:t>
                </a:r>
                <a:r>
                  <a:rPr lang="en-US" altLang="zh-CN" dirty="0"/>
                  <a:t>total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–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reserved</a:t>
                </a:r>
                <a:r>
                  <a:rPr lang="zh-CN" altLang="en-US" dirty="0"/>
                  <a:t>为</a:t>
                </a:r>
                <a:r>
                  <a:rPr lang="en-US" altLang="zh-CN" dirty="0"/>
                  <a:t>65</a:t>
                </a:r>
                <a:r>
                  <a:rPr lang="zh-CN" altLang="en-US" dirty="0"/>
                  <a:t>核，</a:t>
                </a:r>
                <a:r>
                  <a:rPr lang="en-US" altLang="zh-CN" dirty="0" err="1"/>
                  <a:t>prod.used</a:t>
                </a:r>
                <a:r>
                  <a:rPr lang="zh-CN" altLang="en-US" dirty="0"/>
                  <a:t>为所有在线的</a:t>
                </a:r>
                <a:r>
                  <a:rPr lang="en-US" altLang="zh-CN" dirty="0"/>
                  <a:t>Pod</a:t>
                </a:r>
                <a:r>
                  <a:rPr lang="zh-CN" altLang="en-US" dirty="0"/>
                  <a:t>资源用量之和，这个数据来源于</a:t>
                </a:r>
                <a:r>
                  <a:rPr lang="en-US" altLang="zh-CN" dirty="0" err="1"/>
                  <a:t>cadvisor</a:t>
                </a:r>
                <a:r>
                  <a:rPr lang="zh-CN" altLang="en-US" dirty="0"/>
                  <a:t>或者通过</a:t>
                </a:r>
                <a:r>
                  <a:rPr lang="en-US" altLang="zh-CN" dirty="0" err="1"/>
                  <a:t>cgroup</a:t>
                </a:r>
                <a:r>
                  <a:rPr lang="zh-CN" altLang="en-US" dirty="0"/>
                  <a:t>自己采集的资源用量，尽可能实时一些。随着</a:t>
                </a:r>
                <a:r>
                  <a:rPr lang="en-US" altLang="zh-CN" dirty="0" err="1"/>
                  <a:t>prod.used</a:t>
                </a:r>
                <a:r>
                  <a:rPr lang="zh-CN" altLang="en-US" dirty="0"/>
                  <a:t>增加，离线可用资源会下降，</a:t>
                </a:r>
                <a:r>
                  <a:rPr lang="en-US" altLang="zh-CN" dirty="0" err="1"/>
                  <a:t>prod.used</a:t>
                </a:r>
                <a:r>
                  <a:rPr lang="zh-CN" altLang="en-US" dirty="0"/>
                  <a:t>下降，离线可用资源上升。计算出来的值会作为</a:t>
                </a:r>
                <a:r>
                  <a:rPr lang="en-US" altLang="zh-CN" dirty="0"/>
                  <a:t>batch-</a:t>
                </a:r>
                <a:r>
                  <a:rPr lang="en-US" altLang="zh-CN" dirty="0" err="1"/>
                  <a:t>cpu</a:t>
                </a:r>
                <a:r>
                  <a:rPr lang="zh-CN" altLang="en-US" dirty="0"/>
                  <a:t>上报给调度器，调度离线</a:t>
                </a:r>
                <a:r>
                  <a:rPr lang="en-US" altLang="zh-CN" dirty="0"/>
                  <a:t>Pod</a:t>
                </a:r>
                <a:r>
                  <a:rPr lang="zh-CN" altLang="en-US" dirty="0"/>
                  <a:t>。这里有一个优化点，就是在线服务的</a:t>
                </a:r>
                <a:r>
                  <a:rPr lang="en-US" altLang="zh-CN" dirty="0"/>
                  <a:t>CPU</a:t>
                </a:r>
                <a:r>
                  <a:rPr lang="zh-CN" altLang="en-US" dirty="0"/>
                  <a:t>用量实际上会波动，甚至放在秒级是剧烈抖动的，那我们在上报资源的时候要避免上报数据太过剧烈的抖动。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63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85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42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93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115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618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68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050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91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749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538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896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62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235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835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367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712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86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225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572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769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2.jpeg"/><Relationship Id="rId7" Type="http://schemas.openxmlformats.org/officeDocument/2006/relationships/image" Target="../media/image39.svg"/><Relationship Id="rId12" Type="http://schemas.openxmlformats.org/officeDocument/2006/relationships/image" Target="../media/image44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sv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Relationship Id="rId14" Type="http://schemas.openxmlformats.org/officeDocument/2006/relationships/image" Target="../media/image4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42.png"/><Relationship Id="rId3" Type="http://schemas.openxmlformats.org/officeDocument/2006/relationships/image" Target="../media/image2.jpeg"/><Relationship Id="rId7" Type="http://schemas.openxmlformats.org/officeDocument/2006/relationships/image" Target="../media/image39.sv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1.svg"/><Relationship Id="rId5" Type="http://schemas.openxmlformats.org/officeDocument/2006/relationships/image" Target="../media/image37.svg"/><Relationship Id="rId15" Type="http://schemas.openxmlformats.org/officeDocument/2006/relationships/image" Target="../media/image59.svg"/><Relationship Id="rId10" Type="http://schemas.openxmlformats.org/officeDocument/2006/relationships/image" Target="../media/image40.png"/><Relationship Id="rId4" Type="http://schemas.openxmlformats.org/officeDocument/2006/relationships/image" Target="../media/image36.png"/><Relationship Id="rId9" Type="http://schemas.openxmlformats.org/officeDocument/2006/relationships/image" Target="../media/image56.svg"/><Relationship Id="rId1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tif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elp.aliyun.com/zh/ack/ack-managed-and-ack-dedicated/user-guide/cpu-burst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混部技术演进与实践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71500" y="3564731"/>
            <a:ext cx="1327638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分享人</a:t>
            </a:r>
            <a:r>
              <a:rPr lang="zh-CN" alt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Tully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自我介绍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8498308-B7B1-AB5F-587D-C7F89E2CF520}"/>
              </a:ext>
            </a:extLst>
          </p:cNvPr>
          <p:cNvSpPr txBox="1"/>
          <p:nvPr/>
        </p:nvSpPr>
        <p:spPr>
          <a:xfrm>
            <a:off x="164124" y="1361343"/>
            <a:ext cx="8168775" cy="3378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2C2C36"/>
                </a:solidFill>
                <a:effectLst/>
                <a:latin typeface="-apple-system"/>
              </a:rPr>
              <a:t>现任职位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：某头部互联网公司调度技术负责人 </a:t>
            </a:r>
            <a:r>
              <a:rPr lang="en-US" altLang="zh-CN" sz="1600" b="0" i="0" dirty="0">
                <a:solidFill>
                  <a:srgbClr val="2C2C36"/>
                </a:solidFill>
                <a:effectLst/>
                <a:latin typeface="-apple-system"/>
              </a:rPr>
              <a:t>&amp; 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技术专家 </a:t>
            </a:r>
            <a:r>
              <a:rPr lang="en-US" altLang="zh-CN" sz="1600" b="0" i="0" dirty="0">
                <a:solidFill>
                  <a:srgbClr val="2C2C36"/>
                </a:solidFill>
                <a:effectLst/>
                <a:latin typeface="-apple-system"/>
              </a:rPr>
              <a:t>&amp;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 </a:t>
            </a:r>
            <a:r>
              <a:rPr lang="en" altLang="zh-CN" sz="1600" b="0" i="0" dirty="0" err="1">
                <a:solidFill>
                  <a:srgbClr val="2C2C36"/>
                </a:solidFill>
                <a:effectLst/>
                <a:latin typeface="-apple-system"/>
              </a:rPr>
              <a:t>koordinator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社区</a:t>
            </a:r>
            <a:r>
              <a:rPr lang="en-US" altLang="zh-CN" sz="1600" dirty="0">
                <a:solidFill>
                  <a:srgbClr val="2C2C36"/>
                </a:solidFill>
                <a:latin typeface="-apple-system"/>
              </a:rPr>
              <a:t>M</a:t>
            </a:r>
            <a:r>
              <a:rPr lang="en" altLang="zh-CN" sz="1600" b="0" i="0" dirty="0" err="1">
                <a:solidFill>
                  <a:srgbClr val="2C2C36"/>
                </a:solidFill>
                <a:effectLst/>
                <a:latin typeface="-apple-system"/>
              </a:rPr>
              <a:t>aintainer</a:t>
            </a:r>
            <a:endParaRPr lang="en-US" altLang="zh-CN" sz="1600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2C2C36"/>
                </a:solidFill>
                <a:effectLst/>
                <a:latin typeface="-apple-system"/>
              </a:rPr>
              <a:t>工作经历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：</a:t>
            </a:r>
            <a:endParaRPr lang="en-US" altLang="zh-CN" sz="1600" dirty="0">
              <a:solidFill>
                <a:srgbClr val="2C2C36"/>
              </a:solidFill>
              <a:latin typeface="-apple-system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百度、快手</a:t>
            </a:r>
            <a:r>
              <a:rPr lang="zh-CN" altLang="en-US" sz="1600" dirty="0">
                <a:solidFill>
                  <a:srgbClr val="2C2C36"/>
                </a:solidFill>
                <a:latin typeface="-apple-system"/>
              </a:rPr>
              <a:t>等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一线大厂容器领域</a:t>
            </a:r>
            <a:r>
              <a:rPr lang="en-US" altLang="zh-CN" sz="1600" b="0" i="0" dirty="0">
                <a:solidFill>
                  <a:srgbClr val="2C2C36"/>
                </a:solidFill>
                <a:effectLst/>
                <a:latin typeface="-apple-system"/>
              </a:rPr>
              <a:t>10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年工作经验</a:t>
            </a:r>
            <a:endParaRPr lang="en-US" altLang="zh-CN" sz="1600" dirty="0">
              <a:solidFill>
                <a:srgbClr val="2C2C36"/>
              </a:solidFill>
              <a:latin typeface="-apple-system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参与千万核容器调度系统建设，实现多次从</a:t>
            </a:r>
            <a:r>
              <a:rPr lang="en-US" altLang="zh-CN" sz="1600" b="0" i="0" dirty="0">
                <a:solidFill>
                  <a:srgbClr val="2C2C36"/>
                </a:solidFill>
                <a:effectLst/>
                <a:latin typeface="-apple-system"/>
              </a:rPr>
              <a:t>0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到</a:t>
            </a:r>
            <a:r>
              <a:rPr lang="en-US" altLang="zh-CN" sz="1600" b="0" i="0" dirty="0">
                <a:solidFill>
                  <a:srgbClr val="2C2C36"/>
                </a:solidFill>
                <a:effectLst/>
                <a:latin typeface="-apple-system"/>
              </a:rPr>
              <a:t>1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的大规模混部技术落地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2C2C36"/>
                </a:solidFill>
                <a:effectLst/>
                <a:latin typeface="-apple-system"/>
              </a:rPr>
              <a:t>技术兴趣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：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容器集群调度</a:t>
            </a:r>
            <a:r>
              <a:rPr lang="en-US" altLang="zh-CN" sz="1600" dirty="0">
                <a:solidFill>
                  <a:srgbClr val="2C2C36"/>
                </a:solidFill>
                <a:latin typeface="-apple-system"/>
              </a:rPr>
              <a:t>&amp;&amp;</a:t>
            </a:r>
            <a:r>
              <a:rPr lang="zh-CN" altLang="en-US" sz="1600" dirty="0">
                <a:solidFill>
                  <a:srgbClr val="2C2C36"/>
                </a:solidFill>
                <a:latin typeface="-apple-system"/>
              </a:rPr>
              <a:t>算力优化</a:t>
            </a:r>
            <a:endParaRPr lang="zh-CN" altLang="en-US" sz="1600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600" b="0" i="0" dirty="0">
                <a:solidFill>
                  <a:srgbClr val="2C2C36"/>
                </a:solidFill>
                <a:effectLst/>
                <a:latin typeface="-apple-system"/>
              </a:rPr>
              <a:t>k8s infra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 </a:t>
            </a:r>
            <a:r>
              <a:rPr lang="en-US" altLang="zh-CN" sz="1600" dirty="0">
                <a:solidFill>
                  <a:srgbClr val="2C2C36"/>
                </a:solidFill>
                <a:latin typeface="-apple-system"/>
              </a:rPr>
              <a:t>/</a:t>
            </a:r>
            <a:r>
              <a:rPr lang="zh-CN" altLang="en-US" sz="1600" dirty="0">
                <a:solidFill>
                  <a:srgbClr val="2C2C36"/>
                </a:solidFill>
                <a:latin typeface="-apple-system"/>
              </a:rPr>
              <a:t> 容器引擎</a:t>
            </a:r>
            <a:endParaRPr lang="en" altLang="zh-CN" sz="1600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600" b="0" i="0" dirty="0">
                <a:solidFill>
                  <a:srgbClr val="2C2C36"/>
                </a:solidFill>
                <a:effectLst/>
                <a:latin typeface="-apple-system"/>
              </a:rPr>
              <a:t>Linux kernel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2C2C36"/>
                </a:solidFill>
                <a:effectLst/>
                <a:latin typeface="-apple-system"/>
              </a:rPr>
              <a:t>任务调度系统</a:t>
            </a:r>
            <a:endParaRPr lang="en-US" altLang="zh-CN" sz="1600" b="0" i="0" dirty="0">
              <a:solidFill>
                <a:srgbClr val="2C2C36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408097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98821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0596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混部技术演进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13073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61686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16883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利用率提升手段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19359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24551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3169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稳定性案例分析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5646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287416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9456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Koordinator社区介绍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90975" y="31932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50281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35742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8219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混部技术演进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6646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四个阶段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B552D46C-62A4-4109-82A1-94AE99F17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297" y="2737948"/>
            <a:ext cx="6414591" cy="365522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defTabSz="685800">
              <a:defRPr/>
            </a:pPr>
            <a:endParaRPr lang="en-IN" sz="1350">
              <a:solidFill>
                <a:prstClr val="black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2FAE6261-9A1D-8B37-F8B5-A348610DE32E}"/>
              </a:ext>
            </a:extLst>
          </p:cNvPr>
          <p:cNvSpPr/>
          <p:nvPr/>
        </p:nvSpPr>
        <p:spPr bwMode="auto">
          <a:xfrm>
            <a:off x="2062703" y="2731995"/>
            <a:ext cx="1314450" cy="369094"/>
          </a:xfrm>
          <a:custGeom>
            <a:avLst/>
            <a:gdLst>
              <a:gd name="T0" fmla="*/ 75 w 467"/>
              <a:gd name="T1" fmla="*/ 125 h 131"/>
              <a:gd name="T2" fmla="*/ 5 w 467"/>
              <a:gd name="T3" fmla="*/ 18 h 131"/>
              <a:gd name="T4" fmla="*/ 14 w 467"/>
              <a:gd name="T5" fmla="*/ 0 h 131"/>
              <a:gd name="T6" fmla="*/ 382 w 467"/>
              <a:gd name="T7" fmla="*/ 0 h 131"/>
              <a:gd name="T8" fmla="*/ 392 w 467"/>
              <a:gd name="T9" fmla="*/ 6 h 131"/>
              <a:gd name="T10" fmla="*/ 462 w 467"/>
              <a:gd name="T11" fmla="*/ 113 h 131"/>
              <a:gd name="T12" fmla="*/ 453 w 467"/>
              <a:gd name="T13" fmla="*/ 131 h 131"/>
              <a:gd name="T14" fmla="*/ 85 w 467"/>
              <a:gd name="T15" fmla="*/ 131 h 131"/>
              <a:gd name="T16" fmla="*/ 75 w 467"/>
              <a:gd name="T17" fmla="*/ 125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wrap="square" lIns="68580" tIns="34290" rIns="68580" bIns="34290" numCol="1" anchor="t" anchorCtr="0" compatLnSpc="1"/>
          <a:lstStyle/>
          <a:p>
            <a:pPr defTabSz="685800">
              <a:defRPr/>
            </a:pPr>
            <a:endParaRPr lang="en-IN" sz="1350" dirty="0">
              <a:solidFill>
                <a:prstClr val="black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DAE70C7B-FDEA-5776-F983-AAA2E85BC763}"/>
              </a:ext>
            </a:extLst>
          </p:cNvPr>
          <p:cNvSpPr/>
          <p:nvPr/>
        </p:nvSpPr>
        <p:spPr bwMode="auto">
          <a:xfrm>
            <a:off x="3300953" y="2731995"/>
            <a:ext cx="1314450" cy="369094"/>
          </a:xfrm>
          <a:custGeom>
            <a:avLst/>
            <a:gdLst>
              <a:gd name="T0" fmla="*/ 75 w 467"/>
              <a:gd name="T1" fmla="*/ 125 h 131"/>
              <a:gd name="T2" fmla="*/ 5 w 467"/>
              <a:gd name="T3" fmla="*/ 18 h 131"/>
              <a:gd name="T4" fmla="*/ 14 w 467"/>
              <a:gd name="T5" fmla="*/ 0 h 131"/>
              <a:gd name="T6" fmla="*/ 382 w 467"/>
              <a:gd name="T7" fmla="*/ 0 h 131"/>
              <a:gd name="T8" fmla="*/ 392 w 467"/>
              <a:gd name="T9" fmla="*/ 6 h 131"/>
              <a:gd name="T10" fmla="*/ 462 w 467"/>
              <a:gd name="T11" fmla="*/ 113 h 131"/>
              <a:gd name="T12" fmla="*/ 453 w 467"/>
              <a:gd name="T13" fmla="*/ 131 h 131"/>
              <a:gd name="T14" fmla="*/ 85 w 467"/>
              <a:gd name="T15" fmla="*/ 131 h 131"/>
              <a:gd name="T16" fmla="*/ 75 w 467"/>
              <a:gd name="T17" fmla="*/ 125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0072E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defTabSz="685800">
              <a:defRPr/>
            </a:pPr>
            <a:endParaRPr lang="en-IN" sz="1350">
              <a:solidFill>
                <a:prstClr val="black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19" name="Freeform 8">
            <a:extLst>
              <a:ext uri="{FF2B5EF4-FFF2-40B4-BE49-F238E27FC236}">
                <a16:creationId xmlns:a16="http://schemas.microsoft.com/office/drawing/2014/main" id="{61438C7E-723E-2139-C484-6FD5E504946B}"/>
              </a:ext>
            </a:extLst>
          </p:cNvPr>
          <p:cNvSpPr/>
          <p:nvPr/>
        </p:nvSpPr>
        <p:spPr bwMode="auto">
          <a:xfrm>
            <a:off x="4540394" y="2731995"/>
            <a:ext cx="1314450" cy="369094"/>
          </a:xfrm>
          <a:custGeom>
            <a:avLst/>
            <a:gdLst>
              <a:gd name="T0" fmla="*/ 75 w 467"/>
              <a:gd name="T1" fmla="*/ 125 h 131"/>
              <a:gd name="T2" fmla="*/ 5 w 467"/>
              <a:gd name="T3" fmla="*/ 18 h 131"/>
              <a:gd name="T4" fmla="*/ 14 w 467"/>
              <a:gd name="T5" fmla="*/ 0 h 131"/>
              <a:gd name="T6" fmla="*/ 382 w 467"/>
              <a:gd name="T7" fmla="*/ 0 h 131"/>
              <a:gd name="T8" fmla="*/ 392 w 467"/>
              <a:gd name="T9" fmla="*/ 6 h 131"/>
              <a:gd name="T10" fmla="*/ 462 w 467"/>
              <a:gd name="T11" fmla="*/ 113 h 131"/>
              <a:gd name="T12" fmla="*/ 453 w 467"/>
              <a:gd name="T13" fmla="*/ 131 h 131"/>
              <a:gd name="T14" fmla="*/ 85 w 467"/>
              <a:gd name="T15" fmla="*/ 131 h 131"/>
              <a:gd name="T16" fmla="*/ 75 w 467"/>
              <a:gd name="T17" fmla="*/ 125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DD7900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defTabSz="685800">
              <a:defRPr/>
            </a:pPr>
            <a:endParaRPr lang="en-IN" sz="1350">
              <a:solidFill>
                <a:prstClr val="black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grpSp>
        <p:nvGrpSpPr>
          <p:cNvPr id="20" name="Group 63">
            <a:extLst>
              <a:ext uri="{FF2B5EF4-FFF2-40B4-BE49-F238E27FC236}">
                <a16:creationId xmlns:a16="http://schemas.microsoft.com/office/drawing/2014/main" id="{9D91CAAF-C669-73FC-788F-2005846B712B}"/>
              </a:ext>
            </a:extLst>
          </p:cNvPr>
          <p:cNvGrpSpPr/>
          <p:nvPr/>
        </p:nvGrpSpPr>
        <p:grpSpPr>
          <a:xfrm>
            <a:off x="2684210" y="1647335"/>
            <a:ext cx="70247" cy="1084659"/>
            <a:chOff x="2203450" y="2146300"/>
            <a:chExt cx="93663" cy="1446212"/>
          </a:xfrm>
        </p:grpSpPr>
        <p:sp>
          <p:nvSpPr>
            <p:cNvPr id="21" name="Rectangle 14">
              <a:extLst>
                <a:ext uri="{FF2B5EF4-FFF2-40B4-BE49-F238E27FC236}">
                  <a16:creationId xmlns:a16="http://schemas.microsoft.com/office/drawing/2014/main" id="{6B724114-DA85-4630-5EA4-882C635FC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1550" y="2192337"/>
              <a:ext cx="14288" cy="30163"/>
            </a:xfrm>
            <a:prstGeom prst="rect">
              <a:avLst/>
            </a:prstGeom>
            <a:solidFill>
              <a:srgbClr val="6464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defTabSz="685800">
                <a:defRPr/>
              </a:pPr>
              <a:endParaRPr lang="en-IN" sz="135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084C902F-3213-B254-0265-955964A7A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3450" y="2146300"/>
              <a:ext cx="93663" cy="90488"/>
            </a:xfrm>
            <a:prstGeom prst="ellipse">
              <a:avLst/>
            </a:prstGeom>
            <a:solidFill>
              <a:srgbClr val="6464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defTabSz="685800">
                <a:defRPr/>
              </a:pPr>
              <a:endParaRPr lang="en-IN" sz="135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Straight Connector 57">
              <a:extLst>
                <a:ext uri="{FF2B5EF4-FFF2-40B4-BE49-F238E27FC236}">
                  <a16:creationId xmlns:a16="http://schemas.microsoft.com/office/drawing/2014/main" id="{399DEA45-D074-50BA-5238-E129C12F0214}"/>
                </a:ext>
              </a:extLst>
            </p:cNvPr>
            <p:cNvCxnSpPr>
              <a:stCxn id="22" idx="4"/>
            </p:cNvCxnSpPr>
            <p:nvPr/>
          </p:nvCxnSpPr>
          <p:spPr>
            <a:xfrm flipH="1">
              <a:off x="2241550" y="2236788"/>
              <a:ext cx="8732" cy="1355724"/>
            </a:xfrm>
            <a:prstGeom prst="line">
              <a:avLst/>
            </a:prstGeom>
            <a:noFill/>
            <a:ln w="6350" cap="flat" cmpd="sng" algn="ctr">
              <a:solidFill>
                <a:srgbClr val="646463"/>
              </a:solidFill>
              <a:prstDash val="lgDash"/>
              <a:miter lim="800000"/>
            </a:ln>
            <a:effectLst/>
          </p:spPr>
        </p:cxnSp>
      </p:grpSp>
      <p:grpSp>
        <p:nvGrpSpPr>
          <p:cNvPr id="24" name="Group 64">
            <a:extLst>
              <a:ext uri="{FF2B5EF4-FFF2-40B4-BE49-F238E27FC236}">
                <a16:creationId xmlns:a16="http://schemas.microsoft.com/office/drawing/2014/main" id="{BD3A3BE5-D4B5-721D-F137-D88DC574A5E6}"/>
              </a:ext>
            </a:extLst>
          </p:cNvPr>
          <p:cNvGrpSpPr/>
          <p:nvPr/>
        </p:nvGrpSpPr>
        <p:grpSpPr>
          <a:xfrm>
            <a:off x="5161901" y="1647335"/>
            <a:ext cx="70247" cy="1084659"/>
            <a:chOff x="5507038" y="2146300"/>
            <a:chExt cx="93663" cy="1446212"/>
          </a:xfrm>
        </p:grpSpPr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2665F907-0387-6726-C376-92B95A564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5138" y="2192337"/>
              <a:ext cx="14288" cy="30163"/>
            </a:xfrm>
            <a:prstGeom prst="rect">
              <a:avLst/>
            </a:prstGeom>
            <a:solidFill>
              <a:srgbClr val="6464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defTabSz="685800">
                <a:defRPr/>
              </a:pPr>
              <a:endParaRPr lang="en-IN" sz="135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6" name="Oval 19">
              <a:extLst>
                <a:ext uri="{FF2B5EF4-FFF2-40B4-BE49-F238E27FC236}">
                  <a16:creationId xmlns:a16="http://schemas.microsoft.com/office/drawing/2014/main" id="{18163481-0CCF-E9D3-9E95-DD35C96A7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7038" y="2146300"/>
              <a:ext cx="93663" cy="90488"/>
            </a:xfrm>
            <a:prstGeom prst="ellipse">
              <a:avLst/>
            </a:prstGeom>
            <a:solidFill>
              <a:srgbClr val="6464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defTabSz="685800">
                <a:defRPr/>
              </a:pPr>
              <a:endParaRPr lang="en-IN" sz="135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cxnSp>
          <p:nvCxnSpPr>
            <p:cNvPr id="27" name="Straight Connector 58">
              <a:extLst>
                <a:ext uri="{FF2B5EF4-FFF2-40B4-BE49-F238E27FC236}">
                  <a16:creationId xmlns:a16="http://schemas.microsoft.com/office/drawing/2014/main" id="{63AA7B7D-C5F4-6900-5670-7FBC36D40422}"/>
                </a:ext>
              </a:extLst>
            </p:cNvPr>
            <p:cNvCxnSpPr/>
            <p:nvPr/>
          </p:nvCxnSpPr>
          <p:spPr>
            <a:xfrm flipH="1">
              <a:off x="5543947" y="2236788"/>
              <a:ext cx="8732" cy="1355724"/>
            </a:xfrm>
            <a:prstGeom prst="line">
              <a:avLst/>
            </a:prstGeom>
            <a:noFill/>
            <a:ln w="6350" cap="flat" cmpd="sng" algn="ctr">
              <a:solidFill>
                <a:srgbClr val="646463"/>
              </a:solidFill>
              <a:prstDash val="lgDash"/>
              <a:miter lim="800000"/>
            </a:ln>
            <a:effectLst/>
          </p:spPr>
        </p:cxnSp>
      </p:grpSp>
      <p:grpSp>
        <p:nvGrpSpPr>
          <p:cNvPr id="28" name="Group 69">
            <a:extLst>
              <a:ext uri="{FF2B5EF4-FFF2-40B4-BE49-F238E27FC236}">
                <a16:creationId xmlns:a16="http://schemas.microsoft.com/office/drawing/2014/main" id="{84CB7D7B-D6D5-3F39-955A-F3B4987E9D15}"/>
              </a:ext>
            </a:extLst>
          </p:cNvPr>
          <p:cNvGrpSpPr/>
          <p:nvPr/>
        </p:nvGrpSpPr>
        <p:grpSpPr>
          <a:xfrm>
            <a:off x="3965323" y="3101088"/>
            <a:ext cx="70247" cy="1081088"/>
            <a:chOff x="3911600" y="4084637"/>
            <a:chExt cx="93663" cy="1441450"/>
          </a:xfrm>
        </p:grpSpPr>
        <p:sp>
          <p:nvSpPr>
            <p:cNvPr id="29" name="Rectangle 26">
              <a:extLst>
                <a:ext uri="{FF2B5EF4-FFF2-40B4-BE49-F238E27FC236}">
                  <a16:creationId xmlns:a16="http://schemas.microsoft.com/office/drawing/2014/main" id="{9F4FACE4-10A1-7D6D-95E0-269C19D59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9700" y="5449887"/>
              <a:ext cx="14288" cy="30163"/>
            </a:xfrm>
            <a:prstGeom prst="rect">
              <a:avLst/>
            </a:prstGeom>
            <a:solidFill>
              <a:srgbClr val="6464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defTabSz="685800">
                <a:defRPr/>
              </a:pPr>
              <a:endParaRPr lang="en-IN" sz="135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0" name="Oval 27">
              <a:extLst>
                <a:ext uri="{FF2B5EF4-FFF2-40B4-BE49-F238E27FC236}">
                  <a16:creationId xmlns:a16="http://schemas.microsoft.com/office/drawing/2014/main" id="{A203A799-28BD-D1A8-681E-C219BC69C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1600" y="5430837"/>
              <a:ext cx="93663" cy="95250"/>
            </a:xfrm>
            <a:prstGeom prst="ellipse">
              <a:avLst/>
            </a:prstGeom>
            <a:solidFill>
              <a:srgbClr val="6464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defTabSz="685800">
                <a:defRPr/>
              </a:pPr>
              <a:endParaRPr lang="en-IN" sz="135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cxnSp>
          <p:nvCxnSpPr>
            <p:cNvPr id="31" name="Straight Connector 60">
              <a:extLst>
                <a:ext uri="{FF2B5EF4-FFF2-40B4-BE49-F238E27FC236}">
                  <a16:creationId xmlns:a16="http://schemas.microsoft.com/office/drawing/2014/main" id="{2214AD61-4F1B-6EEC-1CE6-E8C895107B45}"/>
                </a:ext>
              </a:extLst>
            </p:cNvPr>
            <p:cNvCxnSpPr/>
            <p:nvPr/>
          </p:nvCxnSpPr>
          <p:spPr>
            <a:xfrm flipH="1">
              <a:off x="3955257" y="4084637"/>
              <a:ext cx="8732" cy="1355724"/>
            </a:xfrm>
            <a:prstGeom prst="line">
              <a:avLst/>
            </a:prstGeom>
            <a:noFill/>
            <a:ln w="6350" cap="flat" cmpd="sng" algn="ctr">
              <a:solidFill>
                <a:srgbClr val="646463"/>
              </a:solidFill>
              <a:prstDash val="lgDash"/>
              <a:miter lim="800000"/>
            </a:ln>
            <a:effectLst/>
          </p:spPr>
        </p:cxnSp>
      </p:grpSp>
      <p:sp>
        <p:nvSpPr>
          <p:cNvPr id="32" name="Rectangle 77">
            <a:extLst>
              <a:ext uri="{FF2B5EF4-FFF2-40B4-BE49-F238E27FC236}">
                <a16:creationId xmlns:a16="http://schemas.microsoft.com/office/drawing/2014/main" id="{DE34ADC7-27F4-9D4D-AA63-BA64E0ADB201}"/>
              </a:ext>
            </a:extLst>
          </p:cNvPr>
          <p:cNvSpPr/>
          <p:nvPr/>
        </p:nvSpPr>
        <p:spPr>
          <a:xfrm>
            <a:off x="1724456" y="1346567"/>
            <a:ext cx="1959149" cy="247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75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二次调度，跨集群调度</a:t>
            </a:r>
            <a:endParaRPr lang="en-IN" sz="750" dirty="0">
              <a:solidFill>
                <a:prstClr val="white">
                  <a:lumMod val="50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3" name="Rectangle 91">
            <a:extLst>
              <a:ext uri="{FF2B5EF4-FFF2-40B4-BE49-F238E27FC236}">
                <a16:creationId xmlns:a16="http://schemas.microsoft.com/office/drawing/2014/main" id="{FA92AD37-E11E-7EDE-3C7D-FF353F5ECFE5}"/>
              </a:ext>
            </a:extLst>
          </p:cNvPr>
          <p:cNvSpPr/>
          <p:nvPr/>
        </p:nvSpPr>
        <p:spPr>
          <a:xfrm>
            <a:off x="4057441" y="1345558"/>
            <a:ext cx="2282957" cy="247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75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在离线隔离能力，精细化</a:t>
            </a:r>
            <a:r>
              <a:rPr lang="en-US" altLang="zh-CN" sz="75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CPU</a:t>
            </a:r>
            <a:r>
              <a:rPr lang="zh-CN" altLang="en-US" sz="75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核调度，合池</a:t>
            </a:r>
            <a:endParaRPr lang="en-IN" altLang="zh-CN" sz="750" dirty="0">
              <a:solidFill>
                <a:prstClr val="white">
                  <a:lumMod val="50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4" name="Rectangle 101">
            <a:extLst>
              <a:ext uri="{FF2B5EF4-FFF2-40B4-BE49-F238E27FC236}">
                <a16:creationId xmlns:a16="http://schemas.microsoft.com/office/drawing/2014/main" id="{7D2D5DBB-2451-71E3-D0C2-F9A19F521AED}"/>
              </a:ext>
            </a:extLst>
          </p:cNvPr>
          <p:cNvSpPr/>
          <p:nvPr/>
        </p:nvSpPr>
        <p:spPr>
          <a:xfrm>
            <a:off x="3140728" y="4196463"/>
            <a:ext cx="1804901" cy="247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75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 弹性伸缩，资源调度预留</a:t>
            </a:r>
            <a:r>
              <a:rPr lang="en-US" altLang="zh-CN" sz="75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&amp;&amp;</a:t>
            </a:r>
            <a:r>
              <a:rPr lang="zh-CN" altLang="en-US" sz="75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抢占</a:t>
            </a:r>
            <a:endParaRPr lang="en-IN" altLang="zh-CN" sz="750" dirty="0">
              <a:solidFill>
                <a:prstClr val="white">
                  <a:lumMod val="50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5" name="Freeform 8">
            <a:extLst>
              <a:ext uri="{FF2B5EF4-FFF2-40B4-BE49-F238E27FC236}">
                <a16:creationId xmlns:a16="http://schemas.microsoft.com/office/drawing/2014/main" id="{8B3B6872-002D-06D4-0869-8FA272315D28}"/>
              </a:ext>
            </a:extLst>
          </p:cNvPr>
          <p:cNvSpPr/>
          <p:nvPr/>
        </p:nvSpPr>
        <p:spPr bwMode="auto">
          <a:xfrm>
            <a:off x="5764370" y="2729613"/>
            <a:ext cx="1314450" cy="369094"/>
          </a:xfrm>
          <a:custGeom>
            <a:avLst/>
            <a:gdLst>
              <a:gd name="T0" fmla="*/ 75 w 467"/>
              <a:gd name="T1" fmla="*/ 125 h 131"/>
              <a:gd name="T2" fmla="*/ 5 w 467"/>
              <a:gd name="T3" fmla="*/ 18 h 131"/>
              <a:gd name="T4" fmla="*/ 14 w 467"/>
              <a:gd name="T5" fmla="*/ 0 h 131"/>
              <a:gd name="T6" fmla="*/ 382 w 467"/>
              <a:gd name="T7" fmla="*/ 0 h 131"/>
              <a:gd name="T8" fmla="*/ 392 w 467"/>
              <a:gd name="T9" fmla="*/ 6 h 131"/>
              <a:gd name="T10" fmla="*/ 462 w 467"/>
              <a:gd name="T11" fmla="*/ 113 h 131"/>
              <a:gd name="T12" fmla="*/ 453 w 467"/>
              <a:gd name="T13" fmla="*/ 131 h 131"/>
              <a:gd name="T14" fmla="*/ 85 w 467"/>
              <a:gd name="T15" fmla="*/ 131 h 131"/>
              <a:gd name="T16" fmla="*/ 75 w 467"/>
              <a:gd name="T17" fmla="*/ 125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25BB1A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defTabSz="685800">
              <a:defRPr/>
            </a:pPr>
            <a:endParaRPr lang="en-IN" sz="1350">
              <a:solidFill>
                <a:prstClr val="black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36" name="TextBox 72">
            <a:extLst>
              <a:ext uri="{FF2B5EF4-FFF2-40B4-BE49-F238E27FC236}">
                <a16:creationId xmlns:a16="http://schemas.microsoft.com/office/drawing/2014/main" id="{9F223708-B58D-B898-4143-918365D336EE}"/>
              </a:ext>
            </a:extLst>
          </p:cNvPr>
          <p:cNvSpPr txBox="1"/>
          <p:nvPr/>
        </p:nvSpPr>
        <p:spPr>
          <a:xfrm>
            <a:off x="6132151" y="2805563"/>
            <a:ext cx="761747" cy="265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25" b="1" dirty="0">
                <a:solidFill>
                  <a:prstClr val="white"/>
                </a:solidFill>
                <a:latin typeface="Agency FB" panose="020B0503020202020204" pitchFamily="34" charset="0"/>
                <a:cs typeface="+mn-ea"/>
                <a:sym typeface="+mn-lt"/>
              </a:rPr>
              <a:t>统一调度</a:t>
            </a:r>
            <a:endParaRPr lang="en-IN" altLang="zh-CN" sz="1125" b="1" dirty="0">
              <a:solidFill>
                <a:prstClr val="white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grpSp>
        <p:nvGrpSpPr>
          <p:cNvPr id="37" name="Group 69">
            <a:extLst>
              <a:ext uri="{FF2B5EF4-FFF2-40B4-BE49-F238E27FC236}">
                <a16:creationId xmlns:a16="http://schemas.microsoft.com/office/drawing/2014/main" id="{9A251F97-3F55-9D29-C6D6-B318D6525EFD}"/>
              </a:ext>
            </a:extLst>
          </p:cNvPr>
          <p:cNvGrpSpPr/>
          <p:nvPr/>
        </p:nvGrpSpPr>
        <p:grpSpPr>
          <a:xfrm>
            <a:off x="6460207" y="3098706"/>
            <a:ext cx="70247" cy="1081088"/>
            <a:chOff x="3911600" y="4084637"/>
            <a:chExt cx="93663" cy="1441450"/>
          </a:xfrm>
        </p:grpSpPr>
        <p:sp>
          <p:nvSpPr>
            <p:cNvPr id="38" name="Rectangle 26">
              <a:extLst>
                <a:ext uri="{FF2B5EF4-FFF2-40B4-BE49-F238E27FC236}">
                  <a16:creationId xmlns:a16="http://schemas.microsoft.com/office/drawing/2014/main" id="{FDC7DE1A-D7EA-2338-2AC1-CF3D34F5F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9700" y="5449887"/>
              <a:ext cx="14288" cy="30163"/>
            </a:xfrm>
            <a:prstGeom prst="rect">
              <a:avLst/>
            </a:prstGeom>
            <a:solidFill>
              <a:srgbClr val="6464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defTabSz="685800">
                <a:defRPr/>
              </a:pPr>
              <a:endParaRPr lang="en-IN" sz="135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9" name="Oval 27">
              <a:extLst>
                <a:ext uri="{FF2B5EF4-FFF2-40B4-BE49-F238E27FC236}">
                  <a16:creationId xmlns:a16="http://schemas.microsoft.com/office/drawing/2014/main" id="{ABE14ABF-A558-6EB8-DC55-C5ECFBA22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1600" y="5430837"/>
              <a:ext cx="93663" cy="95250"/>
            </a:xfrm>
            <a:prstGeom prst="ellipse">
              <a:avLst/>
            </a:prstGeom>
            <a:solidFill>
              <a:srgbClr val="6464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defTabSz="685800">
                <a:defRPr/>
              </a:pPr>
              <a:endParaRPr lang="en-IN" sz="135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cxnSp>
          <p:nvCxnSpPr>
            <p:cNvPr id="40" name="Straight Connector 60">
              <a:extLst>
                <a:ext uri="{FF2B5EF4-FFF2-40B4-BE49-F238E27FC236}">
                  <a16:creationId xmlns:a16="http://schemas.microsoft.com/office/drawing/2014/main" id="{1A62A6B5-C5AD-F872-8964-3445D4E07C2E}"/>
                </a:ext>
              </a:extLst>
            </p:cNvPr>
            <p:cNvCxnSpPr/>
            <p:nvPr/>
          </p:nvCxnSpPr>
          <p:spPr>
            <a:xfrm flipH="1">
              <a:off x="3955257" y="4084637"/>
              <a:ext cx="8732" cy="1355724"/>
            </a:xfrm>
            <a:prstGeom prst="line">
              <a:avLst/>
            </a:prstGeom>
            <a:noFill/>
            <a:ln w="6350" cap="flat" cmpd="sng" algn="ctr">
              <a:solidFill>
                <a:srgbClr val="646463"/>
              </a:solidFill>
              <a:prstDash val="lgDash"/>
              <a:miter lim="800000"/>
            </a:ln>
            <a:effectLst/>
          </p:spPr>
        </p:cxnSp>
      </p:grpSp>
      <p:sp>
        <p:nvSpPr>
          <p:cNvPr id="41" name="TextBox 72">
            <a:extLst>
              <a:ext uri="{FF2B5EF4-FFF2-40B4-BE49-F238E27FC236}">
                <a16:creationId xmlns:a16="http://schemas.microsoft.com/office/drawing/2014/main" id="{13BCCB56-90C0-FFAF-8AD9-AB129BA7A1AB}"/>
              </a:ext>
            </a:extLst>
          </p:cNvPr>
          <p:cNvSpPr txBox="1"/>
          <p:nvPr/>
        </p:nvSpPr>
        <p:spPr>
          <a:xfrm>
            <a:off x="4880206" y="2801940"/>
            <a:ext cx="761747" cy="265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25" b="1" dirty="0">
                <a:solidFill>
                  <a:prstClr val="white"/>
                </a:solidFill>
                <a:latin typeface="Agency FB" panose="020B0503020202020204" pitchFamily="34" charset="0"/>
                <a:cs typeface="+mn-ea"/>
                <a:sym typeface="+mn-lt"/>
              </a:rPr>
              <a:t>常态混部</a:t>
            </a:r>
            <a:endParaRPr lang="en-IN" sz="1125" b="1" dirty="0">
              <a:solidFill>
                <a:prstClr val="white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42" name="TextBox 72">
            <a:extLst>
              <a:ext uri="{FF2B5EF4-FFF2-40B4-BE49-F238E27FC236}">
                <a16:creationId xmlns:a16="http://schemas.microsoft.com/office/drawing/2014/main" id="{4FDC2FE2-DED8-7EE3-CE6E-237F1E16F11D}"/>
              </a:ext>
            </a:extLst>
          </p:cNvPr>
          <p:cNvSpPr txBox="1"/>
          <p:nvPr/>
        </p:nvSpPr>
        <p:spPr>
          <a:xfrm>
            <a:off x="3642157" y="2816493"/>
            <a:ext cx="761747" cy="265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25" b="1" dirty="0">
                <a:solidFill>
                  <a:prstClr val="white"/>
                </a:solidFill>
                <a:latin typeface="Agency FB" panose="020B0503020202020204" pitchFamily="34" charset="0"/>
                <a:cs typeface="+mn-ea"/>
                <a:sym typeface="+mn-lt"/>
              </a:rPr>
              <a:t>分时复用</a:t>
            </a:r>
            <a:endParaRPr lang="en-IN" sz="1125" b="1" dirty="0">
              <a:solidFill>
                <a:prstClr val="white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43" name="TextBox 72">
            <a:extLst>
              <a:ext uri="{FF2B5EF4-FFF2-40B4-BE49-F238E27FC236}">
                <a16:creationId xmlns:a16="http://schemas.microsoft.com/office/drawing/2014/main" id="{08F20645-DD4A-369E-15C8-D48FE6EB2FA1}"/>
              </a:ext>
            </a:extLst>
          </p:cNvPr>
          <p:cNvSpPr txBox="1"/>
          <p:nvPr/>
        </p:nvSpPr>
        <p:spPr>
          <a:xfrm>
            <a:off x="2156437" y="2819122"/>
            <a:ext cx="1194558" cy="265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25" b="1" dirty="0">
                <a:solidFill>
                  <a:prstClr val="white"/>
                </a:solidFill>
                <a:latin typeface="Agency FB" panose="020B0503020202020204" pitchFamily="34" charset="0"/>
                <a:cs typeface="+mn-ea"/>
                <a:sym typeface="+mn-lt"/>
              </a:rPr>
              <a:t>闲置资源再利用</a:t>
            </a:r>
            <a:endParaRPr lang="en-IN" sz="1125" b="1" dirty="0">
              <a:solidFill>
                <a:prstClr val="white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44" name="Rectangle 91">
            <a:extLst>
              <a:ext uri="{FF2B5EF4-FFF2-40B4-BE49-F238E27FC236}">
                <a16:creationId xmlns:a16="http://schemas.microsoft.com/office/drawing/2014/main" id="{44F7A3F8-B738-1112-FC41-5F57E0228258}"/>
              </a:ext>
            </a:extLst>
          </p:cNvPr>
          <p:cNvSpPr/>
          <p:nvPr/>
        </p:nvSpPr>
        <p:spPr>
          <a:xfrm>
            <a:off x="5345119" y="4181157"/>
            <a:ext cx="2340205" cy="247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75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统一调度，统一资源池，资源运营</a:t>
            </a:r>
            <a:endParaRPr lang="en-IN" altLang="zh-CN" sz="750" dirty="0">
              <a:solidFill>
                <a:prstClr val="white">
                  <a:lumMod val="50000"/>
                </a:prst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964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 bldLvl="0" animBg="1"/>
      <p:bldP spid="18" grpId="0" bldLvl="0" animBg="1"/>
      <p:bldP spid="19" grpId="0" bldLvl="0" animBg="1"/>
      <p:bldP spid="32" grpId="0"/>
      <p:bldP spid="33" grpId="0"/>
      <p:bldP spid="34" grpId="0"/>
      <p:bldP spid="35" grpId="0" bldLvl="0" animBg="1"/>
      <p:bldP spid="36" grpId="0"/>
      <p:bldP spid="41" grpId="0"/>
      <p:bldP spid="42" grpId="0"/>
      <p:bldP spid="43" grpId="0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第一阶段：闲置资源再利用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5" name="集群本地存储+OSS冷存架构性价比高…">
            <a:extLst>
              <a:ext uri="{FF2B5EF4-FFF2-40B4-BE49-F238E27FC236}">
                <a16:creationId xmlns:a16="http://schemas.microsoft.com/office/drawing/2014/main" id="{4D128220-4F8C-4DA8-85AA-46131D081D83}"/>
              </a:ext>
            </a:extLst>
          </p:cNvPr>
          <p:cNvSpPr txBox="1"/>
          <p:nvPr/>
        </p:nvSpPr>
        <p:spPr>
          <a:xfrm>
            <a:off x="269983" y="1417666"/>
            <a:ext cx="4135795" cy="2837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875" dirty="0">
                <a:solidFill>
                  <a:srgbClr val="1E1E1E"/>
                </a:solidFill>
              </a:rPr>
              <a:t>场景：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资源管理粗放，散落在各个集群中的低效节点形成资源浪费；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部分基于</a:t>
            </a:r>
            <a:r>
              <a:rPr lang="en-US" altLang="zh-CN" sz="1125" dirty="0">
                <a:solidFill>
                  <a:srgbClr val="1E1E1E"/>
                </a:solidFill>
              </a:rPr>
              <a:t>k8s</a:t>
            </a:r>
            <a:r>
              <a:rPr lang="zh-CN" altLang="en-US" sz="1125" dirty="0">
                <a:solidFill>
                  <a:srgbClr val="1E1E1E"/>
                </a:solidFill>
              </a:rPr>
              <a:t>发布的</a:t>
            </a:r>
            <a:r>
              <a:rPr lang="zh-CN" altLang="en-US" sz="1125" b="1" dirty="0">
                <a:solidFill>
                  <a:srgbClr val="FF0000"/>
                </a:solidFill>
              </a:rPr>
              <a:t>转码类</a:t>
            </a:r>
            <a:r>
              <a:rPr lang="zh-CN" altLang="en-US" sz="1125" dirty="0">
                <a:solidFill>
                  <a:srgbClr val="1E1E1E"/>
                </a:solidFill>
              </a:rPr>
              <a:t>近线</a:t>
            </a:r>
            <a:r>
              <a:rPr lang="en-US" altLang="zh-CN" sz="1125" dirty="0">
                <a:solidFill>
                  <a:srgbClr val="1E1E1E"/>
                </a:solidFill>
              </a:rPr>
              <a:t>/</a:t>
            </a:r>
            <a:r>
              <a:rPr lang="zh-CN" altLang="en-US" sz="1125" dirty="0">
                <a:solidFill>
                  <a:srgbClr val="1E1E1E"/>
                </a:solidFill>
              </a:rPr>
              <a:t>离线场景，存在计算资源需求</a:t>
            </a:r>
            <a:r>
              <a:rPr lang="en-US" altLang="zh-CN" sz="1125" dirty="0">
                <a:solidFill>
                  <a:srgbClr val="1E1E1E"/>
                </a:solidFill>
              </a:rPr>
              <a:t>;</a:t>
            </a: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875" dirty="0">
                <a:solidFill>
                  <a:srgbClr val="1E1E1E"/>
                </a:solidFill>
              </a:rPr>
              <a:t>策略：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定期巡检：空闲超过</a:t>
            </a:r>
            <a:r>
              <a:rPr lang="en-US" altLang="zh-CN" sz="1125" dirty="0">
                <a:solidFill>
                  <a:srgbClr val="1E1E1E"/>
                </a:solidFill>
              </a:rPr>
              <a:t>10min</a:t>
            </a:r>
            <a:r>
              <a:rPr lang="zh-CN" altLang="en-US" sz="1125" dirty="0">
                <a:solidFill>
                  <a:srgbClr val="1E1E1E"/>
                </a:solidFill>
              </a:rPr>
              <a:t>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资源归还：在线</a:t>
            </a:r>
            <a:r>
              <a:rPr lang="en-US" altLang="zh-CN" sz="1125" dirty="0">
                <a:solidFill>
                  <a:srgbClr val="1E1E1E"/>
                </a:solidFill>
              </a:rPr>
              <a:t>pending</a:t>
            </a:r>
            <a:r>
              <a:rPr lang="zh-CN" altLang="en-US" sz="1125" dirty="0">
                <a:solidFill>
                  <a:srgbClr val="1E1E1E"/>
                </a:solidFill>
              </a:rPr>
              <a:t>，二次调度器驱逐离线；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跨集群离线调度：</a:t>
            </a:r>
            <a:r>
              <a:rPr lang="en-US" altLang="zh-CN" sz="1125" dirty="0">
                <a:solidFill>
                  <a:srgbClr val="1E1E1E"/>
                </a:solidFill>
              </a:rPr>
              <a:t>virtual-</a:t>
            </a:r>
            <a:r>
              <a:rPr lang="en-US" altLang="zh-CN" sz="1125" dirty="0" err="1">
                <a:solidFill>
                  <a:srgbClr val="1E1E1E"/>
                </a:solidFill>
              </a:rPr>
              <a:t>kubelet</a:t>
            </a:r>
            <a:r>
              <a:rPr lang="zh-CN" altLang="en-US" sz="1125" dirty="0">
                <a:solidFill>
                  <a:srgbClr val="1E1E1E"/>
                </a:solidFill>
              </a:rPr>
              <a:t>下发；</a:t>
            </a:r>
            <a:endParaRPr lang="en-US" altLang="zh-CN" sz="1125" dirty="0">
              <a:solidFill>
                <a:srgbClr val="1E1E1E"/>
              </a:solidFill>
            </a:endParaRPr>
          </a:p>
        </p:txBody>
      </p:sp>
      <p:pic>
        <p:nvPicPr>
          <p:cNvPr id="16" name="Picture 1">
            <a:extLst>
              <a:ext uri="{FF2B5EF4-FFF2-40B4-BE49-F238E27FC236}">
                <a16:creationId xmlns:a16="http://schemas.microsoft.com/office/drawing/2014/main" id="{F4FCDCE8-7E98-EEE4-E621-2B4326DD4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778" y="1295400"/>
            <a:ext cx="4594335" cy="32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第二阶段：整机腾挪的分时复用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8" name="集群本地存储+OSS冷存架构性价比高…">
            <a:extLst>
              <a:ext uri="{FF2B5EF4-FFF2-40B4-BE49-F238E27FC236}">
                <a16:creationId xmlns:a16="http://schemas.microsoft.com/office/drawing/2014/main" id="{03F2C1C4-E67B-9EE3-B6A9-7765A4801ACC}"/>
              </a:ext>
            </a:extLst>
          </p:cNvPr>
          <p:cNvSpPr txBox="1"/>
          <p:nvPr/>
        </p:nvSpPr>
        <p:spPr>
          <a:xfrm>
            <a:off x="214285" y="1295400"/>
            <a:ext cx="4135795" cy="3183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875" dirty="0">
                <a:solidFill>
                  <a:srgbClr val="1E1E1E"/>
                </a:solidFill>
              </a:rPr>
              <a:t>场景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资源池：搜推广独占资源池场景，夜间利用率低；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257175" lvl="3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在线业务：搜推广在线场景，支持弹性按比例缩容；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257175" lvl="2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离线业务：</a:t>
            </a:r>
            <a:r>
              <a:rPr lang="zh-CN" altLang="en-US" sz="1125" b="1" dirty="0">
                <a:solidFill>
                  <a:srgbClr val="FF0000"/>
                </a:solidFill>
              </a:rPr>
              <a:t>转码，搜推广算法训练</a:t>
            </a:r>
            <a:r>
              <a:rPr lang="zh-CN" altLang="en-US" sz="1125" dirty="0">
                <a:solidFill>
                  <a:srgbClr val="1E1E1E"/>
                </a:solidFill>
              </a:rPr>
              <a:t>（大规格），近离线业务</a:t>
            </a:r>
            <a:r>
              <a:rPr lang="en-US" altLang="zh-CN" sz="1125" dirty="0">
                <a:solidFill>
                  <a:srgbClr val="1E1E1E"/>
                </a:solidFill>
              </a:rPr>
              <a:t>T+1</a:t>
            </a:r>
            <a:r>
              <a:rPr lang="zh-CN" altLang="en-US" sz="1125" dirty="0">
                <a:solidFill>
                  <a:srgbClr val="1E1E1E"/>
                </a:solidFill>
              </a:rPr>
              <a:t>时效性要求；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875" dirty="0">
                <a:solidFill>
                  <a:srgbClr val="1E1E1E"/>
                </a:solidFill>
              </a:rPr>
              <a:t>策略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服务弹性：凌晨在线服务定时缩容，离线服务定时扩容；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资源归还：离线提前缩容退场，调度在线抢占离线兜底；</a:t>
            </a:r>
            <a:endParaRPr lang="en-US" altLang="zh-CN" sz="1125" dirty="0">
              <a:solidFill>
                <a:srgbClr val="1E1E1E"/>
              </a:solidFill>
            </a:endParaRPr>
          </a:p>
        </p:txBody>
      </p:sp>
      <p:pic>
        <p:nvPicPr>
          <p:cNvPr id="19" name="Picture 1">
            <a:extLst>
              <a:ext uri="{FF2B5EF4-FFF2-40B4-BE49-F238E27FC236}">
                <a16:creationId xmlns:a16="http://schemas.microsoft.com/office/drawing/2014/main" id="{C93EDF74-7337-9AF8-AC04-E1F50D488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540" y="1699162"/>
            <a:ext cx="4493175" cy="264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第三阶段：常态混部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8" name="集群本地存储+OSS冷存架构性价比高…">
            <a:extLst>
              <a:ext uri="{FF2B5EF4-FFF2-40B4-BE49-F238E27FC236}">
                <a16:creationId xmlns:a16="http://schemas.microsoft.com/office/drawing/2014/main" id="{74BA2F4C-A6F5-616F-D90E-FB3571F9CCAA}"/>
              </a:ext>
            </a:extLst>
          </p:cNvPr>
          <p:cNvSpPr txBox="1"/>
          <p:nvPr/>
        </p:nvSpPr>
        <p:spPr>
          <a:xfrm>
            <a:off x="182542" y="1164191"/>
            <a:ext cx="4979808" cy="3529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875" dirty="0">
                <a:solidFill>
                  <a:srgbClr val="1E1E1E"/>
                </a:solidFill>
              </a:rPr>
              <a:t>场景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资源池：大规模合池，独占</a:t>
            </a:r>
            <a:r>
              <a:rPr lang="en-US" altLang="zh-CN" sz="1125" dirty="0">
                <a:solidFill>
                  <a:srgbClr val="1E1E1E"/>
                </a:solidFill>
              </a:rPr>
              <a:t>-&gt;</a:t>
            </a:r>
            <a:r>
              <a:rPr lang="zh-CN" altLang="en-US" sz="1125" dirty="0">
                <a:solidFill>
                  <a:srgbClr val="1E1E1E"/>
                </a:solidFill>
              </a:rPr>
              <a:t>公共混部池，夜间利用率低；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257175" lvl="3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在线业务：搜推广，电商，直播等</a:t>
            </a:r>
            <a:r>
              <a:rPr lang="en-US" altLang="zh-CN" sz="1125" dirty="0">
                <a:solidFill>
                  <a:srgbClr val="1E1E1E"/>
                </a:solidFill>
              </a:rPr>
              <a:t>java/go</a:t>
            </a:r>
            <a:r>
              <a:rPr lang="zh-CN" altLang="en-US" sz="1125" dirty="0">
                <a:solidFill>
                  <a:srgbClr val="1E1E1E"/>
                </a:solidFill>
              </a:rPr>
              <a:t>微服务场景；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257175" lvl="2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离线业务：</a:t>
            </a:r>
            <a:r>
              <a:rPr lang="zh-CN" altLang="en-US" sz="1125" b="1" dirty="0">
                <a:solidFill>
                  <a:srgbClr val="FF0000"/>
                </a:solidFill>
              </a:rPr>
              <a:t>转码，大数据，</a:t>
            </a:r>
            <a:r>
              <a:rPr lang="en-US" altLang="zh-CN" sz="1125" b="1" dirty="0">
                <a:solidFill>
                  <a:srgbClr val="FF0000"/>
                </a:solidFill>
              </a:rPr>
              <a:t>cv/</a:t>
            </a:r>
            <a:r>
              <a:rPr lang="en-US" altLang="zh-CN" sz="1125" b="1" dirty="0" err="1">
                <a:solidFill>
                  <a:srgbClr val="FF0000"/>
                </a:solidFill>
              </a:rPr>
              <a:t>nlp</a:t>
            </a:r>
            <a:r>
              <a:rPr lang="zh-CN" altLang="en-US" sz="1125" b="1" dirty="0">
                <a:solidFill>
                  <a:srgbClr val="FF0000"/>
                </a:solidFill>
              </a:rPr>
              <a:t>近离线推理服务</a:t>
            </a:r>
            <a:r>
              <a:rPr lang="zh-CN" altLang="en-US" sz="1125" dirty="0">
                <a:solidFill>
                  <a:srgbClr val="1E1E1E"/>
                </a:solidFill>
              </a:rPr>
              <a:t>，</a:t>
            </a:r>
            <a:r>
              <a:rPr lang="en-US" altLang="zh-CN" sz="1125" dirty="0">
                <a:solidFill>
                  <a:srgbClr val="1E1E1E"/>
                </a:solidFill>
              </a:rPr>
              <a:t>T</a:t>
            </a:r>
            <a:r>
              <a:rPr lang="zh-CN" altLang="en-US" sz="1125" dirty="0">
                <a:solidFill>
                  <a:srgbClr val="1E1E1E"/>
                </a:solidFill>
              </a:rPr>
              <a:t>，</a:t>
            </a:r>
            <a:r>
              <a:rPr lang="en-US" altLang="zh-CN" sz="1125" dirty="0">
                <a:solidFill>
                  <a:srgbClr val="1E1E1E"/>
                </a:solidFill>
              </a:rPr>
              <a:t>T+1</a:t>
            </a:r>
            <a:r>
              <a:rPr lang="zh-CN" altLang="en-US" sz="1125" dirty="0">
                <a:solidFill>
                  <a:srgbClr val="1E1E1E"/>
                </a:solidFill>
              </a:rPr>
              <a:t>时效性要求；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875" dirty="0">
                <a:solidFill>
                  <a:srgbClr val="1E1E1E"/>
                </a:solidFill>
              </a:rPr>
              <a:t>策略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调度侧：资源视图同步，调度器感知</a:t>
            </a:r>
            <a:r>
              <a:rPr lang="en-US" altLang="zh-CN" sz="1125" dirty="0">
                <a:solidFill>
                  <a:srgbClr val="1E1E1E"/>
                </a:solidFill>
              </a:rPr>
              <a:t>batch</a:t>
            </a:r>
            <a:r>
              <a:rPr lang="zh-CN" altLang="en-US" sz="1125" dirty="0">
                <a:solidFill>
                  <a:srgbClr val="1E1E1E"/>
                </a:solidFill>
              </a:rPr>
              <a:t>可用资源视图；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节点侧：在离线常态化混跑，离线填“谷”，感知在线负载，驱逐避让策略；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257175" indent="-257175" defTabSz="102870">
              <a:lnSpc>
                <a:spcPct val="200000"/>
              </a:lnSpc>
              <a:buFont typeface="Arial" panose="020B0604020202020204" pitchFamily="34" charset="0"/>
              <a:buChar char="•"/>
              <a:defRPr sz="5000">
                <a:solidFill>
                  <a:srgbClr val="1E1E1E"/>
                </a:solidFill>
              </a:defRPr>
            </a:pPr>
            <a:r>
              <a:rPr lang="zh-CN" altLang="en-US" sz="1125" dirty="0">
                <a:solidFill>
                  <a:srgbClr val="1E1E1E"/>
                </a:solidFill>
              </a:rPr>
              <a:t>内核侧：调度优先级（</a:t>
            </a:r>
            <a:r>
              <a:rPr lang="en-US" altLang="zh-CN" sz="1125" dirty="0" err="1">
                <a:solidFill>
                  <a:srgbClr val="1E1E1E"/>
                </a:solidFill>
              </a:rPr>
              <a:t>bvt</a:t>
            </a:r>
            <a:r>
              <a:rPr lang="zh-CN" altLang="en-US" sz="1125" dirty="0">
                <a:solidFill>
                  <a:srgbClr val="1E1E1E"/>
                </a:solidFill>
              </a:rPr>
              <a:t>），</a:t>
            </a:r>
            <a:r>
              <a:rPr lang="en-US" altLang="zh-CN" sz="1125" dirty="0" err="1">
                <a:solidFill>
                  <a:srgbClr val="1E1E1E"/>
                </a:solidFill>
              </a:rPr>
              <a:t>oom</a:t>
            </a:r>
            <a:r>
              <a:rPr lang="zh-CN" altLang="en-US" sz="1125" dirty="0">
                <a:solidFill>
                  <a:srgbClr val="1E1E1E"/>
                </a:solidFill>
              </a:rPr>
              <a:t> 优先级，内存回收水位，超线程干扰避免，</a:t>
            </a:r>
            <a:r>
              <a:rPr lang="en-US" altLang="zh-CN" sz="1125" dirty="0">
                <a:solidFill>
                  <a:srgbClr val="1E1E1E"/>
                </a:solidFill>
              </a:rPr>
              <a:t>last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level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cache</a:t>
            </a:r>
            <a:r>
              <a:rPr lang="zh-CN" altLang="en-US" sz="1125" dirty="0">
                <a:solidFill>
                  <a:srgbClr val="1E1E1E"/>
                </a:solidFill>
              </a:rPr>
              <a:t>，</a:t>
            </a:r>
            <a:r>
              <a:rPr lang="en-US" altLang="zh-CN" sz="1125" dirty="0">
                <a:solidFill>
                  <a:srgbClr val="1E1E1E"/>
                </a:solidFill>
              </a:rPr>
              <a:t>memory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bandwidth</a:t>
            </a:r>
            <a:r>
              <a:rPr lang="zh-CN" altLang="en-US" sz="1125" dirty="0">
                <a:solidFill>
                  <a:srgbClr val="1E1E1E"/>
                </a:solidFill>
              </a:rPr>
              <a:t> 隔离</a:t>
            </a:r>
            <a:endParaRPr lang="en-US" altLang="zh-CN" sz="1125" dirty="0">
              <a:solidFill>
                <a:srgbClr val="1E1E1E"/>
              </a:solidFill>
            </a:endParaRPr>
          </a:p>
        </p:txBody>
      </p:sp>
      <p:pic>
        <p:nvPicPr>
          <p:cNvPr id="19" name="Picture 1">
            <a:extLst>
              <a:ext uri="{FF2B5EF4-FFF2-40B4-BE49-F238E27FC236}">
                <a16:creationId xmlns:a16="http://schemas.microsoft.com/office/drawing/2014/main" id="{F90F4CCB-158C-A140-4439-8780B5A3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893" y="1494828"/>
            <a:ext cx="3484468" cy="286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617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8831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第三阶段：常态混部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6EBB9F-644B-AFD8-C9CC-73FED81A8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89" y="1520823"/>
            <a:ext cx="4888000" cy="35589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1FE686B-42DE-E986-7D79-88F0A1374932}"/>
              </a:ext>
            </a:extLst>
          </p:cNvPr>
          <p:cNvSpPr txBox="1"/>
          <p:nvPr/>
        </p:nvSpPr>
        <p:spPr>
          <a:xfrm>
            <a:off x="5256298" y="1074127"/>
            <a:ext cx="2914259" cy="20928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9050" tIns="19050" rIns="19050" bIns="19050" numCol="1" spcCol="38100" rtlCol="0" anchor="ctr">
            <a:spAutoFit/>
          </a:bodyPr>
          <a:lstStyle/>
          <a:p>
            <a:pPr marL="257175" indent="-257175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资源调度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257175" indent="-257175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1E1E1E"/>
                </a:solidFill>
              </a:rPr>
              <a:t>离线调度：</a:t>
            </a:r>
            <a:r>
              <a:rPr lang="en-US" altLang="zh-CN" sz="1200" dirty="0" err="1">
                <a:solidFill>
                  <a:srgbClr val="1E1E1E"/>
                </a:solidFill>
              </a:rPr>
              <a:t>coscheduling</a:t>
            </a:r>
            <a:r>
              <a:rPr lang="zh-CN" altLang="en-US" sz="1200" dirty="0">
                <a:solidFill>
                  <a:srgbClr val="1E1E1E"/>
                </a:solidFill>
              </a:rPr>
              <a:t>；</a:t>
            </a:r>
            <a:endParaRPr lang="en-US" altLang="zh-CN" sz="1200" dirty="0">
              <a:solidFill>
                <a:srgbClr val="1E1E1E"/>
              </a:solidFill>
            </a:endParaRPr>
          </a:p>
          <a:p>
            <a:pPr marL="257175" indent="-2571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1E1E1E"/>
                </a:solidFill>
              </a:rPr>
              <a:t>二次调度：热点驱逐，碎片整理退机；</a:t>
            </a:r>
            <a:endParaRPr lang="en-US" altLang="zh-CN" sz="1200" dirty="0">
              <a:solidFill>
                <a:srgbClr val="1E1E1E"/>
              </a:solidFill>
            </a:endParaRPr>
          </a:p>
          <a:p>
            <a:pPr marL="257175" indent="-2571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1E1E1E"/>
                </a:solidFill>
              </a:rPr>
              <a:t>负载调度：基于</a:t>
            </a:r>
            <a:r>
              <a:rPr lang="en-US" altLang="zh-CN" sz="1200" dirty="0">
                <a:solidFill>
                  <a:srgbClr val="1E1E1E"/>
                </a:solidFill>
              </a:rPr>
              <a:t>CPU</a:t>
            </a:r>
            <a:r>
              <a:rPr lang="zh-CN" altLang="en-US" sz="1200" dirty="0">
                <a:solidFill>
                  <a:srgbClr val="1E1E1E"/>
                </a:solidFill>
              </a:rPr>
              <a:t>水位；</a:t>
            </a:r>
            <a:endParaRPr lang="en-US" altLang="zh-CN" sz="1200" dirty="0">
              <a:solidFill>
                <a:srgbClr val="1E1E1E"/>
              </a:solidFill>
            </a:endParaRPr>
          </a:p>
          <a:p>
            <a:pPr marL="257175" indent="-2571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1E1E1E"/>
                </a:solidFill>
              </a:rPr>
              <a:t>统一资源视图：资源走查，模拟调度；</a:t>
            </a:r>
            <a:endParaRPr lang="en-US" altLang="zh-CN" sz="1200" dirty="0">
              <a:solidFill>
                <a:srgbClr val="1E1E1E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680821E-4344-83E1-8B5E-CDFA4996C5F8}"/>
              </a:ext>
            </a:extLst>
          </p:cNvPr>
          <p:cNvSpPr txBox="1"/>
          <p:nvPr/>
        </p:nvSpPr>
        <p:spPr>
          <a:xfrm>
            <a:off x="5256298" y="3073716"/>
            <a:ext cx="3305264" cy="20928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9050" tIns="19050" rIns="19050" bIns="19050" numCol="1" spcCol="38100" rtlCol="0" anchor="ctr">
            <a:spAutoFit/>
          </a:bodyPr>
          <a:lstStyle/>
          <a:p>
            <a:pPr marL="257175" indent="-257175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单机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257175" indent="-257175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1E1E1E"/>
                </a:solidFill>
              </a:rPr>
              <a:t>压制策略：</a:t>
            </a:r>
            <a:r>
              <a:rPr lang="en-US" altLang="zh-CN" sz="1200" dirty="0" err="1">
                <a:solidFill>
                  <a:srgbClr val="1E1E1E"/>
                </a:solidFill>
              </a:rPr>
              <a:t>bvt</a:t>
            </a:r>
            <a:r>
              <a:rPr lang="zh-CN" altLang="en-US" sz="1200" dirty="0">
                <a:solidFill>
                  <a:srgbClr val="1E1E1E"/>
                </a:solidFill>
              </a:rPr>
              <a:t>压制，内存驱逐；</a:t>
            </a:r>
            <a:endParaRPr lang="en-US" altLang="zh-CN" sz="1200" dirty="0">
              <a:solidFill>
                <a:srgbClr val="1E1E1E"/>
              </a:solidFill>
            </a:endParaRPr>
          </a:p>
          <a:p>
            <a:pPr marL="257175" indent="-257175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 err="1">
                <a:solidFill>
                  <a:srgbClr val="1E1E1E"/>
                </a:solidFill>
              </a:rPr>
              <a:t>Qos</a:t>
            </a:r>
            <a:r>
              <a:rPr lang="zh-CN" altLang="en-US" sz="1200" dirty="0">
                <a:solidFill>
                  <a:srgbClr val="1E1E1E"/>
                </a:solidFill>
              </a:rPr>
              <a:t>保障：绑核，超线程干扰抑制等；</a:t>
            </a:r>
            <a:endParaRPr lang="en-US" altLang="zh-CN" sz="1200" dirty="0">
              <a:solidFill>
                <a:srgbClr val="1E1E1E"/>
              </a:solidFill>
            </a:endParaRPr>
          </a:p>
          <a:p>
            <a:pPr marL="257175" indent="-257175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1E1E1E"/>
                </a:solidFill>
              </a:rPr>
              <a:t>Batch</a:t>
            </a:r>
            <a:r>
              <a:rPr lang="zh-CN" altLang="en-US" sz="1200" dirty="0">
                <a:solidFill>
                  <a:srgbClr val="1E1E1E"/>
                </a:solidFill>
              </a:rPr>
              <a:t>资源上报同步：</a:t>
            </a:r>
            <a:r>
              <a:rPr lang="en-US" altLang="zh-CN" sz="1200" dirty="0">
                <a:solidFill>
                  <a:srgbClr val="1E1E1E"/>
                </a:solidFill>
              </a:rPr>
              <a:t>batch</a:t>
            </a:r>
            <a:r>
              <a:rPr lang="zh-CN" altLang="en-US" sz="1200" dirty="0">
                <a:solidFill>
                  <a:srgbClr val="1E1E1E"/>
                </a:solidFill>
              </a:rPr>
              <a:t>资源计算，同步；</a:t>
            </a:r>
            <a:endParaRPr lang="en-US" altLang="zh-CN" sz="1200" dirty="0">
              <a:solidFill>
                <a:srgbClr val="1E1E1E"/>
              </a:solidFill>
            </a:endParaRPr>
          </a:p>
          <a:p>
            <a:pPr marL="257175" indent="-257175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1E1E1E"/>
                </a:solidFill>
              </a:rPr>
              <a:t>指标采集</a:t>
            </a:r>
            <a:r>
              <a:rPr lang="en-US" altLang="zh-CN" sz="1200" dirty="0">
                <a:solidFill>
                  <a:srgbClr val="1E1E1E"/>
                </a:solidFill>
              </a:rPr>
              <a:t>(from</a:t>
            </a:r>
            <a:r>
              <a:rPr lang="zh-CN" altLang="en-US" sz="1200" dirty="0">
                <a:solidFill>
                  <a:srgbClr val="1E1E1E"/>
                </a:solidFill>
              </a:rPr>
              <a:t> </a:t>
            </a:r>
            <a:r>
              <a:rPr lang="en-US" altLang="zh-CN" sz="1200" dirty="0">
                <a:solidFill>
                  <a:srgbClr val="1E1E1E"/>
                </a:solidFill>
              </a:rPr>
              <a:t>kernel)</a:t>
            </a:r>
            <a:r>
              <a:rPr lang="zh-CN" altLang="en-US" sz="1200" dirty="0">
                <a:solidFill>
                  <a:srgbClr val="1E1E1E"/>
                </a:solidFill>
              </a:rPr>
              <a:t>：</a:t>
            </a:r>
            <a:r>
              <a:rPr lang="en-US" altLang="zh-CN" sz="1200" dirty="0">
                <a:solidFill>
                  <a:srgbClr val="1E1E1E"/>
                </a:solidFill>
              </a:rPr>
              <a:t>psi</a:t>
            </a:r>
            <a:r>
              <a:rPr lang="zh-CN" altLang="en-US" sz="1200" dirty="0">
                <a:solidFill>
                  <a:srgbClr val="1E1E1E"/>
                </a:solidFill>
              </a:rPr>
              <a:t>，</a:t>
            </a:r>
            <a:r>
              <a:rPr lang="en-US" altLang="zh-CN" sz="1200" dirty="0">
                <a:solidFill>
                  <a:srgbClr val="1E1E1E"/>
                </a:solidFill>
              </a:rPr>
              <a:t>sched</a:t>
            </a:r>
            <a:r>
              <a:rPr lang="zh-CN" altLang="en-US" sz="1200" dirty="0">
                <a:solidFill>
                  <a:srgbClr val="1E1E1E"/>
                </a:solidFill>
              </a:rPr>
              <a:t> </a:t>
            </a:r>
            <a:r>
              <a:rPr lang="en-US" altLang="zh-CN" sz="1200" dirty="0">
                <a:solidFill>
                  <a:srgbClr val="1E1E1E"/>
                </a:solidFill>
              </a:rPr>
              <a:t>info</a:t>
            </a:r>
            <a:r>
              <a:rPr lang="zh-CN" altLang="en-US" sz="1200" dirty="0">
                <a:solidFill>
                  <a:srgbClr val="1E1E1E"/>
                </a:solidFill>
              </a:rPr>
              <a:t>等；</a:t>
            </a:r>
            <a:endParaRPr lang="en-US" altLang="zh-CN" sz="1200" dirty="0">
              <a:solidFill>
                <a:srgbClr val="1E1E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225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883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第三阶段：常态混部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集群本地存储+OSS冷存架构性价比高…">
                <a:extLst>
                  <a:ext uri="{FF2B5EF4-FFF2-40B4-BE49-F238E27FC236}">
                    <a16:creationId xmlns:a16="http://schemas.microsoft.com/office/drawing/2014/main" id="{00401224-BED8-18BB-969A-4682D54E88CB}"/>
                  </a:ext>
                </a:extLst>
              </p:cNvPr>
              <p:cNvSpPr txBox="1"/>
              <p:nvPr/>
            </p:nvSpPr>
            <p:spPr>
              <a:xfrm>
                <a:off x="276184" y="1615831"/>
                <a:ext cx="4001534" cy="30103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0" tIns="0" rIns="0" bIns="0" anchor="ctr">
                <a:spAutoFit/>
              </a:bodyPr>
              <a:lstStyle/>
              <a:p>
                <a:pPr marL="257175" indent="-257175" defTabSz="102870">
                  <a:lnSpc>
                    <a:spcPct val="200000"/>
                  </a:lnSpc>
                  <a:buFont typeface="Arial" panose="020B0604020202020204" pitchFamily="34" charset="0"/>
                  <a:buChar char="•"/>
                  <a:defRPr sz="5000">
                    <a:solidFill>
                      <a:srgbClr val="1E1E1E"/>
                    </a:solidFill>
                  </a:defRPr>
                </a:pPr>
                <a:r>
                  <a:rPr lang="zh-CN" altLang="en-US" sz="1875" dirty="0">
                    <a:solidFill>
                      <a:srgbClr val="1E1E1E"/>
                    </a:solidFill>
                  </a:rPr>
                  <a:t>离线资源视图</a:t>
                </a:r>
                <a:endParaRPr lang="en-US" altLang="zh-CN" sz="1875" dirty="0">
                  <a:solidFill>
                    <a:srgbClr val="1E1E1E"/>
                  </a:solidFill>
                </a:endParaRPr>
              </a:p>
              <a:p>
                <a:pPr marL="257175" indent="-257175" defTabSz="102870">
                  <a:lnSpc>
                    <a:spcPct val="200000"/>
                  </a:lnSpc>
                  <a:buFont typeface="Arial" panose="020B0604020202020204" pitchFamily="34" charset="0"/>
                  <a:buChar char="•"/>
                  <a:defRPr sz="5000">
                    <a:solidFill>
                      <a:srgbClr val="1E1E1E"/>
                    </a:solidFill>
                  </a:defRPr>
                </a:pPr>
                <a:r>
                  <a:rPr lang="zh-CN" altLang="en-US" sz="1125" dirty="0">
                    <a:solidFill>
                      <a:srgbClr val="1E1E1E"/>
                    </a:solidFill>
                  </a:rPr>
                  <a:t>离线可用</a:t>
                </a:r>
                <a:r>
                  <a:rPr lang="en-US" altLang="zh-CN" sz="1125" dirty="0">
                    <a:solidFill>
                      <a:srgbClr val="1E1E1E"/>
                    </a:solidFill>
                  </a:rPr>
                  <a:t>batch</a:t>
                </a:r>
                <a:r>
                  <a:rPr lang="zh-CN" altLang="en-US" sz="1125" dirty="0">
                    <a:solidFill>
                      <a:srgbClr val="1E1E1E"/>
                    </a:solidFill>
                  </a:rPr>
                  <a:t>资源：</a:t>
                </a:r>
                <a:r>
                  <a:rPr lang="en-US" altLang="zh-CN" sz="1125" dirty="0">
                    <a:solidFill>
                      <a:srgbClr val="1E1E1E"/>
                    </a:solidFill>
                  </a:rPr>
                  <a:t> (</a:t>
                </a:r>
                <a:r>
                  <a:rPr lang="zh-CN" altLang="en-US" sz="863" b="1" dirty="0">
                    <a:solidFill>
                      <a:srgbClr val="FF0000"/>
                    </a:solidFill>
                  </a:rPr>
                  <a:t>节点资源动态超卖</a:t>
                </a:r>
                <a:r>
                  <a:rPr lang="en-US" altLang="zh-CN" sz="1125" dirty="0">
                    <a:solidFill>
                      <a:srgbClr val="1E1E1E"/>
                    </a:solidFill>
                  </a:rPr>
                  <a:t>)</a:t>
                </a:r>
              </a:p>
              <a:p>
                <a:pPr defTabSz="102870">
                  <a:lnSpc>
                    <a:spcPct val="200000"/>
                  </a:lnSpc>
                  <a:defRPr sz="5000">
                    <a:solidFill>
                      <a:srgbClr val="1E1E1E"/>
                    </a:solidFill>
                  </a:defRPr>
                </a:pPr>
                <a:r>
                  <a:rPr lang="en-US" altLang="zh-CN" sz="1125" dirty="0">
                    <a:solidFill>
                      <a:srgbClr val="1E1E1E"/>
                    </a:solidFill>
                  </a:rPr>
                  <a:t>		</a:t>
                </a:r>
                <a:r>
                  <a:rPr lang="zh-CN" altLang="en-US" sz="1125" dirty="0">
                    <a:solidFill>
                      <a:srgbClr val="1E1E1E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125" dirty="0">
                        <a:solidFill>
                          <a:srgbClr val="1E1E1E"/>
                        </a:solidFill>
                      </a:rPr>
                      <m:t>batch</m:t>
                    </m:r>
                    <m:r>
                      <m:rPr>
                        <m:nor/>
                      </m:rPr>
                      <a:rPr lang="en-US" altLang="zh-CN" sz="1125" dirty="0">
                        <a:solidFill>
                          <a:srgbClr val="1E1E1E"/>
                        </a:solidFill>
                      </a:rPr>
                      <m:t>.</m:t>
                    </m:r>
                    <m:r>
                      <m:rPr>
                        <m:nor/>
                      </m:rPr>
                      <a:rPr lang="en-US" altLang="zh-CN" sz="1125" dirty="0">
                        <a:solidFill>
                          <a:srgbClr val="1E1E1E"/>
                        </a:solidFill>
                      </a:rPr>
                      <m:t>allocatable</m:t>
                    </m:r>
                    <m:r>
                      <m:rPr>
                        <m:nor/>
                      </m:rPr>
                      <a:rPr lang="zh-CN" altLang="en-US" sz="1125" dirty="0">
                        <a:solidFill>
                          <a:srgbClr val="1E1E1E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CN" sz="1125" dirty="0">
                        <a:solidFill>
                          <a:srgbClr val="1E1E1E"/>
                        </a:solidFill>
                      </a:rPr>
                      <m:t>=</m:t>
                    </m:r>
                    <m:r>
                      <m:rPr>
                        <m:nor/>
                      </m:rPr>
                      <a:rPr lang="zh-CN" altLang="en-US" sz="1125" dirty="0">
                        <a:solidFill>
                          <a:srgbClr val="1E1E1E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CN" sz="1125" dirty="0">
                        <a:solidFill>
                          <a:srgbClr val="1E1E1E"/>
                        </a:solidFill>
                      </a:rPr>
                      <m:t>total</m:t>
                    </m:r>
                    <m:r>
                      <m:rPr>
                        <m:nor/>
                      </m:rPr>
                      <a:rPr lang="zh-CN" altLang="en-US" sz="1125" dirty="0">
                        <a:solidFill>
                          <a:srgbClr val="1E1E1E"/>
                        </a:solidFill>
                      </a:rPr>
                      <m:t> </m:t>
                    </m:r>
                    <m:r>
                      <a:rPr lang="en-US" altLang="zh-CN" sz="1125" i="1" dirty="0">
                        <a:solidFill>
                          <a:srgbClr val="1E1E1E"/>
                        </a:solidFill>
                        <a:latin typeface="Cambria Math" panose="02040503050406030204" pitchFamily="18" charset="0"/>
                      </a:rPr>
                      <m:t>–</m:t>
                    </m:r>
                    <m:r>
                      <m:rPr>
                        <m:nor/>
                      </m:rPr>
                      <a:rPr lang="zh-CN" altLang="en-US" sz="1125" dirty="0">
                        <a:solidFill>
                          <a:srgbClr val="1E1E1E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CN" sz="1125" dirty="0">
                        <a:solidFill>
                          <a:srgbClr val="1E1E1E"/>
                        </a:solidFill>
                      </a:rPr>
                      <m:t>reserved</m:t>
                    </m:r>
                    <m:r>
                      <m:rPr>
                        <m:nor/>
                      </m:rPr>
                      <a:rPr lang="zh-CN" altLang="en-US" sz="1125" dirty="0">
                        <a:solidFill>
                          <a:srgbClr val="1E1E1E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CN" sz="1125" dirty="0">
                        <a:solidFill>
                          <a:srgbClr val="1E1E1E"/>
                        </a:solidFill>
                      </a:rPr>
                      <m:t>−</m:t>
                    </m:r>
                    <m:r>
                      <m:rPr>
                        <m:nor/>
                      </m:rPr>
                      <a:rPr lang="zh-CN" altLang="en-US" sz="1125" dirty="0">
                        <a:solidFill>
                          <a:srgbClr val="1E1E1E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CN" sz="1125" dirty="0">
                        <a:solidFill>
                          <a:srgbClr val="1E1E1E"/>
                        </a:solidFill>
                      </a:rPr>
                      <m:t>prod</m:t>
                    </m:r>
                    <m:r>
                      <m:rPr>
                        <m:nor/>
                      </m:rPr>
                      <a:rPr lang="en-US" altLang="zh-CN" sz="1125" dirty="0">
                        <a:solidFill>
                          <a:srgbClr val="1E1E1E"/>
                        </a:solidFill>
                      </a:rPr>
                      <m:t>.</m:t>
                    </m:r>
                    <m:r>
                      <m:rPr>
                        <m:nor/>
                      </m:rPr>
                      <a:rPr lang="en-US" altLang="zh-CN" sz="1125" dirty="0">
                        <a:solidFill>
                          <a:srgbClr val="1E1E1E"/>
                        </a:solidFill>
                      </a:rPr>
                      <m:t>used</m:t>
                    </m:r>
                  </m:oMath>
                </a14:m>
                <a:endParaRPr lang="en-US" altLang="zh-CN" sz="1125" dirty="0">
                  <a:solidFill>
                    <a:srgbClr val="1E1E1E"/>
                  </a:solidFill>
                </a:endParaRPr>
              </a:p>
              <a:p>
                <a:pPr marL="257175" indent="-257175" defTabSz="102870">
                  <a:lnSpc>
                    <a:spcPct val="200000"/>
                  </a:lnSpc>
                  <a:buFont typeface="Arial" panose="020B0604020202020204" pitchFamily="34" charset="0"/>
                  <a:buChar char="•"/>
                  <a:defRPr sz="5000">
                    <a:solidFill>
                      <a:srgbClr val="1E1E1E"/>
                    </a:solidFill>
                  </a:defRPr>
                </a:pPr>
                <a:r>
                  <a:rPr lang="en-US" altLang="zh-CN" sz="1125" dirty="0">
                    <a:solidFill>
                      <a:srgbClr val="1E1E1E"/>
                    </a:solidFill>
                  </a:rPr>
                  <a:t>k8s</a:t>
                </a:r>
                <a:r>
                  <a:rPr lang="zh-CN" altLang="en-US" sz="1125" dirty="0">
                    <a:solidFill>
                      <a:srgbClr val="1E1E1E"/>
                    </a:solidFill>
                  </a:rPr>
                  <a:t>节点可用</a:t>
                </a:r>
                <a:r>
                  <a:rPr lang="en-US" altLang="zh-CN" sz="1125" dirty="0">
                    <a:solidFill>
                      <a:srgbClr val="1E1E1E"/>
                    </a:solidFill>
                  </a:rPr>
                  <a:t>batch</a:t>
                </a:r>
                <a:r>
                  <a:rPr lang="zh-CN" altLang="en-US" sz="1125" dirty="0">
                    <a:solidFill>
                      <a:srgbClr val="1E1E1E"/>
                    </a:solidFill>
                  </a:rPr>
                  <a:t>资源：</a:t>
                </a:r>
                <a:r>
                  <a:rPr lang="en-US" altLang="zh-CN" sz="1125" dirty="0">
                    <a:solidFill>
                      <a:srgbClr val="1E1E1E"/>
                    </a:solidFill>
                  </a:rPr>
                  <a:t>(</a:t>
                </a:r>
                <a:r>
                  <a:rPr lang="zh-CN" altLang="en-US" sz="863" b="1" dirty="0">
                    <a:solidFill>
                      <a:srgbClr val="FF0000"/>
                    </a:solidFill>
                  </a:rPr>
                  <a:t>自定义资源，与在线服务资源视图分割</a:t>
                </a:r>
                <a:r>
                  <a:rPr lang="en-US" altLang="zh-CN" sz="863" b="1" dirty="0">
                    <a:solidFill>
                      <a:srgbClr val="1E1E1E"/>
                    </a:solidFill>
                  </a:rPr>
                  <a:t>)</a:t>
                </a:r>
                <a:endParaRPr lang="en-US" altLang="zh-CN" sz="863" dirty="0">
                  <a:solidFill>
                    <a:srgbClr val="1E1E1E"/>
                  </a:solidFill>
                </a:endParaRPr>
              </a:p>
              <a:p>
                <a:pPr defTabSz="102870">
                  <a:lnSpc>
                    <a:spcPct val="150000"/>
                  </a:lnSpc>
                  <a:defRPr sz="5000">
                    <a:solidFill>
                      <a:srgbClr val="1E1E1E"/>
                    </a:solidFill>
                  </a:defRPr>
                </a:pPr>
                <a:r>
                  <a:rPr lang="en-US" altLang="zh-CN" sz="1125" dirty="0">
                    <a:solidFill>
                      <a:srgbClr val="1E1E1E"/>
                    </a:solidFill>
                  </a:rPr>
                  <a:t>		</a:t>
                </a:r>
                <a:r>
                  <a:rPr lang="zh-CN" altLang="en-US" sz="1125" dirty="0">
                    <a:solidFill>
                      <a:srgbClr val="1E1E1E"/>
                    </a:solidFill>
                  </a:rPr>
                  <a:t>  </a:t>
                </a:r>
                <a:r>
                  <a:rPr lang="en-US" altLang="zh-CN" sz="1125" dirty="0">
                    <a:solidFill>
                      <a:srgbClr val="1E1E1E"/>
                    </a:solidFill>
                  </a:rPr>
                  <a:t>batch-</a:t>
                </a:r>
                <a:r>
                  <a:rPr lang="en-US" altLang="zh-CN" sz="1125" dirty="0" err="1">
                    <a:solidFill>
                      <a:srgbClr val="1E1E1E"/>
                    </a:solidFill>
                  </a:rPr>
                  <a:t>cpu</a:t>
                </a:r>
                <a:r>
                  <a:rPr lang="en-US" altLang="zh-CN" sz="1125" dirty="0">
                    <a:solidFill>
                      <a:srgbClr val="1E1E1E"/>
                    </a:solidFill>
                  </a:rPr>
                  <a:t>=16c</a:t>
                </a:r>
                <a:r>
                  <a:rPr lang="zh-CN" altLang="en-US" sz="1125" dirty="0">
                    <a:solidFill>
                      <a:srgbClr val="1E1E1E"/>
                    </a:solidFill>
                  </a:rPr>
                  <a:t> </a:t>
                </a:r>
                <a:endParaRPr lang="en-US" altLang="zh-CN" sz="1125" dirty="0">
                  <a:solidFill>
                    <a:srgbClr val="1E1E1E"/>
                  </a:solidFill>
                </a:endParaRPr>
              </a:p>
              <a:p>
                <a:pPr defTabSz="102870">
                  <a:lnSpc>
                    <a:spcPct val="150000"/>
                  </a:lnSpc>
                  <a:defRPr sz="5000">
                    <a:solidFill>
                      <a:srgbClr val="1E1E1E"/>
                    </a:solidFill>
                  </a:defRPr>
                </a:pPr>
                <a:r>
                  <a:rPr lang="en-US" altLang="zh-CN" sz="1125" dirty="0">
                    <a:solidFill>
                      <a:srgbClr val="1E1E1E"/>
                    </a:solidFill>
                  </a:rPr>
                  <a:t>		</a:t>
                </a:r>
                <a:r>
                  <a:rPr lang="zh-CN" altLang="en-US" sz="1125" dirty="0">
                    <a:solidFill>
                      <a:srgbClr val="1E1E1E"/>
                    </a:solidFill>
                  </a:rPr>
                  <a:t>  </a:t>
                </a:r>
                <a:r>
                  <a:rPr lang="en-US" altLang="zh-CN" sz="1125" dirty="0">
                    <a:solidFill>
                      <a:srgbClr val="1E1E1E"/>
                    </a:solidFill>
                  </a:rPr>
                  <a:t>batch-memory=50gb</a:t>
                </a:r>
              </a:p>
              <a:p>
                <a:pPr marL="257175" indent="-257175" defTabSz="102870">
                  <a:lnSpc>
                    <a:spcPct val="200000"/>
                  </a:lnSpc>
                  <a:buFont typeface="Arial" panose="020B0604020202020204" pitchFamily="34" charset="0"/>
                  <a:buChar char="•"/>
                  <a:defRPr sz="5000">
                    <a:solidFill>
                      <a:srgbClr val="1E1E1E"/>
                    </a:solidFill>
                  </a:defRPr>
                </a:pPr>
                <a:r>
                  <a:rPr lang="zh-CN" altLang="en-US" sz="1875" dirty="0">
                    <a:solidFill>
                      <a:srgbClr val="1E1E1E"/>
                    </a:solidFill>
                  </a:rPr>
                  <a:t>存在的问题</a:t>
                </a:r>
                <a:endParaRPr lang="en-US" altLang="zh-CN" sz="1875" dirty="0">
                  <a:solidFill>
                    <a:srgbClr val="1E1E1E"/>
                  </a:solidFill>
                </a:endParaRPr>
              </a:p>
              <a:p>
                <a:pPr marL="257175" indent="-257175" defTabSz="102870">
                  <a:lnSpc>
                    <a:spcPct val="200000"/>
                  </a:lnSpc>
                  <a:buFont typeface="Arial" panose="020B0604020202020204" pitchFamily="34" charset="0"/>
                  <a:buChar char="•"/>
                  <a:defRPr sz="5000">
                    <a:solidFill>
                      <a:srgbClr val="1E1E1E"/>
                    </a:solidFill>
                  </a:defRPr>
                </a:pPr>
                <a:r>
                  <a:rPr lang="en-US" altLang="zh-CN" sz="1125" dirty="0">
                    <a:solidFill>
                      <a:srgbClr val="1E1E1E"/>
                    </a:solidFill>
                  </a:rPr>
                  <a:t>batch</a:t>
                </a:r>
                <a:r>
                  <a:rPr lang="zh-CN" altLang="en-US" sz="1125" dirty="0">
                    <a:solidFill>
                      <a:srgbClr val="1E1E1E"/>
                    </a:solidFill>
                  </a:rPr>
                  <a:t>可用资源是否频繁变化？？？</a:t>
                </a:r>
                <a:endParaRPr lang="en-US" altLang="zh-CN" sz="1125" dirty="0">
                  <a:solidFill>
                    <a:srgbClr val="1E1E1E"/>
                  </a:solidFill>
                </a:endParaRPr>
              </a:p>
            </p:txBody>
          </p:sp>
        </mc:Choice>
        <mc:Fallback xmlns="">
          <p:sp>
            <p:nvSpPr>
              <p:cNvPr id="18" name="集群本地存储+OSS冷存架构性价比高…">
                <a:extLst>
                  <a:ext uri="{FF2B5EF4-FFF2-40B4-BE49-F238E27FC236}">
                    <a16:creationId xmlns:a16="http://schemas.microsoft.com/office/drawing/2014/main" id="{00401224-BED8-18BB-969A-4682D54E8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84" y="1615831"/>
                <a:ext cx="4001534" cy="3010376"/>
              </a:xfrm>
              <a:prstGeom prst="rect">
                <a:avLst/>
              </a:prstGeom>
              <a:blipFill>
                <a:blip r:embed="rId4"/>
                <a:stretch>
                  <a:fillRect l="-3165" b="-252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">
            <a:extLst>
              <a:ext uri="{FF2B5EF4-FFF2-40B4-BE49-F238E27FC236}">
                <a16:creationId xmlns:a16="http://schemas.microsoft.com/office/drawing/2014/main" id="{33BF3C1E-3E3A-3DC0-B7CB-85C4EE8B2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2623" y="1366925"/>
            <a:ext cx="4950102" cy="186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92476E4-6A05-5BF1-8EC1-5397A996AB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2463" y="3372263"/>
            <a:ext cx="4583947" cy="186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898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第三阶段：常态混部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8" name="表格 8">
            <a:extLst>
              <a:ext uri="{FF2B5EF4-FFF2-40B4-BE49-F238E27FC236}">
                <a16:creationId xmlns:a16="http://schemas.microsoft.com/office/drawing/2014/main" id="{500A509C-924E-ABF5-4B88-562E0196F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159963"/>
              </p:ext>
            </p:extLst>
          </p:nvPr>
        </p:nvGraphicFramePr>
        <p:xfrm>
          <a:off x="214685" y="3470352"/>
          <a:ext cx="4470436" cy="14480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9496">
                  <a:extLst>
                    <a:ext uri="{9D8B030D-6E8A-4147-A177-3AD203B41FA5}">
                      <a16:colId xmlns:a16="http://schemas.microsoft.com/office/drawing/2014/main" val="1698629578"/>
                    </a:ext>
                  </a:extLst>
                </a:gridCol>
                <a:gridCol w="1188348">
                  <a:extLst>
                    <a:ext uri="{9D8B030D-6E8A-4147-A177-3AD203B41FA5}">
                      <a16:colId xmlns:a16="http://schemas.microsoft.com/office/drawing/2014/main" val="4273660337"/>
                    </a:ext>
                  </a:extLst>
                </a:gridCol>
                <a:gridCol w="2372592">
                  <a:extLst>
                    <a:ext uri="{9D8B030D-6E8A-4147-A177-3AD203B41FA5}">
                      <a16:colId xmlns:a16="http://schemas.microsoft.com/office/drawing/2014/main" val="2081335373"/>
                    </a:ext>
                  </a:extLst>
                </a:gridCol>
              </a:tblGrid>
              <a:tr h="27913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阶段</a:t>
                      </a:r>
                    </a:p>
                  </a:txBody>
                  <a:tcPr marL="34290" marR="34290" marT="17145" marB="171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W1,w2,w3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权重</a:t>
                      </a:r>
                    </a:p>
                  </a:txBody>
                  <a:tcPr marL="34290" marR="34290" marT="17145" marB="171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说明</a:t>
                      </a:r>
                    </a:p>
                  </a:txBody>
                  <a:tcPr marL="34290" marR="34290" marT="17145" marB="17145"/>
                </a:tc>
                <a:extLst>
                  <a:ext uri="{0D108BD9-81ED-4DB2-BD59-A6C34878D82A}">
                    <a16:rowId xmlns:a16="http://schemas.microsoft.com/office/drawing/2014/main" val="2884679796"/>
                  </a:ext>
                </a:extLst>
              </a:tr>
              <a:tr h="299323">
                <a:tc>
                  <a:txBody>
                    <a:bodyPr/>
                    <a:lstStyle/>
                    <a:p>
                      <a:pPr marL="0" algn="l" font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冷启动</a:t>
                      </a:r>
                    </a:p>
                  </a:txBody>
                  <a:tcPr marL="14288" marR="14288" marT="14288" marB="10716" anchor="ctr"/>
                </a:tc>
                <a:tc>
                  <a:txBody>
                    <a:bodyPr/>
                    <a:lstStyle/>
                    <a:p>
                      <a:pPr marL="0" algn="l" font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0%, 0%, 100%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14288" marR="14288" marT="14288" marB="10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冷启动，前一小时权重</a:t>
                      </a: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100%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34290" marR="34290" marT="17145" marB="17145"/>
                </a:tc>
                <a:extLst>
                  <a:ext uri="{0D108BD9-81ED-4DB2-BD59-A6C34878D82A}">
                    <a16:rowId xmlns:a16="http://schemas.microsoft.com/office/drawing/2014/main" val="3324105738"/>
                  </a:ext>
                </a:extLst>
              </a:tr>
              <a:tr h="324822">
                <a:tc>
                  <a:txBody>
                    <a:bodyPr/>
                    <a:lstStyle/>
                    <a:p>
                      <a:pPr marL="0" algn="l" font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altLang="en-US" sz="900" b="0" i="0" u="none" strike="noStrike" cap="none" spc="0" baseline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运行超过一天</a:t>
                      </a:r>
                    </a:p>
                  </a:txBody>
                  <a:tcPr marL="14288" marR="14288" marT="14288" marB="10716" anchor="ctr"/>
                </a:tc>
                <a:tc>
                  <a:txBody>
                    <a:bodyPr/>
                    <a:lstStyle/>
                    <a:p>
                      <a:pPr marL="0" algn="l" font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zh-CN" sz="900" b="0" i="0" u="none" strike="noStrike" cap="none" spc="0" baseline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0%</a:t>
                      </a:r>
                      <a:r>
                        <a:rPr lang="zh-CN" altLang="en-US" sz="900" b="0" i="0" u="none" strike="noStrike" cap="none" spc="0" baseline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，</a:t>
                      </a:r>
                      <a:r>
                        <a:rPr lang="en-US" altLang="zh-CN" sz="900" b="0" i="0" u="none" strike="noStrike" cap="none" spc="0" baseline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50%</a:t>
                      </a:r>
                      <a:r>
                        <a:rPr lang="zh-CN" altLang="en-US" sz="900" b="0" i="0" u="none" strike="noStrike" cap="none" spc="0" baseline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，</a:t>
                      </a:r>
                      <a:r>
                        <a:rPr lang="en-US" altLang="zh-CN" sz="900" b="0" i="0" u="none" strike="noStrike" cap="none" spc="0" baseline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50%</a:t>
                      </a:r>
                      <a:endParaRPr lang="zh-CN" altLang="en-US" sz="900" b="0" i="0" u="none" strike="noStrike" cap="none" spc="0" baseline="0">
                        <a:solidFill>
                          <a:srgbClr val="333333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14288" marR="14288" marT="14288" marB="10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T-1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天同一时刻，前一小时 各自权重</a:t>
                      </a: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50%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，</a:t>
                      </a: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50%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34290" marR="34290" marT="17145" marB="17145"/>
                </a:tc>
                <a:extLst>
                  <a:ext uri="{0D108BD9-81ED-4DB2-BD59-A6C34878D82A}">
                    <a16:rowId xmlns:a16="http://schemas.microsoft.com/office/drawing/2014/main" val="547962575"/>
                  </a:ext>
                </a:extLst>
              </a:tr>
              <a:tr h="544806">
                <a:tc>
                  <a:txBody>
                    <a:bodyPr/>
                    <a:lstStyle/>
                    <a:p>
                      <a:pPr marL="0" algn="l" font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altLang="en-US" sz="900" b="0" i="0" u="none" strike="noStrike" cap="none" spc="0" baseline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运行超过一周</a:t>
                      </a:r>
                    </a:p>
                  </a:txBody>
                  <a:tcPr marL="14288" marR="14288" marT="14288" marB="10716" anchor="ctr"/>
                </a:tc>
                <a:tc>
                  <a:txBody>
                    <a:bodyPr/>
                    <a:lstStyle/>
                    <a:p>
                      <a:pPr marL="0" algn="l" font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40%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，</a:t>
                      </a: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30%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，</a:t>
                      </a: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30%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14288" marR="14288" marT="14288" marB="10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T-1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周同一时刻，权重最高，默认为</a:t>
                      </a: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40%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，</a:t>
                      </a:r>
                      <a:endParaRPr lang="en-US" altLang="zh-CN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Alibaba PuHuiTi 2 45 Light"/>
                      </a:endParaRPr>
                    </a:p>
                    <a:p>
                      <a:pPr marL="0" marR="0" lvl="0" indent="0" algn="l" defTabSz="8255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T-1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天同一时刻，前一小时 各自权重</a:t>
                      </a: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30%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，</a:t>
                      </a: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30%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34290" marR="34290" marT="17145" marB="17145"/>
                </a:tc>
                <a:extLst>
                  <a:ext uri="{0D108BD9-81ED-4DB2-BD59-A6C34878D82A}">
                    <a16:rowId xmlns:a16="http://schemas.microsoft.com/office/drawing/2014/main" val="2337246289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82CE333A-538F-1193-46A0-1B04A471BF45}"/>
              </a:ext>
            </a:extLst>
          </p:cNvPr>
          <p:cNvSpPr txBox="1"/>
          <p:nvPr/>
        </p:nvSpPr>
        <p:spPr>
          <a:xfrm>
            <a:off x="113968" y="1463314"/>
            <a:ext cx="3241272" cy="7309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9050" tIns="19050" rIns="19050" bIns="19050" numCol="1" spcCol="38100" rtlCol="0" anchor="ctr">
            <a:spAutoFit/>
          </a:bodyPr>
          <a:lstStyle/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避免在线资源波动造成的同步离线可用资源抖动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125" dirty="0">
                <a:solidFill>
                  <a:srgbClr val="1E1E1E"/>
                </a:solidFill>
              </a:rPr>
              <a:t>Batch</a:t>
            </a:r>
            <a:r>
              <a:rPr lang="zh-CN" altLang="en-US" sz="1125" dirty="0">
                <a:solidFill>
                  <a:srgbClr val="1E1E1E"/>
                </a:solidFill>
              </a:rPr>
              <a:t>可用资源计算方式：</a:t>
            </a:r>
            <a:endParaRPr lang="en-US" altLang="zh-CN" sz="1125" dirty="0">
              <a:solidFill>
                <a:srgbClr val="1E1E1E"/>
              </a:solidFill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E9977FD-9E13-4AB0-350D-953D46DF1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87" y="2274965"/>
            <a:ext cx="2564315" cy="12211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67D295E-519A-8BB6-B33C-F29C226AF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687" y="2623219"/>
            <a:ext cx="4120467" cy="41819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1D5095-2E06-B14D-ED65-F37B744ED3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687" y="3216041"/>
            <a:ext cx="2490356" cy="9961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9E90BE33-19A9-ADC1-DC78-93434359DA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000" y="1524000"/>
            <a:ext cx="4459122" cy="250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283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第三阶段：常态混部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C44EC3-7CEC-4FA4-CEE6-0C02B6320826}"/>
              </a:ext>
            </a:extLst>
          </p:cNvPr>
          <p:cNvSpPr txBox="1"/>
          <p:nvPr/>
        </p:nvSpPr>
        <p:spPr>
          <a:xfrm>
            <a:off x="4372461" y="1295400"/>
            <a:ext cx="3955951" cy="36163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离线驱逐策略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defTabSz="914376" hangingPunct="0">
              <a:lnSpc>
                <a:spcPct val="200000"/>
              </a:lnSpc>
            </a:pPr>
            <a:r>
              <a:rPr lang="zh-CN" altLang="en-US" sz="1125" dirty="0">
                <a:solidFill>
                  <a:srgbClr val="1E1E1E"/>
                </a:solidFill>
              </a:rPr>
              <a:t>     整机内存超过安全水位；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defTabSz="914376" hangingPunct="0">
              <a:lnSpc>
                <a:spcPct val="200000"/>
              </a:lnSpc>
            </a:pPr>
            <a:r>
              <a:rPr lang="zh-CN" altLang="en-US" sz="1125" dirty="0">
                <a:solidFill>
                  <a:srgbClr val="1E1E1E"/>
                </a:solidFill>
              </a:rPr>
              <a:t>     基于</a:t>
            </a:r>
            <a:r>
              <a:rPr lang="en-US" altLang="zh-CN" sz="1125" dirty="0">
                <a:solidFill>
                  <a:srgbClr val="1E1E1E"/>
                </a:solidFill>
              </a:rPr>
              <a:t>CPU</a:t>
            </a:r>
            <a:r>
              <a:rPr lang="zh-CN" altLang="en-US" sz="1125" dirty="0">
                <a:solidFill>
                  <a:srgbClr val="1E1E1E"/>
                </a:solidFill>
              </a:rPr>
              <a:t>满足度驱逐策略，避免离线被长时间饿死；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基于龙蜥内核的</a:t>
            </a:r>
            <a:r>
              <a:rPr lang="en-US" altLang="zh-CN" sz="1875" dirty="0" err="1">
                <a:solidFill>
                  <a:srgbClr val="1E1E1E"/>
                </a:solidFill>
              </a:rPr>
              <a:t>Qos</a:t>
            </a:r>
            <a:r>
              <a:rPr lang="zh-CN" altLang="en-US" sz="1875" dirty="0">
                <a:solidFill>
                  <a:srgbClr val="1E1E1E"/>
                </a:solidFill>
              </a:rPr>
              <a:t>保障能力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defTabSz="914376" hangingPunct="0">
              <a:lnSpc>
                <a:spcPct val="200000"/>
              </a:lnSpc>
            </a:pPr>
            <a:r>
              <a:rPr lang="zh-CN" altLang="en-US" sz="1125" dirty="0">
                <a:solidFill>
                  <a:srgbClr val="1E1E1E"/>
                </a:solidFill>
              </a:rPr>
              <a:t>     </a:t>
            </a:r>
            <a:r>
              <a:rPr lang="en-US" altLang="zh-CN" sz="1125" dirty="0">
                <a:solidFill>
                  <a:srgbClr val="1E1E1E"/>
                </a:solidFill>
              </a:rPr>
              <a:t>CPU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burst</a:t>
            </a:r>
            <a:r>
              <a:rPr lang="zh-CN" altLang="en-US" sz="1125" dirty="0">
                <a:solidFill>
                  <a:srgbClr val="1E1E1E"/>
                </a:solidFill>
              </a:rPr>
              <a:t>：</a:t>
            </a:r>
            <a:r>
              <a:rPr lang="en-US" altLang="zh-CN" sz="1125" dirty="0" err="1">
                <a:solidFill>
                  <a:srgbClr val="1E1E1E"/>
                </a:solidFill>
              </a:rPr>
              <a:t>cpu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throttle</a:t>
            </a:r>
            <a:r>
              <a:rPr lang="zh-CN" altLang="en-US" sz="1125" dirty="0">
                <a:solidFill>
                  <a:srgbClr val="1E1E1E"/>
                </a:solidFill>
              </a:rPr>
              <a:t>缓解；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defTabSz="914376" hangingPunct="0">
              <a:lnSpc>
                <a:spcPct val="200000"/>
              </a:lnSpc>
            </a:pPr>
            <a:r>
              <a:rPr lang="zh-CN" altLang="en-US" sz="1125" dirty="0">
                <a:solidFill>
                  <a:srgbClr val="1E1E1E"/>
                </a:solidFill>
              </a:rPr>
              <a:t>     </a:t>
            </a:r>
            <a:r>
              <a:rPr lang="en" altLang="zh-CN" sz="1125" dirty="0">
                <a:solidFill>
                  <a:srgbClr val="1E1E1E"/>
                </a:solidFill>
              </a:rPr>
              <a:t>Group Identity</a:t>
            </a:r>
            <a:r>
              <a:rPr lang="zh-CN" altLang="en-US" sz="1125" dirty="0">
                <a:solidFill>
                  <a:srgbClr val="1E1E1E"/>
                </a:solidFill>
              </a:rPr>
              <a:t>：调度优先级，超线程隔离；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defTabSz="914376" hangingPunct="0">
              <a:lnSpc>
                <a:spcPct val="200000"/>
              </a:lnSpc>
            </a:pPr>
            <a:r>
              <a:rPr lang="zh-CN" altLang="en-US" sz="1125" dirty="0">
                <a:solidFill>
                  <a:srgbClr val="1E1E1E"/>
                </a:solidFill>
              </a:rPr>
              <a:t>     </a:t>
            </a:r>
            <a:r>
              <a:rPr lang="en-US" altLang="zh-CN" sz="1125" dirty="0">
                <a:solidFill>
                  <a:srgbClr val="1E1E1E"/>
                </a:solidFill>
              </a:rPr>
              <a:t>OOM</a:t>
            </a:r>
            <a:r>
              <a:rPr lang="zh-CN" altLang="en-US" sz="1125" dirty="0">
                <a:solidFill>
                  <a:srgbClr val="1E1E1E"/>
                </a:solidFill>
              </a:rPr>
              <a:t> 优先级：内存不足，按</a:t>
            </a:r>
            <a:r>
              <a:rPr lang="en-US" altLang="zh-CN" sz="1125" dirty="0" err="1">
                <a:solidFill>
                  <a:srgbClr val="1E1E1E"/>
                </a:solidFill>
              </a:rPr>
              <a:t>memcg</a:t>
            </a:r>
            <a:r>
              <a:rPr lang="zh-CN" altLang="en-US" sz="1125" dirty="0">
                <a:solidFill>
                  <a:srgbClr val="1E1E1E"/>
                </a:solidFill>
              </a:rPr>
              <a:t>优先级</a:t>
            </a:r>
            <a:r>
              <a:rPr lang="en-US" altLang="zh-CN" sz="1125" dirty="0">
                <a:solidFill>
                  <a:srgbClr val="1E1E1E"/>
                </a:solidFill>
              </a:rPr>
              <a:t>OOM</a:t>
            </a:r>
            <a:r>
              <a:rPr lang="zh-CN" altLang="en-US" sz="1125" dirty="0">
                <a:solidFill>
                  <a:srgbClr val="1E1E1E"/>
                </a:solidFill>
              </a:rPr>
              <a:t>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defTabSz="914376" hangingPunct="0">
              <a:lnSpc>
                <a:spcPct val="200000"/>
              </a:lnSpc>
            </a:pPr>
            <a:r>
              <a:rPr lang="zh-CN" altLang="en-US" sz="1125" dirty="0">
                <a:solidFill>
                  <a:srgbClr val="1E1E1E"/>
                </a:solidFill>
              </a:rPr>
              <a:t>     </a:t>
            </a:r>
            <a:r>
              <a:rPr lang="en" altLang="zh-CN" sz="1125" dirty="0" err="1">
                <a:solidFill>
                  <a:srgbClr val="1E1E1E"/>
                </a:solidFill>
              </a:rPr>
              <a:t>memcg</a:t>
            </a:r>
            <a:r>
              <a:rPr lang="zh-CN" altLang="en-US" sz="1125" dirty="0">
                <a:solidFill>
                  <a:srgbClr val="1E1E1E"/>
                </a:solidFill>
              </a:rPr>
              <a:t>全局最低水位线分级：调整直接内存回收顺序；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defTabSz="914376" hangingPunct="0">
              <a:lnSpc>
                <a:spcPct val="200000"/>
              </a:lnSpc>
            </a:pPr>
            <a:r>
              <a:rPr lang="zh-CN" altLang="en-US" sz="1125" dirty="0">
                <a:solidFill>
                  <a:srgbClr val="1E1E1E"/>
                </a:solidFill>
              </a:rPr>
              <a:t>     </a:t>
            </a:r>
            <a:r>
              <a:rPr lang="en-US" altLang="zh-CN" sz="1125" dirty="0" err="1">
                <a:solidFill>
                  <a:srgbClr val="1E1E1E"/>
                </a:solidFill>
              </a:rPr>
              <a:t>memcg</a:t>
            </a:r>
            <a:r>
              <a:rPr lang="zh-CN" altLang="en-US" sz="1125" dirty="0">
                <a:solidFill>
                  <a:srgbClr val="1E1E1E"/>
                </a:solidFill>
              </a:rPr>
              <a:t>异步回收：提前异步回收，尽可能避免同步回收；</a:t>
            </a:r>
            <a:endParaRPr lang="en-US" altLang="zh-CN" sz="1125" dirty="0">
              <a:solidFill>
                <a:srgbClr val="1E1E1E"/>
              </a:solidFill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D6EA76E-027B-3A43-7D2B-CA4A42A23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18" y="1447251"/>
            <a:ext cx="2940825" cy="331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29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第三阶段：常态混部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2AAF8B-68D0-F9B9-B7EF-7D7D97942A40}"/>
              </a:ext>
            </a:extLst>
          </p:cNvPr>
          <p:cNvSpPr txBox="1"/>
          <p:nvPr/>
        </p:nvSpPr>
        <p:spPr>
          <a:xfrm>
            <a:off x="406602" y="1073430"/>
            <a:ext cx="4419875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875" dirty="0" err="1">
                <a:solidFill>
                  <a:srgbClr val="1E1E1E"/>
                </a:solidFill>
              </a:rPr>
              <a:t>Qos</a:t>
            </a:r>
            <a:r>
              <a:rPr lang="zh-CN" altLang="en-US" sz="1875" dirty="0">
                <a:solidFill>
                  <a:srgbClr val="1E1E1E"/>
                </a:solidFill>
              </a:rPr>
              <a:t>分级</a:t>
            </a:r>
            <a:endParaRPr lang="en-US" altLang="zh-CN" sz="1875" dirty="0">
              <a:solidFill>
                <a:srgbClr val="1E1E1E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3086E7-FD44-C057-FC26-8D9B3C761DB0}"/>
              </a:ext>
            </a:extLst>
          </p:cNvPr>
          <p:cNvSpPr txBox="1"/>
          <p:nvPr/>
        </p:nvSpPr>
        <p:spPr>
          <a:xfrm>
            <a:off x="430526" y="1676720"/>
            <a:ext cx="4119367" cy="14234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125" dirty="0">
                <a:solidFill>
                  <a:srgbClr val="1E1E1E"/>
                </a:solidFill>
              </a:rPr>
              <a:t>k8s</a:t>
            </a:r>
            <a:r>
              <a:rPr lang="zh-CN" altLang="en-US" sz="1125" dirty="0">
                <a:solidFill>
                  <a:srgbClr val="1E1E1E"/>
                </a:solidFill>
              </a:rPr>
              <a:t>默认基于</a:t>
            </a:r>
            <a:r>
              <a:rPr lang="en-US" altLang="zh-CN" sz="1125" dirty="0">
                <a:solidFill>
                  <a:srgbClr val="1E1E1E"/>
                </a:solidFill>
              </a:rPr>
              <a:t>request/limit</a:t>
            </a:r>
            <a:r>
              <a:rPr lang="zh-CN" altLang="en-US" sz="1125" dirty="0">
                <a:solidFill>
                  <a:srgbClr val="1E1E1E"/>
                </a:solidFill>
              </a:rPr>
              <a:t>的隐式定义与业务场景不匹配，因此没有使用</a:t>
            </a:r>
            <a:r>
              <a:rPr lang="en-US" altLang="zh-CN" sz="1125" dirty="0">
                <a:solidFill>
                  <a:srgbClr val="1E1E1E"/>
                </a:solidFill>
              </a:rPr>
              <a:t>k8s</a:t>
            </a:r>
            <a:r>
              <a:rPr lang="zh-CN" altLang="en-US" sz="1125" dirty="0">
                <a:solidFill>
                  <a:srgbClr val="1E1E1E"/>
                </a:solidFill>
              </a:rPr>
              <a:t>原生</a:t>
            </a:r>
            <a:r>
              <a:rPr lang="en-US" altLang="zh-CN" sz="1125" dirty="0" err="1">
                <a:solidFill>
                  <a:srgbClr val="1E1E1E"/>
                </a:solidFill>
              </a:rPr>
              <a:t>Qos</a:t>
            </a:r>
            <a:r>
              <a:rPr lang="zh-CN" altLang="en-US" sz="1125" dirty="0">
                <a:solidFill>
                  <a:srgbClr val="1E1E1E"/>
                </a:solidFill>
              </a:rPr>
              <a:t>语义；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125" dirty="0" err="1">
                <a:solidFill>
                  <a:srgbClr val="1E1E1E"/>
                </a:solidFill>
              </a:rPr>
              <a:t>Qos</a:t>
            </a:r>
            <a:r>
              <a:rPr lang="zh-CN" altLang="en-US" sz="1125" dirty="0">
                <a:solidFill>
                  <a:srgbClr val="1E1E1E"/>
                </a:solidFill>
              </a:rPr>
              <a:t>等级默认语义可以被业务单独配置调整（</a:t>
            </a:r>
            <a:r>
              <a:rPr lang="zh-CN" altLang="en" sz="1125" dirty="0">
                <a:solidFill>
                  <a:srgbClr val="1E1E1E"/>
                </a:solidFill>
              </a:rPr>
              <a:t>不推荐</a:t>
            </a:r>
            <a:r>
              <a:rPr lang="zh-CN" altLang="en-US" sz="1125" dirty="0">
                <a:solidFill>
                  <a:srgbClr val="1E1E1E"/>
                </a:solidFill>
              </a:rPr>
              <a:t>）</a:t>
            </a:r>
            <a:r>
              <a:rPr lang="en-US" altLang="zh-CN" sz="1125" dirty="0">
                <a:solidFill>
                  <a:srgbClr val="1E1E1E"/>
                </a:solidFill>
              </a:rPr>
              <a:t>;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简化</a:t>
            </a:r>
            <a:r>
              <a:rPr lang="en-US" altLang="zh-CN" sz="1125" dirty="0" err="1">
                <a:solidFill>
                  <a:srgbClr val="1E1E1E"/>
                </a:solidFill>
              </a:rPr>
              <a:t>Qos</a:t>
            </a:r>
            <a:r>
              <a:rPr lang="zh-CN" altLang="en-US" sz="1125" dirty="0">
                <a:solidFill>
                  <a:srgbClr val="1E1E1E"/>
                </a:solidFill>
              </a:rPr>
              <a:t>等级，特化需求通过</a:t>
            </a:r>
            <a:r>
              <a:rPr lang="en-US" altLang="zh-CN" sz="1125" dirty="0">
                <a:solidFill>
                  <a:srgbClr val="1E1E1E"/>
                </a:solidFill>
              </a:rPr>
              <a:t>annotation</a:t>
            </a:r>
            <a:r>
              <a:rPr lang="zh-CN" altLang="en-US" sz="1125" dirty="0">
                <a:solidFill>
                  <a:srgbClr val="1E1E1E"/>
                </a:solidFill>
              </a:rPr>
              <a:t>自定义调整；</a:t>
            </a:r>
            <a:endParaRPr lang="en-US" altLang="zh-CN" sz="1125" dirty="0">
              <a:solidFill>
                <a:srgbClr val="1E1E1E"/>
              </a:solidFill>
            </a:endParaRPr>
          </a:p>
        </p:txBody>
      </p:sp>
      <p:graphicFrame>
        <p:nvGraphicFramePr>
          <p:cNvPr id="20" name="表格 7">
            <a:extLst>
              <a:ext uri="{FF2B5EF4-FFF2-40B4-BE49-F238E27FC236}">
                <a16:creationId xmlns:a16="http://schemas.microsoft.com/office/drawing/2014/main" id="{6B9E2D11-5A78-8C2C-F448-F95950264502}"/>
              </a:ext>
            </a:extLst>
          </p:cNvPr>
          <p:cNvGraphicFramePr>
            <a:graphicFrameLocks noGrp="1"/>
          </p:cNvGraphicFramePr>
          <p:nvPr/>
        </p:nvGraphicFramePr>
        <p:xfrm>
          <a:off x="446474" y="3195880"/>
          <a:ext cx="4119367" cy="11684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0837">
                  <a:extLst>
                    <a:ext uri="{9D8B030D-6E8A-4147-A177-3AD203B41FA5}">
                      <a16:colId xmlns:a16="http://schemas.microsoft.com/office/drawing/2014/main" val="2811126402"/>
                    </a:ext>
                  </a:extLst>
                </a:gridCol>
                <a:gridCol w="2888530">
                  <a:extLst>
                    <a:ext uri="{9D8B030D-6E8A-4147-A177-3AD203B41FA5}">
                      <a16:colId xmlns:a16="http://schemas.microsoft.com/office/drawing/2014/main" val="1438279636"/>
                    </a:ext>
                  </a:extLst>
                </a:gridCol>
              </a:tblGrid>
              <a:tr h="27048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 err="1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Qos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等级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说明</a:t>
                      </a: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3063497638"/>
                  </a:ext>
                </a:extLst>
              </a:tr>
              <a:tr h="299323"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Latency-sensitive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14288" marR="14288" marT="14288" marB="10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最高</a:t>
                      </a:r>
                      <a:r>
                        <a:rPr lang="en-US" altLang="zh-CN" sz="900" b="0" i="0" u="none" strike="noStrike" cap="none" spc="0" baseline="0" dirty="0" err="1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Qos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保障等级，延迟极为敏感服务</a:t>
                      </a: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2309774457"/>
                  </a:ext>
                </a:extLst>
              </a:tr>
              <a:tr h="299323"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mid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14288" marR="14288" marT="14288" marB="10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默认</a:t>
                      </a:r>
                      <a:r>
                        <a:rPr lang="en-US" altLang="zh-CN" sz="900" b="0" i="0" u="none" strike="noStrike" cap="none" spc="0" baseline="0" dirty="0" err="1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Qos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保障等级，容忍部分干扰延迟</a:t>
                      </a: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414532833"/>
                  </a:ext>
                </a:extLst>
              </a:tr>
              <a:tr h="299323"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batch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14288" marR="14288" marT="14288" marB="10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最低</a:t>
                      </a:r>
                      <a:r>
                        <a:rPr lang="en-US" altLang="zh-CN" sz="900" b="0" i="0" u="none" strike="noStrike" cap="none" spc="0" baseline="0" dirty="0" err="1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Qos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保障等级，延迟不敏感，资源随时可能被抢占</a:t>
                      </a: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701806818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C37E66F4-7E55-FF51-8476-EF3E8B679072}"/>
              </a:ext>
            </a:extLst>
          </p:cNvPr>
          <p:cNvGraphicFramePr>
            <a:graphicFrameLocks noGrp="1"/>
          </p:cNvGraphicFramePr>
          <p:nvPr/>
        </p:nvGraphicFramePr>
        <p:xfrm>
          <a:off x="4916326" y="1366193"/>
          <a:ext cx="3821071" cy="29750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5078">
                  <a:extLst>
                    <a:ext uri="{9D8B030D-6E8A-4147-A177-3AD203B41FA5}">
                      <a16:colId xmlns:a16="http://schemas.microsoft.com/office/drawing/2014/main" val="3947951890"/>
                    </a:ext>
                  </a:extLst>
                </a:gridCol>
                <a:gridCol w="773813">
                  <a:extLst>
                    <a:ext uri="{9D8B030D-6E8A-4147-A177-3AD203B41FA5}">
                      <a16:colId xmlns:a16="http://schemas.microsoft.com/office/drawing/2014/main" val="3676972623"/>
                    </a:ext>
                  </a:extLst>
                </a:gridCol>
                <a:gridCol w="877566">
                  <a:extLst>
                    <a:ext uri="{9D8B030D-6E8A-4147-A177-3AD203B41FA5}">
                      <a16:colId xmlns:a16="http://schemas.microsoft.com/office/drawing/2014/main" val="3715830443"/>
                    </a:ext>
                  </a:extLst>
                </a:gridCol>
                <a:gridCol w="846225">
                  <a:extLst>
                    <a:ext uri="{9D8B030D-6E8A-4147-A177-3AD203B41FA5}">
                      <a16:colId xmlns:a16="http://schemas.microsoft.com/office/drawing/2014/main" val="1088062052"/>
                    </a:ext>
                  </a:extLst>
                </a:gridCol>
                <a:gridCol w="838389">
                  <a:extLst>
                    <a:ext uri="{9D8B030D-6E8A-4147-A177-3AD203B41FA5}">
                      <a16:colId xmlns:a16="http://schemas.microsoft.com/office/drawing/2014/main" val="1096582775"/>
                    </a:ext>
                  </a:extLst>
                </a:gridCol>
              </a:tblGrid>
              <a:tr h="27048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资源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特性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marL="0" marR="0" lvl="0" indent="0" algn="ctr" defTabSz="8255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Latency-sensitive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mid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batch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3093177898"/>
                  </a:ext>
                </a:extLst>
              </a:tr>
              <a:tr h="270201">
                <a:tc rowSpan="6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CPU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" altLang="zh-CN" sz="900" b="0" i="0" u="none" strike="noStrike" cap="none" spc="0" baseline="0" dirty="0" err="1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cpu</a:t>
                      </a:r>
                      <a:r>
                        <a:rPr lang="en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 burst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" altLang="zh-CN" sz="900" b="0" i="0" u="none" strike="noStrike" cap="none" spc="0" baseline="0" dirty="0" err="1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enabl</a:t>
                      </a: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e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enable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disable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3716859849"/>
                  </a:ext>
                </a:extLst>
              </a:tr>
              <a:tr h="270486">
                <a:tc vMerge="1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调度优先级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最高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默认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低</a:t>
                      </a: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624117499"/>
                  </a:ext>
                </a:extLst>
              </a:tr>
              <a:tr h="270486">
                <a:tc vMerge="1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绑核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share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（默认）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share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（默认）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reclaimed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2222513250"/>
                  </a:ext>
                </a:extLst>
              </a:tr>
              <a:tr h="270486">
                <a:tc vMerge="1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 err="1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Numa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亲和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强保证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marL="0" marR="0" lvl="0" indent="0" algn="ctr" defTabSz="8255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Prefer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（默认）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disable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3325119517"/>
                  </a:ext>
                </a:extLst>
              </a:tr>
              <a:tr h="270486">
                <a:tc vMerge="1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L3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 </a:t>
                      </a: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cache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100%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100%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（默认）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30%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（默认）</a:t>
                      </a: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3697766156"/>
                  </a:ext>
                </a:extLst>
              </a:tr>
              <a:tr h="270486">
                <a:tc vMerge="1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内存带宽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100%</a:t>
                      </a:r>
                      <a:endParaRPr lang="zh-CN" altLang="en-US" sz="9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100%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（默认）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30%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（默认）</a:t>
                      </a: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948965321"/>
                  </a:ext>
                </a:extLst>
              </a:tr>
              <a:tr h="270486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内存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OOM</a:t>
                      </a: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优先级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最低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默认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最高</a:t>
                      </a: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3210974680"/>
                  </a:ext>
                </a:extLst>
              </a:tr>
              <a:tr h="270486">
                <a:tc vMerge="1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内存回收水线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调高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默认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调低</a:t>
                      </a: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3163672061"/>
                  </a:ext>
                </a:extLst>
              </a:tr>
              <a:tr h="270486">
                <a:tc row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网络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吞吐</a:t>
                      </a:r>
                      <a:r>
                        <a:rPr lang="en" altLang="zh-CN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bps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不限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不限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限制上限</a:t>
                      </a: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4162588336"/>
                  </a:ext>
                </a:extLst>
              </a:tr>
              <a:tr h="270486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24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Apple Braille" pitchFamily="2" charset="0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255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优先级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最高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中等</a:t>
                      </a:r>
                    </a:p>
                  </a:txBody>
                  <a:tcPr marL="34290" marR="34290" marT="17145" marB="1714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9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Alibaba PuHuiTi 2 45 Light"/>
                        </a:rPr>
                        <a:t>最低</a:t>
                      </a: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1047907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632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第三阶段：常态混部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8" name="表格 8">
            <a:extLst>
              <a:ext uri="{FF2B5EF4-FFF2-40B4-BE49-F238E27FC236}">
                <a16:creationId xmlns:a16="http://schemas.microsoft.com/office/drawing/2014/main" id="{13E8C054-AEB2-9CA3-BA72-0453640F2AF8}"/>
              </a:ext>
            </a:extLst>
          </p:cNvPr>
          <p:cNvGraphicFramePr>
            <a:graphicFrameLocks noGrp="1"/>
          </p:cNvGraphicFramePr>
          <p:nvPr/>
        </p:nvGraphicFramePr>
        <p:xfrm>
          <a:off x="286987" y="2259967"/>
          <a:ext cx="3901917" cy="2230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2917">
                  <a:extLst>
                    <a:ext uri="{9D8B030D-6E8A-4147-A177-3AD203B41FA5}">
                      <a16:colId xmlns:a16="http://schemas.microsoft.com/office/drawing/2014/main" val="1698629578"/>
                    </a:ext>
                  </a:extLst>
                </a:gridCol>
                <a:gridCol w="1948964">
                  <a:extLst>
                    <a:ext uri="{9D8B030D-6E8A-4147-A177-3AD203B41FA5}">
                      <a16:colId xmlns:a16="http://schemas.microsoft.com/office/drawing/2014/main" val="2081335373"/>
                    </a:ext>
                  </a:extLst>
                </a:gridCol>
                <a:gridCol w="1480036">
                  <a:extLst>
                    <a:ext uri="{9D8B030D-6E8A-4147-A177-3AD203B41FA5}">
                      <a16:colId xmlns:a16="http://schemas.microsoft.com/office/drawing/2014/main" val="239549840"/>
                    </a:ext>
                  </a:extLst>
                </a:gridCol>
              </a:tblGrid>
              <a:tr h="27913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类型</a:t>
                      </a:r>
                    </a:p>
                  </a:txBody>
                  <a:tcPr marL="34290" marR="34290" marT="17145" marB="171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特性</a:t>
                      </a:r>
                    </a:p>
                  </a:txBody>
                  <a:tcPr marL="34290" marR="34290" marT="17145" marB="171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适合负载类型</a:t>
                      </a:r>
                    </a:p>
                  </a:txBody>
                  <a:tcPr marL="34290" marR="34290" marT="17145" marB="17145" anchor="ctr"/>
                </a:tc>
                <a:extLst>
                  <a:ext uri="{0D108BD9-81ED-4DB2-BD59-A6C34878D82A}">
                    <a16:rowId xmlns:a16="http://schemas.microsoft.com/office/drawing/2014/main" val="2884679796"/>
                  </a:ext>
                </a:extLst>
              </a:tr>
              <a:tr h="459701"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zh-CN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exclusive</a:t>
                      </a:r>
                      <a:endParaRPr lang="zh-CN" altLang="en-US" sz="8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14288" marR="14288" marT="14288" marB="10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绑定</a:t>
                      </a:r>
                      <a:r>
                        <a:rPr lang="en-US" altLang="zh-CN" sz="800" b="0" i="0" u="none" strike="noStrike" cap="none" spc="0" baseline="0" dirty="0" err="1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cpuset</a:t>
                      </a: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调度域，</a:t>
                      </a:r>
                      <a:r>
                        <a:rPr lang="en-US" altLang="zh-CN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CCD</a:t>
                      </a: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感知，</a:t>
                      </a:r>
                      <a:r>
                        <a:rPr lang="en-US" altLang="zh-CN" sz="800" b="0" i="0" u="none" strike="noStrike" cap="none" spc="0" baseline="0" dirty="0" err="1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numa</a:t>
                      </a: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 绑定，独占排他</a:t>
                      </a:r>
                    </a:p>
                  </a:txBody>
                  <a:tcPr marL="34290" marR="34290" marT="17145" marB="1714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极为敏感的搜推广大规格延迟敏感服务</a:t>
                      </a:r>
                    </a:p>
                  </a:txBody>
                  <a:tcPr marL="34290" marR="34290" marT="17145" marB="17145"/>
                </a:tc>
                <a:extLst>
                  <a:ext uri="{0D108BD9-81ED-4DB2-BD59-A6C34878D82A}">
                    <a16:rowId xmlns:a16="http://schemas.microsoft.com/office/drawing/2014/main" val="3324105738"/>
                  </a:ext>
                </a:extLst>
              </a:tr>
              <a:tr h="688301"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zh-CN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share</a:t>
                      </a:r>
                      <a:endParaRPr lang="zh-CN" altLang="en-US" sz="8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14288" marR="14288" marT="14288" marB="10716" anchor="ctr"/>
                </a:tc>
                <a:tc>
                  <a:txBody>
                    <a:bodyPr/>
                    <a:lstStyle/>
                    <a:p>
                      <a:pPr marL="0" marR="0" lvl="0" indent="0" algn="l" defTabSz="8255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绑定</a:t>
                      </a:r>
                      <a:r>
                        <a:rPr lang="en-US" altLang="zh-CN" sz="800" b="0" i="0" u="none" strike="noStrike" cap="none" spc="0" baseline="0" dirty="0" err="1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cpuset</a:t>
                      </a: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调度域，</a:t>
                      </a:r>
                      <a:r>
                        <a:rPr lang="en-US" altLang="zh-CN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CCD</a:t>
                      </a: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感知，</a:t>
                      </a:r>
                      <a:r>
                        <a:rPr lang="en-US" altLang="zh-CN" sz="800" b="0" i="0" u="none" strike="noStrike" cap="none" spc="0" baseline="0" dirty="0" err="1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numa</a:t>
                      </a: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 （可选）绑定，</a:t>
                      </a:r>
                      <a:r>
                        <a:rPr lang="en-US" altLang="zh-CN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share/</a:t>
                      </a:r>
                      <a:r>
                        <a:rPr lang="en-US" altLang="zh-CN" sz="800" b="0" i="0" u="none" strike="noStrike" cap="none" spc="0" baseline="0" dirty="0" err="1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exlusive</a:t>
                      </a: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 排他，可与</a:t>
                      </a:r>
                      <a:r>
                        <a:rPr lang="en-US" altLang="zh-CN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none</a:t>
                      </a: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类型业务共享核</a:t>
                      </a:r>
                    </a:p>
                  </a:txBody>
                  <a:tcPr marL="34290" marR="34290" marT="17145" marB="17145"/>
                </a:tc>
                <a:tc>
                  <a:txBody>
                    <a:bodyPr/>
                    <a:lstStyle/>
                    <a:p>
                      <a:pPr marL="0" marR="0" lvl="0" indent="0" algn="l" defTabSz="8255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容忍部分干扰的</a:t>
                      </a:r>
                      <a:r>
                        <a:rPr lang="en-US" altLang="zh-CN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Java</a:t>
                      </a: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微服务，应用网关，</a:t>
                      </a:r>
                      <a:r>
                        <a:rPr lang="en-US" altLang="zh-CN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web</a:t>
                      </a: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服务</a:t>
                      </a:r>
                    </a:p>
                  </a:txBody>
                  <a:tcPr marL="34290" marR="34290" marT="17145" marB="17145"/>
                </a:tc>
                <a:extLst>
                  <a:ext uri="{0D108BD9-81ED-4DB2-BD59-A6C34878D82A}">
                    <a16:rowId xmlns:a16="http://schemas.microsoft.com/office/drawing/2014/main" val="547962575"/>
                  </a:ext>
                </a:extLst>
              </a:tr>
              <a:tr h="460758"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zh-CN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reclaimed</a:t>
                      </a:r>
                      <a:endParaRPr lang="zh-CN" altLang="en-US" sz="800" b="0" i="0" u="none" strike="noStrike" cap="none" spc="0" baseline="0" dirty="0">
                        <a:solidFill>
                          <a:srgbClr val="333333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Alibaba PuHuiTi 2 45 Light"/>
                      </a:endParaRPr>
                    </a:p>
                  </a:txBody>
                  <a:tcPr marL="14288" marR="14288" marT="14288" marB="10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无</a:t>
                      </a:r>
                      <a:r>
                        <a:rPr lang="en-US" altLang="zh-CN" sz="800" b="0" i="0" u="none" strike="noStrike" cap="none" spc="0" baseline="0" dirty="0" err="1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cpuset</a:t>
                      </a: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绑定，可能与非</a:t>
                      </a:r>
                      <a:r>
                        <a:rPr lang="en-US" altLang="zh-CN" sz="800" b="0" i="0" u="none" strike="noStrike" cap="none" spc="0" baseline="0" dirty="0" err="1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exlusive</a:t>
                      </a: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绑核模式业务共享核，核的分配完全交由内核</a:t>
                      </a:r>
                    </a:p>
                  </a:txBody>
                  <a:tcPr marL="34290" marR="34290" marT="17145" marB="17145"/>
                </a:tc>
                <a:tc>
                  <a:txBody>
                    <a:bodyPr/>
                    <a:lstStyle/>
                    <a:p>
                      <a:pPr marL="0" marR="0" lvl="0" indent="0" algn="l" defTabSz="8255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batch</a:t>
                      </a: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类离线服务，对延迟无要求的计算服务，转码，</a:t>
                      </a:r>
                      <a:r>
                        <a:rPr lang="en-US" altLang="zh-CN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spark</a:t>
                      </a:r>
                      <a:r>
                        <a:rPr lang="zh-CN" altLang="en-US" sz="800" b="0" i="0" u="none" strike="noStrike" cap="none" spc="0" baseline="0" dirty="0">
                          <a:solidFill>
                            <a:srgbClr val="333333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Alibaba PuHuiTi 2 45 Light"/>
                        </a:rPr>
                        <a:t>，训练</a:t>
                      </a:r>
                    </a:p>
                  </a:txBody>
                  <a:tcPr marL="34290" marR="34290" marT="17145" marB="17145"/>
                </a:tc>
                <a:extLst>
                  <a:ext uri="{0D108BD9-81ED-4DB2-BD59-A6C34878D82A}">
                    <a16:rowId xmlns:a16="http://schemas.microsoft.com/office/drawing/2014/main" val="2337246289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B128D179-BB13-E2DF-56C2-F9FAC071116D}"/>
              </a:ext>
            </a:extLst>
          </p:cNvPr>
          <p:cNvSpPr txBox="1"/>
          <p:nvPr/>
        </p:nvSpPr>
        <p:spPr>
          <a:xfrm>
            <a:off x="263063" y="1132861"/>
            <a:ext cx="4419875" cy="9618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精细化</a:t>
            </a:r>
            <a:r>
              <a:rPr lang="en-US" altLang="zh-CN" sz="1875" dirty="0">
                <a:solidFill>
                  <a:srgbClr val="1E1E1E"/>
                </a:solidFill>
              </a:rPr>
              <a:t>CPU</a:t>
            </a:r>
            <a:r>
              <a:rPr lang="zh-CN" altLang="en-US" sz="1875" dirty="0">
                <a:solidFill>
                  <a:srgbClr val="1E1E1E"/>
                </a:solidFill>
              </a:rPr>
              <a:t>核编排</a:t>
            </a: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设计思路：稳定性与利用率之间的折中；</a:t>
            </a:r>
            <a:endParaRPr lang="en-US" altLang="zh-CN" sz="1125" dirty="0">
              <a:solidFill>
                <a:srgbClr val="1E1E1E"/>
              </a:solidFill>
            </a:endParaRPr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CF5E2274-DA44-17DD-07F1-ED028CE02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464" y="1472291"/>
            <a:ext cx="4611434" cy="136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>
            <a:extLst>
              <a:ext uri="{FF2B5EF4-FFF2-40B4-BE49-F238E27FC236}">
                <a16:creationId xmlns:a16="http://schemas.microsoft.com/office/drawing/2014/main" id="{58EFAEF9-CD56-2E1A-E651-C116EC0E9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852" y="2974331"/>
            <a:ext cx="2203661" cy="1449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0">
            <a:extLst>
              <a:ext uri="{FF2B5EF4-FFF2-40B4-BE49-F238E27FC236}">
                <a16:creationId xmlns:a16="http://schemas.microsoft.com/office/drawing/2014/main" id="{9379F3FA-233B-41EE-8571-0B0129504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202" y="2961181"/>
            <a:ext cx="2208605" cy="1449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439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8831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第四阶段：统一调度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668F3A-3218-2AA0-28D3-A0330B146A5F}"/>
              </a:ext>
            </a:extLst>
          </p:cNvPr>
          <p:cNvSpPr txBox="1"/>
          <p:nvPr/>
        </p:nvSpPr>
        <p:spPr>
          <a:xfrm>
            <a:off x="387375" y="1174279"/>
            <a:ext cx="4295958" cy="39626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场景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搜推广算法场景，基于</a:t>
            </a:r>
            <a:r>
              <a:rPr lang="en-US" altLang="zh-CN" sz="1125" dirty="0">
                <a:solidFill>
                  <a:srgbClr val="1E1E1E"/>
                </a:solidFill>
              </a:rPr>
              <a:t>spark</a:t>
            </a:r>
            <a:r>
              <a:rPr lang="zh-CN" altLang="en-US" sz="1125" dirty="0">
                <a:solidFill>
                  <a:srgbClr val="1E1E1E"/>
                </a:solidFill>
              </a:rPr>
              <a:t>的海量数据预处理，生成样本数据；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数仓场景，基于</a:t>
            </a:r>
            <a:r>
              <a:rPr lang="en-US" altLang="zh-CN" sz="1125" dirty="0">
                <a:solidFill>
                  <a:srgbClr val="1E1E1E"/>
                </a:solidFill>
              </a:rPr>
              <a:t>spark</a:t>
            </a:r>
            <a:r>
              <a:rPr lang="zh-CN" altLang="en-US" sz="1125" dirty="0">
                <a:solidFill>
                  <a:srgbClr val="1E1E1E"/>
                </a:solidFill>
              </a:rPr>
              <a:t>的</a:t>
            </a:r>
            <a:r>
              <a:rPr lang="en-US" altLang="zh-CN" sz="1125" dirty="0">
                <a:solidFill>
                  <a:srgbClr val="1E1E1E"/>
                </a:solidFill>
              </a:rPr>
              <a:t>SQL</a:t>
            </a:r>
            <a:r>
              <a:rPr lang="zh-CN" altLang="en-US" sz="1125" dirty="0">
                <a:solidFill>
                  <a:srgbClr val="1E1E1E"/>
                </a:solidFill>
              </a:rPr>
              <a:t>类场景；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125" dirty="0">
                <a:solidFill>
                  <a:srgbClr val="1E1E1E"/>
                </a:solidFill>
              </a:rPr>
              <a:t>Spark</a:t>
            </a:r>
            <a:r>
              <a:rPr lang="zh-CN" altLang="en-US" sz="1125" dirty="0">
                <a:solidFill>
                  <a:srgbClr val="1E1E1E"/>
                </a:solidFill>
              </a:rPr>
              <a:t>基于</a:t>
            </a:r>
            <a:r>
              <a:rPr lang="en-US" altLang="zh-CN" sz="1125" dirty="0">
                <a:solidFill>
                  <a:srgbClr val="1E1E1E"/>
                </a:solidFill>
              </a:rPr>
              <a:t>Hadoop</a:t>
            </a:r>
            <a:r>
              <a:rPr lang="zh-CN" altLang="en-US" sz="1125" dirty="0">
                <a:solidFill>
                  <a:srgbClr val="1E1E1E"/>
                </a:solidFill>
              </a:rPr>
              <a:t>生态</a:t>
            </a:r>
            <a:r>
              <a:rPr lang="en-US" altLang="zh-CN" sz="1125" dirty="0">
                <a:solidFill>
                  <a:srgbClr val="1E1E1E"/>
                </a:solidFill>
              </a:rPr>
              <a:t>Yarn</a:t>
            </a:r>
            <a:r>
              <a:rPr lang="zh-CN" altLang="en-US" sz="1125" dirty="0">
                <a:solidFill>
                  <a:srgbClr val="1E1E1E"/>
                </a:solidFill>
              </a:rPr>
              <a:t>调度框架；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设计目标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离线作业的提交入口依然为</a:t>
            </a:r>
            <a:r>
              <a:rPr lang="en-US" altLang="zh-CN" sz="1125" dirty="0">
                <a:solidFill>
                  <a:srgbClr val="1E1E1E"/>
                </a:solidFill>
              </a:rPr>
              <a:t>Yarn</a:t>
            </a:r>
            <a:r>
              <a:rPr lang="zh-CN" altLang="en-US" sz="1125" dirty="0">
                <a:solidFill>
                  <a:srgbClr val="1E1E1E"/>
                </a:solidFill>
              </a:rPr>
              <a:t>保持不变；</a:t>
            </a: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基于</a:t>
            </a:r>
            <a:r>
              <a:rPr lang="en-US" altLang="zh-CN" sz="1125" dirty="0">
                <a:solidFill>
                  <a:srgbClr val="1E1E1E"/>
                </a:solidFill>
              </a:rPr>
              <a:t>Hadoop Yarn</a:t>
            </a:r>
            <a:r>
              <a:rPr lang="zh-CN" altLang="en-US" sz="1125" dirty="0">
                <a:solidFill>
                  <a:srgbClr val="1E1E1E"/>
                </a:solidFill>
              </a:rPr>
              <a:t>开源版本，原则上不对</a:t>
            </a:r>
            <a:r>
              <a:rPr lang="en-US" altLang="zh-CN" sz="1125" dirty="0">
                <a:solidFill>
                  <a:srgbClr val="1E1E1E"/>
                </a:solidFill>
              </a:rPr>
              <a:t>Yarn</a:t>
            </a:r>
            <a:r>
              <a:rPr lang="zh-CN" altLang="en-US" sz="1125" dirty="0">
                <a:solidFill>
                  <a:srgbClr val="1E1E1E"/>
                </a:solidFill>
              </a:rPr>
              <a:t>做侵入式改造；</a:t>
            </a: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兼容线上已有的混部业务场景，转码</a:t>
            </a:r>
            <a:r>
              <a:rPr lang="en-US" altLang="zh-CN" sz="1125" dirty="0">
                <a:solidFill>
                  <a:srgbClr val="1E1E1E"/>
                </a:solidFill>
              </a:rPr>
              <a:t>(k8s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pod)</a:t>
            </a:r>
            <a:r>
              <a:rPr lang="zh-CN" altLang="en-US" sz="1125" dirty="0">
                <a:solidFill>
                  <a:srgbClr val="1E1E1E"/>
                </a:solidFill>
              </a:rPr>
              <a:t>，算法推理训练</a:t>
            </a:r>
            <a:r>
              <a:rPr lang="en-US" altLang="zh-CN" sz="1125" dirty="0">
                <a:solidFill>
                  <a:srgbClr val="1E1E1E"/>
                </a:solidFill>
              </a:rPr>
              <a:t>(k8s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pod) </a:t>
            </a:r>
            <a:r>
              <a:rPr lang="zh-CN" altLang="en-US" sz="1125" dirty="0">
                <a:solidFill>
                  <a:srgbClr val="1E1E1E"/>
                </a:solidFill>
              </a:rPr>
              <a:t>，</a:t>
            </a:r>
            <a:r>
              <a:rPr lang="en-US" altLang="zh-CN" sz="1125" dirty="0">
                <a:solidFill>
                  <a:srgbClr val="1E1E1E"/>
                </a:solidFill>
              </a:rPr>
              <a:t>spark</a:t>
            </a:r>
            <a:r>
              <a:rPr lang="zh-CN" altLang="en-US" sz="1125" dirty="0">
                <a:solidFill>
                  <a:srgbClr val="1E1E1E"/>
                </a:solidFill>
              </a:rPr>
              <a:t> 任务</a:t>
            </a:r>
            <a:r>
              <a:rPr lang="en-US" altLang="zh-CN" sz="1125" dirty="0">
                <a:solidFill>
                  <a:srgbClr val="1E1E1E"/>
                </a:solidFill>
              </a:rPr>
              <a:t>(Yarn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job)</a:t>
            </a:r>
            <a:r>
              <a:rPr lang="zh-CN" altLang="en-US" sz="1125" dirty="0">
                <a:solidFill>
                  <a:srgbClr val="1E1E1E"/>
                </a:solidFill>
              </a:rPr>
              <a:t>可能跑在同一资源池，同一节点；</a:t>
            </a: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单机</a:t>
            </a:r>
            <a:r>
              <a:rPr lang="en-US" altLang="zh-CN" sz="1125" dirty="0">
                <a:solidFill>
                  <a:srgbClr val="1E1E1E"/>
                </a:solidFill>
              </a:rPr>
              <a:t>QoS</a:t>
            </a:r>
            <a:r>
              <a:rPr lang="zh-CN" altLang="en-US" sz="1125" dirty="0">
                <a:solidFill>
                  <a:srgbClr val="1E1E1E"/>
                </a:solidFill>
              </a:rPr>
              <a:t>策略统一管理，并兼容</a:t>
            </a:r>
            <a:r>
              <a:rPr lang="en-US" altLang="zh-CN" sz="1125" dirty="0">
                <a:solidFill>
                  <a:srgbClr val="1E1E1E"/>
                </a:solidFill>
              </a:rPr>
              <a:t>YARN Task</a:t>
            </a:r>
            <a:r>
              <a:rPr lang="zh-CN" altLang="en-US" sz="1125" dirty="0">
                <a:solidFill>
                  <a:srgbClr val="1E1E1E"/>
                </a:solidFill>
              </a:rPr>
              <a:t>的运行时；</a:t>
            </a:r>
            <a:endParaRPr lang="en-US" altLang="zh-CN" sz="1125" dirty="0">
              <a:solidFill>
                <a:srgbClr val="1E1E1E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E439CC-8CD9-35FB-7E3D-C0EEF065D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904" y="1305169"/>
            <a:ext cx="3735596" cy="40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46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8831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第四阶段：统一调度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88C517-336D-7CDF-27C6-4805D09B1E06}"/>
              </a:ext>
            </a:extLst>
          </p:cNvPr>
          <p:cNvSpPr txBox="1"/>
          <p:nvPr/>
        </p:nvSpPr>
        <p:spPr>
          <a:xfrm>
            <a:off x="319122" y="1499577"/>
            <a:ext cx="3710542" cy="29931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资源视图同步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125" dirty="0" err="1">
                <a:solidFill>
                  <a:srgbClr val="1E1E1E"/>
                </a:solidFill>
              </a:rPr>
              <a:t>koord</a:t>
            </a:r>
            <a:r>
              <a:rPr lang="en-US" altLang="zh-CN" sz="1125" dirty="0">
                <a:solidFill>
                  <a:srgbClr val="1E1E1E"/>
                </a:solidFill>
              </a:rPr>
              <a:t>-yarn-operator</a:t>
            </a:r>
            <a:r>
              <a:rPr lang="zh-CN" altLang="en-US" sz="1125" dirty="0">
                <a:solidFill>
                  <a:srgbClr val="1E1E1E"/>
                </a:solidFill>
              </a:rPr>
              <a:t> ：支持</a:t>
            </a:r>
            <a:r>
              <a:rPr lang="en-US" altLang="zh-CN" sz="1125" dirty="0">
                <a:solidFill>
                  <a:srgbClr val="1E1E1E"/>
                </a:solidFill>
              </a:rPr>
              <a:t>k8s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yarn</a:t>
            </a:r>
            <a:r>
              <a:rPr lang="zh-CN" altLang="en-US" sz="1125" dirty="0">
                <a:solidFill>
                  <a:srgbClr val="1E1E1E"/>
                </a:solidFill>
              </a:rPr>
              <a:t>调度器资源视图双向同步；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节点资源冲突仲裁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1E1E1E"/>
                </a:solidFill>
              </a:rPr>
              <a:t>copilot</a:t>
            </a:r>
            <a:r>
              <a:rPr lang="zh-CN" altLang="en-US" sz="1200" dirty="0">
                <a:solidFill>
                  <a:srgbClr val="1E1E1E"/>
                </a:solidFill>
              </a:rPr>
              <a:t>：</a:t>
            </a:r>
            <a:r>
              <a:rPr lang="en-US" altLang="zh-CN" sz="1200" dirty="0">
                <a:solidFill>
                  <a:srgbClr val="1E1E1E"/>
                </a:solidFill>
              </a:rPr>
              <a:t>NM</a:t>
            </a:r>
            <a:r>
              <a:rPr lang="zh-CN" altLang="en-US" sz="1200" dirty="0">
                <a:solidFill>
                  <a:srgbClr val="1E1E1E"/>
                </a:solidFill>
              </a:rPr>
              <a:t> 操作代理，提供管控接口；</a:t>
            </a:r>
            <a:endParaRPr lang="en-US" altLang="zh-CN" sz="1200" dirty="0">
              <a:solidFill>
                <a:srgbClr val="1E1E1E"/>
              </a:solidFill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 err="1">
                <a:solidFill>
                  <a:srgbClr val="1E1E1E"/>
                </a:solidFill>
              </a:rPr>
              <a:t>koordlet</a:t>
            </a:r>
            <a:r>
              <a:rPr lang="zh-CN" altLang="en-US" sz="1200" dirty="0">
                <a:solidFill>
                  <a:srgbClr val="1E1E1E"/>
                </a:solidFill>
              </a:rPr>
              <a:t>：离线资源上报，节点离线</a:t>
            </a:r>
            <a:r>
              <a:rPr lang="en-US" altLang="zh-CN" sz="1200" dirty="0">
                <a:solidFill>
                  <a:srgbClr val="1E1E1E"/>
                </a:solidFill>
              </a:rPr>
              <a:t>Pod/task</a:t>
            </a:r>
            <a:r>
              <a:rPr lang="zh-CN" altLang="en-US" sz="1200" dirty="0">
                <a:solidFill>
                  <a:srgbClr val="1E1E1E"/>
                </a:solidFill>
              </a:rPr>
              <a:t>管理，冲突解决，驱逐，压制策略；</a:t>
            </a:r>
            <a:endParaRPr lang="en-US" altLang="zh-CN" sz="1200" dirty="0">
              <a:solidFill>
                <a:srgbClr val="1E1E1E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7E663FD-3C6B-77D9-8C34-17DFD9C37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018" y="1677161"/>
            <a:ext cx="4495370" cy="26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84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8831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第四阶段：统一调度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C16F0A-EC14-4FA7-EF9E-FA096CF3F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94" y="2208011"/>
            <a:ext cx="4239830" cy="23638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46C3A1E-6D72-2AF7-071B-EC22483C29F3}"/>
              </a:ext>
            </a:extLst>
          </p:cNvPr>
          <p:cNvSpPr txBox="1"/>
          <p:nvPr/>
        </p:nvSpPr>
        <p:spPr>
          <a:xfrm>
            <a:off x="4849525" y="1593687"/>
            <a:ext cx="3722976" cy="32412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71450" indent="-171450" defTabSz="914376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同步流程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25" dirty="0">
                <a:solidFill>
                  <a:srgbClr val="1E1E1E"/>
                </a:solidFill>
              </a:rPr>
              <a:t>k8s-&gt;Yarn</a:t>
            </a:r>
            <a:r>
              <a:rPr lang="zh-CN" altLang="en-US" sz="1125" dirty="0">
                <a:solidFill>
                  <a:srgbClr val="1E1E1E"/>
                </a:solidFill>
              </a:rPr>
              <a:t> 可分配：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defTabSz="914376" hangingPunct="0">
              <a:lnSpc>
                <a:spcPct val="150000"/>
              </a:lnSpc>
            </a:pPr>
            <a:r>
              <a:rPr lang="zh-CN" altLang="en-US" sz="1125" dirty="0">
                <a:solidFill>
                  <a:srgbClr val="1E1E1E"/>
                </a:solidFill>
              </a:rPr>
              <a:t>     节点离线总可用 </a:t>
            </a:r>
            <a:r>
              <a:rPr lang="en-US" altLang="zh-CN" sz="1125" dirty="0">
                <a:solidFill>
                  <a:srgbClr val="1E1E1E"/>
                </a:solidFill>
              </a:rPr>
              <a:t>-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k8s</a:t>
            </a:r>
            <a:r>
              <a:rPr lang="zh-CN" altLang="en-US" sz="1125" dirty="0">
                <a:solidFill>
                  <a:srgbClr val="1E1E1E"/>
                </a:solidFill>
              </a:rPr>
              <a:t>侧节点已分配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25" dirty="0">
                <a:solidFill>
                  <a:srgbClr val="1E1E1E"/>
                </a:solidFill>
              </a:rPr>
              <a:t>Yarn-&gt;k8s</a:t>
            </a:r>
            <a:r>
              <a:rPr lang="zh-CN" altLang="en-US" sz="1125" dirty="0">
                <a:solidFill>
                  <a:srgbClr val="1E1E1E"/>
                </a:solidFill>
              </a:rPr>
              <a:t> 已分配：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1125" dirty="0">
                <a:solidFill>
                  <a:srgbClr val="1E1E1E"/>
                </a:solidFill>
              </a:rPr>
              <a:t>      节点</a:t>
            </a:r>
            <a:r>
              <a:rPr lang="en-US" altLang="zh-CN" sz="1125" dirty="0">
                <a:solidFill>
                  <a:srgbClr val="1E1E1E"/>
                </a:solidFill>
              </a:rPr>
              <a:t>Yarn</a:t>
            </a:r>
            <a:r>
              <a:rPr lang="zh-CN" altLang="en-US" sz="1125" dirty="0">
                <a:solidFill>
                  <a:srgbClr val="1E1E1E"/>
                </a:solidFill>
              </a:rPr>
              <a:t>已分配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资源账本计算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25" dirty="0">
                <a:solidFill>
                  <a:srgbClr val="1E1E1E"/>
                </a:solidFill>
              </a:rPr>
              <a:t>K8s</a:t>
            </a:r>
            <a:r>
              <a:rPr lang="zh-CN" altLang="en-US" sz="1125" dirty="0">
                <a:solidFill>
                  <a:srgbClr val="1E1E1E"/>
                </a:solidFill>
              </a:rPr>
              <a:t>侧节点可用资源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1125" dirty="0">
                <a:solidFill>
                  <a:srgbClr val="1E1E1E"/>
                </a:solidFill>
              </a:rPr>
              <a:t>      节点离线总可用 </a:t>
            </a:r>
            <a:r>
              <a:rPr lang="en-US" altLang="zh-CN" sz="1125" dirty="0">
                <a:solidFill>
                  <a:srgbClr val="1E1E1E"/>
                </a:solidFill>
              </a:rPr>
              <a:t>-</a:t>
            </a:r>
            <a:r>
              <a:rPr lang="zh-CN" altLang="en-US" sz="1125" dirty="0">
                <a:solidFill>
                  <a:srgbClr val="1E1E1E"/>
                </a:solidFill>
              </a:rPr>
              <a:t> 节点</a:t>
            </a:r>
            <a:r>
              <a:rPr lang="en-US" altLang="zh-CN" sz="1125" dirty="0">
                <a:solidFill>
                  <a:srgbClr val="1E1E1E"/>
                </a:solidFill>
              </a:rPr>
              <a:t>Yarn</a:t>
            </a:r>
            <a:r>
              <a:rPr lang="zh-CN" altLang="en-US" sz="1125" dirty="0">
                <a:solidFill>
                  <a:srgbClr val="1E1E1E"/>
                </a:solidFill>
              </a:rPr>
              <a:t>已分配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25" dirty="0">
                <a:solidFill>
                  <a:srgbClr val="1E1E1E"/>
                </a:solidFill>
              </a:rPr>
              <a:t>Yarn</a:t>
            </a:r>
            <a:r>
              <a:rPr lang="zh-CN" altLang="en-US" sz="1125" dirty="0">
                <a:solidFill>
                  <a:srgbClr val="1E1E1E"/>
                </a:solidFill>
              </a:rPr>
              <a:t>侧节点可用资源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1125" dirty="0">
                <a:solidFill>
                  <a:srgbClr val="1E1E1E"/>
                </a:solidFill>
              </a:rPr>
              <a:t>      节点离线总可用 </a:t>
            </a:r>
            <a:r>
              <a:rPr lang="en-US" altLang="zh-CN" sz="1125" dirty="0">
                <a:solidFill>
                  <a:srgbClr val="1E1E1E"/>
                </a:solidFill>
              </a:rPr>
              <a:t>-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k8s</a:t>
            </a:r>
            <a:r>
              <a:rPr lang="zh-CN" altLang="en-US" sz="1125" dirty="0">
                <a:solidFill>
                  <a:srgbClr val="1E1E1E"/>
                </a:solidFill>
              </a:rPr>
              <a:t>侧节点已分配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zh-CN" sz="1125" dirty="0">
              <a:solidFill>
                <a:srgbClr val="1E1E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652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95400"/>
            <a:ext cx="9144000" cy="40669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r>
              <a:rPr lang="zh-CN" altLang="en-US" dirty="0"/>
              <a:t>    </a:t>
            </a:r>
            <a:r>
              <a:rPr lang="en-US" altLang="zh-CN" dirty="0"/>
              <a:t>Spark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yarn</a:t>
            </a:r>
            <a:r>
              <a:rPr lang="zh-CN" altLang="en-US" dirty="0"/>
              <a:t>混部是否是终态方案？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下一阶段</a:t>
            </a:r>
            <a:r>
              <a:rPr lang="en-US" altLang="zh-CN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…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BC84C312-99A3-D1EC-4C06-F5AAE79ACD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3220" y="1884177"/>
            <a:ext cx="4099159" cy="1407600"/>
          </a:xfrm>
          <a:prstGeom prst="rect">
            <a:avLst/>
          </a:prstGeom>
        </p:spPr>
      </p:pic>
      <p:sp>
        <p:nvSpPr>
          <p:cNvPr id="25" name="Text 3">
            <a:extLst>
              <a:ext uri="{FF2B5EF4-FFF2-40B4-BE49-F238E27FC236}">
                <a16:creationId xmlns:a16="http://schemas.microsoft.com/office/drawing/2014/main" id="{B3950C90-C612-008F-BF11-CE710870CA99}"/>
              </a:ext>
            </a:extLst>
          </p:cNvPr>
          <p:cNvSpPr/>
          <p:nvPr/>
        </p:nvSpPr>
        <p:spPr>
          <a:xfrm>
            <a:off x="1793395" y="2133601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混部形态单一</a:t>
            </a:r>
            <a:endParaRPr lang="en-US" sz="12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A418B95F-D085-EF55-8BCA-1977D276E360}"/>
              </a:ext>
            </a:extLst>
          </p:cNvPr>
          <p:cNvSpPr/>
          <p:nvPr/>
        </p:nvSpPr>
        <p:spPr>
          <a:xfrm>
            <a:off x="1793395" y="2603863"/>
            <a:ext cx="2505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Spark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只能作为可随时被驱逐的离线场景混部在在线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k8s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集群中，形态较为单一，对业务要求较高，资源视图不统一，无法做全局精细化资源调度与合池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(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离在线，在离线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)</a:t>
            </a:r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356B77DE-06A5-E695-1A3C-F54C5D0E70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3220" y="3309507"/>
            <a:ext cx="4105275" cy="1409700"/>
          </a:xfrm>
          <a:prstGeom prst="rect">
            <a:avLst/>
          </a:prstGeom>
        </p:spPr>
      </p:pic>
      <p:sp>
        <p:nvSpPr>
          <p:cNvPr id="28" name="Text 5">
            <a:extLst>
              <a:ext uri="{FF2B5EF4-FFF2-40B4-BE49-F238E27FC236}">
                <a16:creationId xmlns:a16="http://schemas.microsoft.com/office/drawing/2014/main" id="{DAF91B8F-F4B3-5CA1-467F-698253CF241A}"/>
              </a:ext>
            </a:extLst>
          </p:cNvPr>
          <p:cNvSpPr/>
          <p:nvPr/>
        </p:nvSpPr>
        <p:spPr>
          <a:xfrm>
            <a:off x="1793395" y="3582376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存在资源</a:t>
            </a:r>
            <a:r>
              <a:rPr lang="zh-CN" alt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浪费</a:t>
            </a:r>
            <a:endParaRPr lang="en-US" sz="12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21D35B7D-69DC-1405-42F6-5411CB3B63F2}"/>
              </a:ext>
            </a:extLst>
          </p:cNvPr>
          <p:cNvSpPr/>
          <p:nvPr/>
        </p:nvSpPr>
        <p:spPr>
          <a:xfrm>
            <a:off x="1793395" y="3896333"/>
            <a:ext cx="2505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Nm每台在线机器需要占用至少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2C8G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内存，集群规模增大，资源浪费更为严重</a:t>
            </a:r>
            <a:endParaRPr lang="en-US" sz="1050" dirty="0"/>
          </a:p>
        </p:txBody>
      </p:sp>
      <p:pic>
        <p:nvPicPr>
          <p:cNvPr id="30" name="Image 4" descr="preencoded.png">
            <a:extLst>
              <a:ext uri="{FF2B5EF4-FFF2-40B4-BE49-F238E27FC236}">
                <a16:creationId xmlns:a16="http://schemas.microsoft.com/office/drawing/2014/main" id="{7E7855AB-FC6C-8511-4B2F-2D6FA3B502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99957" y="1884976"/>
            <a:ext cx="4105275" cy="1409700"/>
          </a:xfrm>
          <a:prstGeom prst="rect">
            <a:avLst/>
          </a:prstGeom>
        </p:spPr>
      </p:pic>
      <p:sp>
        <p:nvSpPr>
          <p:cNvPr id="31" name="Text 7">
            <a:extLst>
              <a:ext uri="{FF2B5EF4-FFF2-40B4-BE49-F238E27FC236}">
                <a16:creationId xmlns:a16="http://schemas.microsoft.com/office/drawing/2014/main" id="{83234346-11A0-0ECB-EE27-4268DA26223C}"/>
              </a:ext>
            </a:extLst>
          </p:cNvPr>
          <p:cNvSpPr/>
          <p:nvPr/>
        </p:nvSpPr>
        <p:spPr>
          <a:xfrm>
            <a:off x="5876687" y="2204735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endParaRPr lang="en-US" sz="1200" dirty="0"/>
          </a:p>
        </p:txBody>
      </p:sp>
      <p:pic>
        <p:nvPicPr>
          <p:cNvPr id="33" name="Image 4" descr="preencoded.png">
            <a:extLst>
              <a:ext uri="{FF2B5EF4-FFF2-40B4-BE49-F238E27FC236}">
                <a16:creationId xmlns:a16="http://schemas.microsoft.com/office/drawing/2014/main" id="{4E4760E4-CBC2-11C7-9C78-9C9D652BDCC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08009" y="3303536"/>
            <a:ext cx="4105275" cy="1409700"/>
          </a:xfrm>
          <a:prstGeom prst="rect">
            <a:avLst/>
          </a:prstGeom>
        </p:spPr>
      </p:pic>
      <p:sp>
        <p:nvSpPr>
          <p:cNvPr id="34" name="Text 7">
            <a:extLst>
              <a:ext uri="{FF2B5EF4-FFF2-40B4-BE49-F238E27FC236}">
                <a16:creationId xmlns:a16="http://schemas.microsoft.com/office/drawing/2014/main" id="{A77CC2A8-1AC3-CEDC-2122-D9D71FECD0A1}"/>
              </a:ext>
            </a:extLst>
          </p:cNvPr>
          <p:cNvSpPr/>
          <p:nvPr/>
        </p:nvSpPr>
        <p:spPr>
          <a:xfrm>
            <a:off x="5892554" y="3552960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</a:rPr>
              <a:t>不够云原生</a:t>
            </a:r>
            <a:endParaRPr lang="en-US" sz="12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9A22B5E3-ACC2-6428-5EC5-99F8BF23DF64}"/>
              </a:ext>
            </a:extLst>
          </p:cNvPr>
          <p:cNvSpPr/>
          <p:nvPr/>
        </p:nvSpPr>
        <p:spPr>
          <a:xfrm>
            <a:off x="5892554" y="3952882"/>
            <a:ext cx="2505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监控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，日志，存储等脱离云原生体系，重复建设，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k8s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生态复用能力较弱，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spark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集群运维成本高</a:t>
            </a:r>
            <a:endParaRPr lang="en-US" sz="105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32163D91-4026-D174-343C-2FA2443741AB}"/>
              </a:ext>
            </a:extLst>
          </p:cNvPr>
          <p:cNvSpPr/>
          <p:nvPr/>
        </p:nvSpPr>
        <p:spPr>
          <a:xfrm>
            <a:off x="5918318" y="2141377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 err="1"/>
              <a:t>资源稳定性不够高</a:t>
            </a:r>
            <a:endParaRPr lang="en-US" sz="1200" b="1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6A08D682-A7F9-8A4E-FD73-97F90C6B3ECD}"/>
              </a:ext>
            </a:extLst>
          </p:cNvPr>
          <p:cNvSpPr/>
          <p:nvPr/>
        </p:nvSpPr>
        <p:spPr>
          <a:xfrm>
            <a:off x="5918318" y="2525669"/>
            <a:ext cx="2505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资源视图同步有延迟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，资源分配不够精确，资源稳定性差，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yarn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调度系统缺乏资源隔离机制，无法支持混部环境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157112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217250"/>
            <a:ext cx="7454900" cy="36595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" altLang="zh-CN" dirty="0">
                <a:effectLst/>
                <a:latin typeface="Helvetica Neue" panose="02000503000000020004" pitchFamily="2" charset="0"/>
              </a:rPr>
              <a:t>Spark on k8s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>
                <a:effectLst/>
                <a:latin typeface="Helvetica Neue" panose="02000503000000020004" pitchFamily="2" charset="0"/>
              </a:rPr>
              <a:t>spark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引擎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/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平台侧：</a:t>
            </a:r>
            <a:endParaRPr lang="en-US" altLang="zh-CN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>
                <a:effectLst/>
                <a:latin typeface="Helvetica Neue" panose="02000503000000020004" pitchFamily="2" charset="0"/>
              </a:rPr>
              <a:t>spark-submit -&gt; spark operator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，</a:t>
            </a:r>
            <a:r>
              <a:rPr lang="zh-CN" altLang="en-US" dirty="0">
                <a:solidFill>
                  <a:srgbClr val="FF0000"/>
                </a:solidFill>
                <a:effectLst/>
                <a:latin typeface="Helvetica Neue" panose="02000503000000020004" pitchFamily="2" charset="0"/>
              </a:rPr>
              <a:t>平台入口逻辑调整</a:t>
            </a:r>
            <a:endParaRPr lang="en" altLang="zh-CN" dirty="0">
              <a:solidFill>
                <a:srgbClr val="FF0000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>
                <a:effectLst/>
                <a:latin typeface="Helvetica Neue" panose="02000503000000020004" pitchFamily="2" charset="0"/>
              </a:rPr>
              <a:t>Yarn 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队列、配额、排队策略在</a:t>
            </a:r>
            <a:r>
              <a:rPr lang="en" altLang="zh-CN" dirty="0">
                <a:effectLst/>
                <a:latin typeface="Helvetica Neue" panose="02000503000000020004" pitchFamily="2" charset="0"/>
              </a:rPr>
              <a:t>k8s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生态中的支持</a:t>
            </a:r>
            <a:endParaRPr lang="en-US" altLang="zh-CN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Helvetica Neue" panose="02000503000000020004" pitchFamily="2" charset="0"/>
              </a:rPr>
              <a:t>排队能力：</a:t>
            </a:r>
            <a:r>
              <a:rPr lang="en-US" altLang="zh-CN" dirty="0" err="1">
                <a:latin typeface="Helvetica Neue" panose="02000503000000020004" pitchFamily="2" charset="0"/>
              </a:rPr>
              <a:t>Kube</a:t>
            </a:r>
            <a:r>
              <a:rPr lang="en-US" altLang="zh-CN" dirty="0">
                <a:latin typeface="Helvetica Neue" panose="02000503000000020004" pitchFamily="2" charset="0"/>
              </a:rPr>
              <a:t>-queue/</a:t>
            </a:r>
            <a:r>
              <a:rPr lang="en-US" altLang="zh-CN" dirty="0" err="1">
                <a:latin typeface="Helvetica Neue" panose="02000503000000020004" pitchFamily="2" charset="0"/>
              </a:rPr>
              <a:t>kueue</a:t>
            </a:r>
            <a:r>
              <a:rPr lang="en-US" altLang="zh-CN" dirty="0">
                <a:latin typeface="Helvetica Neue" panose="02000503000000020004" pitchFamily="2" charset="0"/>
              </a:rPr>
              <a:t>/</a:t>
            </a:r>
            <a:r>
              <a:rPr lang="zh-CN" altLang="en-US" dirty="0">
                <a:latin typeface="Helvetica Neue" panose="02000503000000020004" pitchFamily="2" charset="0"/>
              </a:rPr>
              <a:t>自研队列</a:t>
            </a:r>
            <a:endParaRPr lang="en-US" altLang="zh-CN" dirty="0"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Helvetica Neue" panose="02000503000000020004" pitchFamily="2" charset="0"/>
              </a:rPr>
              <a:t>弹性</a:t>
            </a:r>
            <a:r>
              <a:rPr lang="en-US" altLang="zh-CN" dirty="0">
                <a:latin typeface="Helvetica Neue" panose="02000503000000020004" pitchFamily="2" charset="0"/>
              </a:rPr>
              <a:t>Quota</a:t>
            </a:r>
            <a:r>
              <a:rPr lang="zh-CN" altLang="en-US" dirty="0">
                <a:latin typeface="Helvetica Neue" panose="02000503000000020004" pitchFamily="2" charset="0"/>
              </a:rPr>
              <a:t>：</a:t>
            </a:r>
            <a:r>
              <a:rPr lang="en-US" altLang="zh-CN" dirty="0">
                <a:latin typeface="Helvetica Neue" panose="02000503000000020004" pitchFamily="2" charset="0"/>
              </a:rPr>
              <a:t>k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8s</a:t>
            </a:r>
            <a:r>
              <a:rPr lang="zh-CN" altLang="en-US" dirty="0">
                <a:latin typeface="Helvetica Neue" panose="02000503000000020004" pitchFamily="2" charset="0"/>
              </a:rPr>
              <a:t>调度器支持弹性</a:t>
            </a:r>
            <a:r>
              <a:rPr lang="en-US" altLang="zh-CN" dirty="0">
                <a:latin typeface="Helvetica Neue" panose="02000503000000020004" pitchFamily="2" charset="0"/>
              </a:rPr>
              <a:t>Quota</a:t>
            </a:r>
            <a:r>
              <a:rPr lang="zh-CN" altLang="en-US" dirty="0">
                <a:latin typeface="Helvetica Neue" panose="02000503000000020004" pitchFamily="2" charset="0"/>
              </a:rPr>
              <a:t>调度</a:t>
            </a:r>
            <a:endParaRPr lang="zh-CN" altLang="en-US" dirty="0"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  <a:latin typeface="Helvetica Neue" panose="02000503000000020004" pitchFamily="2" charset="0"/>
              </a:rPr>
              <a:t>任务型工作负载调度能力支持：</a:t>
            </a:r>
            <a:endParaRPr lang="en-US" altLang="zh-CN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  <a:latin typeface="Helvetica Neue" panose="02000503000000020004" pitchFamily="2" charset="0"/>
              </a:rPr>
              <a:t>批量调度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调度吞吐优化：</a:t>
            </a:r>
            <a:r>
              <a:rPr lang="en" altLang="zh-CN" dirty="0"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k pod/sec </a:t>
            </a:r>
            <a:r>
              <a:rPr lang="zh-CN" altLang="en-US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调度频次</a:t>
            </a:r>
          </a:p>
          <a:p>
            <a:endParaRPr lang="zh-CN" alt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下一阶段</a:t>
            </a:r>
            <a:r>
              <a:rPr lang="en-US" altLang="zh-CN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…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96434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利用率提升手段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00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4082" r="4082"/>
          <a:stretch/>
        </p:blipFill>
        <p:spPr>
          <a:xfrm>
            <a:off x="0" y="0"/>
            <a:ext cx="9144000" cy="56007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15561" r="15561"/>
          <a:stretch/>
        </p:blipFill>
        <p:spPr>
          <a:xfrm>
            <a:off x="0" y="0"/>
            <a:ext cx="3857625" cy="5600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提升思路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57675" y="935403"/>
            <a:ext cx="4105275" cy="1409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57848" y="1003268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资源合池</a:t>
            </a:r>
            <a:r>
              <a:rPr lang="en-US" altLang="zh-CN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</a:t>
            </a:r>
            <a:r>
              <a:rPr lang="zh-CN" alt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业务混部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657850" y="1537859"/>
            <a:ext cx="2505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将池子做大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，减少碎片，在技术允许的条件下，将各类应用负载混合部署在大池子内，资源偏好不同，资源峰谷不同，利用率有效提升，资源成本下降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57675" y="2345103"/>
            <a:ext cx="4105275" cy="14097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57847" y="2479398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</a:rPr>
              <a:t>提升资源分配效率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657846" y="2868885"/>
            <a:ext cx="2505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资源套餐化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规格尽可能小，辅助资源超卖，弹性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HPA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等技术手段，大幅提升节点的分配率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57675" y="3754803"/>
            <a:ext cx="4105275" cy="14097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657850" y="3933886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资源运营</a:t>
            </a:r>
            <a:r>
              <a:rPr lang="en-US" altLang="zh-CN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</a:t>
            </a:r>
            <a:r>
              <a:rPr lang="zh-CN" alt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成本驱动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657849" y="4526152"/>
            <a:ext cx="2505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平台负责利用率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业务负责成本</a:t>
            </a:r>
            <a:endParaRPr lang="en-US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通过成本驱动业务提升利用率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，如驱动业务开启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HPA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，推动业务合池混部，降低单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core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成本等</a:t>
            </a:r>
            <a:endParaRPr lang="en-US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2860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12500" r="12500"/>
          <a:stretch/>
        </p:blipFill>
        <p:spPr>
          <a:xfrm>
            <a:off x="5286375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与业务协同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73969" y="1333500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" y="19240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</a:rPr>
              <a:t>资源成本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500" y="2249852"/>
            <a:ext cx="188118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混部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合池，不同业务分摊物理资源成本，业务单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成本下降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536156" y="1333500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33688" y="19240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841503" y="215607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容器化与混部后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，业务稳定性面临挑战，需要帮助业务建立信心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73969" y="2990850"/>
            <a:ext cx="476250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71500" y="35814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</a:rPr>
              <a:t>运维效率提升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376117" y="3973147"/>
            <a:ext cx="2429608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业务无需管理机器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，通过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k8s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operator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管理工作负载，应用天然具备弹性能力。有基于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k8s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的完整的监控，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trace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，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log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系统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集群利用率提升效果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89DC2E-21BC-C2EC-2B44-2CE22160C70B}"/>
              </a:ext>
            </a:extLst>
          </p:cNvPr>
          <p:cNvSpPr txBox="1"/>
          <p:nvPr/>
        </p:nvSpPr>
        <p:spPr>
          <a:xfrm>
            <a:off x="3877676" y="3088544"/>
            <a:ext cx="38537" cy="1769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9050" tIns="19050" rIns="19050" bIns="19050" numCol="1" spcCol="38100" rtlCol="0" anchor="ctr">
            <a:spAutoFit/>
          </a:bodyPr>
          <a:lstStyle/>
          <a:p>
            <a:pPr algn="ctr" defTabSz="914376" hangingPunct="0"/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BDEFBA3-70BE-F061-9E47-78E2A18F1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20" y="1382730"/>
            <a:ext cx="7784160" cy="204656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32834F5-32FE-1EC3-A78B-235AAF9B9891}"/>
              </a:ext>
            </a:extLst>
          </p:cNvPr>
          <p:cNvSpPr txBox="1"/>
          <p:nvPr/>
        </p:nvSpPr>
        <p:spPr>
          <a:xfrm>
            <a:off x="5123532" y="3491576"/>
            <a:ext cx="3422358" cy="1354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28588" indent="-128588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rgbClr val="5E5E5E"/>
                </a:solidFill>
                <a:sym typeface="Alibaba PuHuiTi 2 55 Regular"/>
              </a:rPr>
              <a:t>混部集群均值利用率维持在</a:t>
            </a:r>
            <a:r>
              <a:rPr lang="en-US" altLang="zh-CN" sz="900" dirty="0">
                <a:solidFill>
                  <a:srgbClr val="5E5E5E"/>
                </a:solidFill>
                <a:sym typeface="Alibaba PuHuiTi 2 55 Regular"/>
              </a:rPr>
              <a:t>45%</a:t>
            </a:r>
            <a:r>
              <a:rPr lang="zh-CN" altLang="en-US" sz="900" dirty="0">
                <a:solidFill>
                  <a:srgbClr val="5E5E5E"/>
                </a:solidFill>
                <a:sym typeface="Alibaba PuHuiTi 2 55 Regular"/>
              </a:rPr>
              <a:t>左右，部分混部集群均值利用率可达</a:t>
            </a:r>
            <a:r>
              <a:rPr lang="en-US" altLang="zh-CN" sz="900" dirty="0">
                <a:solidFill>
                  <a:srgbClr val="5E5E5E"/>
                </a:solidFill>
                <a:sym typeface="Alibaba PuHuiTi 2 55 Regular"/>
              </a:rPr>
              <a:t>60%</a:t>
            </a:r>
            <a:r>
              <a:rPr lang="zh-CN" altLang="en-US" sz="900" dirty="0">
                <a:solidFill>
                  <a:srgbClr val="5E5E5E"/>
                </a:solidFill>
                <a:sym typeface="Alibaba PuHuiTi 2 55 Regular"/>
              </a:rPr>
              <a:t>以上；</a:t>
            </a:r>
            <a:endParaRPr lang="en-US" altLang="zh-CN" sz="900" dirty="0">
              <a:solidFill>
                <a:srgbClr val="5E5E5E"/>
              </a:solidFill>
              <a:sym typeface="Alibaba PuHuiTi 2 55 Regular"/>
            </a:endParaRPr>
          </a:p>
          <a:p>
            <a:pPr marL="128588" indent="-128588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675" dirty="0"/>
              <a:t>混部集群离线利用率维持在</a:t>
            </a:r>
            <a:r>
              <a:rPr lang="en-US" altLang="zh-CN" sz="675" dirty="0"/>
              <a:t>8-10%</a:t>
            </a:r>
            <a:r>
              <a:rPr lang="zh-CN" altLang="en-US" sz="675" dirty="0"/>
              <a:t>，整体利用率提升效果明显；</a:t>
            </a:r>
            <a:endParaRPr lang="en-US" altLang="zh-CN" sz="675" dirty="0"/>
          </a:p>
          <a:p>
            <a:pPr marL="128588" indent="-128588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rgbClr val="5E5E5E"/>
                </a:solidFill>
                <a:sym typeface="Alibaba PuHuiTi 2 55 Regular"/>
              </a:rPr>
              <a:t>通过混部方式，日均贡献核数数百万核*时，为离线节省大量的计算资源成本；</a:t>
            </a:r>
            <a:endParaRPr lang="en-US" altLang="zh-CN" sz="900" dirty="0">
              <a:solidFill>
                <a:srgbClr val="5E5E5E"/>
              </a:solidFill>
              <a:sym typeface="Alibaba PuHuiTi 2 55 Regular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0F60FD7-6ADC-B5F8-2471-1729CA97C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920" y="3593069"/>
            <a:ext cx="4378054" cy="127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96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节点利用率提升效果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89DC2E-21BC-C2EC-2B44-2CE22160C70B}"/>
              </a:ext>
            </a:extLst>
          </p:cNvPr>
          <p:cNvSpPr txBox="1"/>
          <p:nvPr/>
        </p:nvSpPr>
        <p:spPr>
          <a:xfrm>
            <a:off x="3877676" y="3088544"/>
            <a:ext cx="38537" cy="1769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9050" tIns="19050" rIns="19050" bIns="19050" numCol="1" spcCol="38100" rtlCol="0" anchor="ctr">
            <a:spAutoFit/>
          </a:bodyPr>
          <a:lstStyle/>
          <a:p>
            <a:pPr algn="ctr" defTabSz="914376" hangingPunct="0"/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1DF4397-532D-FF59-42D2-7F8F6D9AD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31" y="1286688"/>
            <a:ext cx="3642715" cy="164164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1A2E699-5ECC-37FF-EDE1-868DD5B3BE45}"/>
              </a:ext>
            </a:extLst>
          </p:cNvPr>
          <p:cNvSpPr txBox="1"/>
          <p:nvPr/>
        </p:nvSpPr>
        <p:spPr>
          <a:xfrm>
            <a:off x="4292517" y="3045305"/>
            <a:ext cx="38537" cy="1769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9050" tIns="19050" rIns="19050" bIns="19050" numCol="1" spcCol="38100" rtlCol="0" anchor="ctr">
            <a:spAutoFit/>
          </a:bodyPr>
          <a:lstStyle/>
          <a:p>
            <a:pPr algn="ctr" defTabSz="914376" hangingPunct="0"/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4B702A-BD75-B0A0-8221-8EA3EC6631A0}"/>
              </a:ext>
            </a:extLst>
          </p:cNvPr>
          <p:cNvSpPr txBox="1"/>
          <p:nvPr/>
        </p:nvSpPr>
        <p:spPr>
          <a:xfrm>
            <a:off x="4453382" y="3237666"/>
            <a:ext cx="4060587" cy="6617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28588" indent="-128588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675" dirty="0"/>
              <a:t>混部节点承载了包含音视频转码，</a:t>
            </a:r>
            <a:r>
              <a:rPr lang="en-US" altLang="zh-CN" sz="675" dirty="0"/>
              <a:t>spark</a:t>
            </a:r>
            <a:r>
              <a:rPr lang="zh-CN" altLang="en-US" sz="675" dirty="0"/>
              <a:t>，</a:t>
            </a:r>
            <a:r>
              <a:rPr lang="en-US" altLang="zh-CN" sz="675" dirty="0"/>
              <a:t>cv/</a:t>
            </a:r>
            <a:r>
              <a:rPr lang="en-US" altLang="zh-CN" sz="675" dirty="0" err="1"/>
              <a:t>nlp</a:t>
            </a:r>
            <a:r>
              <a:rPr lang="zh-CN" altLang="en-US" sz="675" dirty="0"/>
              <a:t> 算法 在内的多种离线工作负载混合部署，在压榨机器资源，提升利用率的同时，保障离线服务的稳定性；</a:t>
            </a:r>
            <a:endParaRPr lang="en-US" altLang="zh-CN" sz="675" dirty="0"/>
          </a:p>
          <a:p>
            <a:pPr marL="128588" indent="-128588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sz="675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454DE68-BA76-EC5A-AC40-C729E3265D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4886" y="1308575"/>
            <a:ext cx="4099083" cy="16024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A7E1461-BC08-2A81-CBF0-4A4DBE1191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31" y="3045305"/>
            <a:ext cx="3642715" cy="150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86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稳定性案例分析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离线业务场景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4B9521C-8E6E-4EAA-CD4D-F2A6E503B904}"/>
              </a:ext>
            </a:extLst>
          </p:cNvPr>
          <p:cNvSpPr txBox="1"/>
          <p:nvPr/>
        </p:nvSpPr>
        <p:spPr>
          <a:xfrm>
            <a:off x="440117" y="1901011"/>
            <a:ext cx="3015640" cy="26930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场景</a:t>
            </a: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近线，离线转码场景（已容器化）；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125" dirty="0" err="1">
                <a:solidFill>
                  <a:srgbClr val="1E1E1E"/>
                </a:solidFill>
              </a:rPr>
              <a:t>Flink</a:t>
            </a:r>
            <a:r>
              <a:rPr lang="zh-CN" altLang="en-US" sz="1125" dirty="0">
                <a:solidFill>
                  <a:srgbClr val="1E1E1E"/>
                </a:solidFill>
              </a:rPr>
              <a:t> 批量计算，流式计算（已容器化）；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125" dirty="0">
                <a:solidFill>
                  <a:srgbClr val="1E1E1E"/>
                </a:solidFill>
              </a:rPr>
              <a:t>Spark</a:t>
            </a:r>
            <a:r>
              <a:rPr lang="zh-CN" altLang="en-US" sz="1125" dirty="0">
                <a:solidFill>
                  <a:srgbClr val="1E1E1E"/>
                </a:solidFill>
              </a:rPr>
              <a:t>批量计算 （未容器化，</a:t>
            </a:r>
            <a:r>
              <a:rPr lang="en-US" altLang="zh-CN" sz="1125" dirty="0">
                <a:solidFill>
                  <a:srgbClr val="1E1E1E"/>
                </a:solidFill>
              </a:rPr>
              <a:t>on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yarn</a:t>
            </a:r>
            <a:r>
              <a:rPr lang="zh-CN" altLang="en-US" sz="1125" dirty="0">
                <a:solidFill>
                  <a:srgbClr val="1E1E1E"/>
                </a:solidFill>
              </a:rPr>
              <a:t>）；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125" dirty="0">
                <a:solidFill>
                  <a:srgbClr val="1E1E1E"/>
                </a:solidFill>
              </a:rPr>
              <a:t>cv/</a:t>
            </a:r>
            <a:r>
              <a:rPr lang="en-US" altLang="zh-CN" sz="1125" dirty="0" err="1">
                <a:solidFill>
                  <a:srgbClr val="1E1E1E"/>
                </a:solidFill>
              </a:rPr>
              <a:t>nlp</a:t>
            </a:r>
            <a:r>
              <a:rPr lang="zh-CN" altLang="en-US" sz="1125" dirty="0">
                <a:solidFill>
                  <a:srgbClr val="1E1E1E"/>
                </a:solidFill>
              </a:rPr>
              <a:t>算法回扫场景（已容器化） 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训练场景 （已容器化）；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125" dirty="0">
                <a:solidFill>
                  <a:srgbClr val="1E1E1E"/>
                </a:solidFill>
              </a:rPr>
              <a:t>…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AF8983B1-529D-915A-D0F2-8E1E0D9F7603}"/>
              </a:ext>
            </a:extLst>
          </p:cNvPr>
          <p:cNvSpPr/>
          <p:nvPr/>
        </p:nvSpPr>
        <p:spPr>
          <a:xfrm>
            <a:off x="3994814" y="4357751"/>
            <a:ext cx="1181940" cy="5237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rmAutofit/>
          </a:bodyPr>
          <a:lstStyle/>
          <a:p>
            <a:pPr algn="ctr" defTabSz="914376" hangingPunct="0"/>
            <a:r>
              <a:rPr lang="en-US" altLang="zh-CN" sz="900" dirty="0" err="1">
                <a:solidFill>
                  <a:srgbClr val="5E5E5E"/>
                </a:solidFill>
                <a:sym typeface="Alibaba PuHuiTi 2 55 Regular"/>
              </a:rPr>
              <a:t>Baremetal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A1BD771A-C6D5-2CA0-BA16-B36C5CD3AC2F}"/>
              </a:ext>
            </a:extLst>
          </p:cNvPr>
          <p:cNvSpPr/>
          <p:nvPr/>
        </p:nvSpPr>
        <p:spPr>
          <a:xfrm>
            <a:off x="5610481" y="4357751"/>
            <a:ext cx="1181940" cy="5237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rmAutofit/>
          </a:bodyPr>
          <a:lstStyle/>
          <a:p>
            <a:pPr algn="ctr" defTabSz="914376" hangingPunct="0"/>
            <a:r>
              <a:rPr lang="en-US" altLang="zh-CN" sz="900" dirty="0">
                <a:solidFill>
                  <a:srgbClr val="5E5E5E"/>
                </a:solidFill>
                <a:sym typeface="Alibaba PuHuiTi 2 55 Regular"/>
              </a:rPr>
              <a:t>VM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058BD312-D537-1876-1ADC-57D67155F91D}"/>
              </a:ext>
            </a:extLst>
          </p:cNvPr>
          <p:cNvSpPr/>
          <p:nvPr/>
        </p:nvSpPr>
        <p:spPr>
          <a:xfrm>
            <a:off x="7155969" y="4357751"/>
            <a:ext cx="1181940" cy="5237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rmAutofit/>
          </a:bodyPr>
          <a:lstStyle/>
          <a:p>
            <a:pPr algn="ctr" defTabSz="914376" hangingPunct="0"/>
            <a:r>
              <a:rPr lang="en-US" altLang="zh-CN" sz="900" dirty="0">
                <a:solidFill>
                  <a:srgbClr val="5E5E5E"/>
                </a:solidFill>
                <a:sym typeface="Alibaba PuHuiTi 2 55 Regular"/>
              </a:rPr>
              <a:t>Serverless Container Instance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pic>
        <p:nvPicPr>
          <p:cNvPr id="40" name="图形 39">
            <a:extLst>
              <a:ext uri="{FF2B5EF4-FFF2-40B4-BE49-F238E27FC236}">
                <a16:creationId xmlns:a16="http://schemas.microsoft.com/office/drawing/2014/main" id="{C138BD9E-FDF1-86C9-27C6-6611822962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8937" y="3638374"/>
            <a:ext cx="239644" cy="239644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AF7C5A03-0064-3CF3-2521-2E82FEBDBFE7}"/>
              </a:ext>
            </a:extLst>
          </p:cNvPr>
          <p:cNvSpPr/>
          <p:nvPr/>
        </p:nvSpPr>
        <p:spPr>
          <a:xfrm>
            <a:off x="5176754" y="3599864"/>
            <a:ext cx="2048816" cy="317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rmAutofit/>
          </a:bodyPr>
          <a:lstStyle/>
          <a:p>
            <a:pPr algn="ctr" defTabSz="914376" hangingPunct="0"/>
            <a:r>
              <a:rPr lang="en-US" altLang="zh-CN" sz="900" dirty="0">
                <a:solidFill>
                  <a:srgbClr val="5E5E5E"/>
                </a:solidFill>
                <a:sym typeface="Alibaba PuHuiTi 2 55 Regular"/>
              </a:rPr>
              <a:t>Kubernetes Core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cxnSp>
        <p:nvCxnSpPr>
          <p:cNvPr id="42" name="肘形连接符 41">
            <a:extLst>
              <a:ext uri="{FF2B5EF4-FFF2-40B4-BE49-F238E27FC236}">
                <a16:creationId xmlns:a16="http://schemas.microsoft.com/office/drawing/2014/main" id="{BAF4E95A-7A77-ED3B-BA9B-8292B7BEE66D}"/>
              </a:ext>
            </a:extLst>
          </p:cNvPr>
          <p:cNvCxnSpPr>
            <a:cxnSpLocks/>
            <a:stCxn id="37" idx="0"/>
            <a:endCxn id="41" idx="2"/>
          </p:cNvCxnSpPr>
          <p:nvPr/>
        </p:nvCxnSpPr>
        <p:spPr>
          <a:xfrm rot="5400000" flipH="1" flipV="1">
            <a:off x="5173488" y="3330077"/>
            <a:ext cx="439970" cy="1615378"/>
          </a:xfrm>
          <a:prstGeom prst="bent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肘形连接符 42">
            <a:extLst>
              <a:ext uri="{FF2B5EF4-FFF2-40B4-BE49-F238E27FC236}">
                <a16:creationId xmlns:a16="http://schemas.microsoft.com/office/drawing/2014/main" id="{8DC8D685-22BD-4FD0-442F-3A71A94307B6}"/>
              </a:ext>
            </a:extLst>
          </p:cNvPr>
          <p:cNvCxnSpPr>
            <a:cxnSpLocks/>
            <a:stCxn id="38" idx="0"/>
            <a:endCxn id="41" idx="2"/>
          </p:cNvCxnSpPr>
          <p:nvPr/>
        </p:nvCxnSpPr>
        <p:spPr>
          <a:xfrm rot="16200000" flipV="1">
            <a:off x="5981322" y="4137622"/>
            <a:ext cx="439970" cy="289"/>
          </a:xfrm>
          <a:prstGeom prst="bent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肘形连接符 43">
            <a:extLst>
              <a:ext uri="{FF2B5EF4-FFF2-40B4-BE49-F238E27FC236}">
                <a16:creationId xmlns:a16="http://schemas.microsoft.com/office/drawing/2014/main" id="{916608EE-C9B1-B9EF-DD89-9A8C230E36E9}"/>
              </a:ext>
            </a:extLst>
          </p:cNvPr>
          <p:cNvCxnSpPr>
            <a:cxnSpLocks/>
            <a:stCxn id="39" idx="0"/>
            <a:endCxn id="41" idx="2"/>
          </p:cNvCxnSpPr>
          <p:nvPr/>
        </p:nvCxnSpPr>
        <p:spPr>
          <a:xfrm rot="16200000" flipV="1">
            <a:off x="6754066" y="3364878"/>
            <a:ext cx="439970" cy="1545777"/>
          </a:xfrm>
          <a:prstGeom prst="bent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9970B822-F5CB-AEAC-5D12-26B5352FA193}"/>
              </a:ext>
            </a:extLst>
          </p:cNvPr>
          <p:cNvSpPr/>
          <p:nvPr/>
        </p:nvSpPr>
        <p:spPr>
          <a:xfrm>
            <a:off x="4023389" y="2444998"/>
            <a:ext cx="4367885" cy="908130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9050" tIns="19050" rIns="19050" bIns="19050" numCol="1" spcCol="38100" rtlCol="0" anchor="b">
            <a:normAutofit/>
          </a:bodyPr>
          <a:lstStyle/>
          <a:p>
            <a:pPr algn="ctr" defTabSz="914376" hangingPunct="0"/>
            <a:r>
              <a:rPr lang="zh-CN" altLang="en-US" sz="675" dirty="0">
                <a:solidFill>
                  <a:srgbClr val="5E5E5E"/>
                </a:solidFill>
              </a:rPr>
              <a:t>小红书在离线统一调度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F77C1B4D-EDDD-FA40-0C0F-10E3E0DED025}"/>
              </a:ext>
            </a:extLst>
          </p:cNvPr>
          <p:cNvCxnSpPr>
            <a:cxnSpLocks/>
            <a:stCxn id="45" idx="2"/>
            <a:endCxn id="41" idx="0"/>
          </p:cNvCxnSpPr>
          <p:nvPr/>
        </p:nvCxnSpPr>
        <p:spPr>
          <a:xfrm flipH="1">
            <a:off x="6201163" y="3353128"/>
            <a:ext cx="6169" cy="246736"/>
          </a:xfrm>
          <a:prstGeom prst="line">
            <a:avLst/>
          </a:prstGeom>
          <a:noFill/>
          <a:ln w="25400" cap="flat">
            <a:solidFill>
              <a:schemeClr val="tx1">
                <a:lumMod val="50000"/>
              </a:schemeClr>
            </a:solidFill>
            <a:prstDash val="sysDot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6DBCD876-738D-677A-0C78-70270DA8A9A6}"/>
              </a:ext>
            </a:extLst>
          </p:cNvPr>
          <p:cNvSpPr/>
          <p:nvPr/>
        </p:nvSpPr>
        <p:spPr>
          <a:xfrm>
            <a:off x="4257240" y="2618936"/>
            <a:ext cx="919514" cy="5237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rmAutofit/>
          </a:bodyPr>
          <a:lstStyle/>
          <a:p>
            <a:pPr algn="ctr" defTabSz="914376" hangingPunct="0"/>
            <a:r>
              <a:rPr lang="zh-CN" altLang="en-US" sz="900" dirty="0">
                <a:solidFill>
                  <a:srgbClr val="5E5E5E"/>
                </a:solidFill>
                <a:sym typeface="Alibaba PuHuiTi 2 55 Regular"/>
              </a:rPr>
              <a:t>大数据</a:t>
            </a:r>
            <a:r>
              <a:rPr lang="en-US" altLang="zh-CN" sz="900" dirty="0">
                <a:solidFill>
                  <a:srgbClr val="5E5E5E"/>
                </a:solidFill>
                <a:sym typeface="Alibaba PuHuiTi 2 55 Regular"/>
              </a:rPr>
              <a:t>YARN</a:t>
            </a:r>
            <a:r>
              <a:rPr lang="zh-CN" altLang="en-US" sz="900" dirty="0">
                <a:solidFill>
                  <a:srgbClr val="5E5E5E"/>
                </a:solidFill>
                <a:sym typeface="Alibaba PuHuiTi 2 55 Regular"/>
              </a:rPr>
              <a:t>任务</a:t>
            </a:r>
            <a:r>
              <a:rPr lang="zh-CN" altLang="en-US" sz="675" dirty="0">
                <a:solidFill>
                  <a:srgbClr val="5E5E5E"/>
                </a:solidFill>
              </a:rPr>
              <a:t>调度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547439CA-61E3-BF62-7965-4D169D0F2FBE}"/>
              </a:ext>
            </a:extLst>
          </p:cNvPr>
          <p:cNvSpPr/>
          <p:nvPr/>
        </p:nvSpPr>
        <p:spPr>
          <a:xfrm>
            <a:off x="5617251" y="2618936"/>
            <a:ext cx="1016511" cy="5237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rmAutofit/>
          </a:bodyPr>
          <a:lstStyle/>
          <a:p>
            <a:pPr algn="ctr" defTabSz="914376" hangingPunct="0"/>
            <a:r>
              <a:rPr lang="zh-CN" altLang="en-US" sz="900" dirty="0">
                <a:solidFill>
                  <a:srgbClr val="5E5E5E"/>
                </a:solidFill>
                <a:sym typeface="Alibaba PuHuiTi 2 55 Regular"/>
              </a:rPr>
              <a:t>在线</a:t>
            </a:r>
            <a:r>
              <a:rPr lang="en-US" altLang="zh-CN" sz="900" dirty="0">
                <a:solidFill>
                  <a:srgbClr val="5E5E5E"/>
                </a:solidFill>
                <a:sym typeface="Alibaba PuHuiTi 2 55 Regular"/>
              </a:rPr>
              <a:t>K8s</a:t>
            </a:r>
            <a:r>
              <a:rPr lang="zh-CN" altLang="en-US" sz="900" dirty="0">
                <a:solidFill>
                  <a:srgbClr val="5E5E5E"/>
                </a:solidFill>
                <a:sym typeface="Alibaba PuHuiTi 2 55 Regular"/>
              </a:rPr>
              <a:t>容器调度</a:t>
            </a: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335C8ED3-21D1-1934-CCDC-040C49DA3C5C}"/>
              </a:ext>
            </a:extLst>
          </p:cNvPr>
          <p:cNvSpPr/>
          <p:nvPr/>
        </p:nvSpPr>
        <p:spPr>
          <a:xfrm>
            <a:off x="6947006" y="2618936"/>
            <a:ext cx="1163270" cy="5237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rmAutofit/>
          </a:bodyPr>
          <a:lstStyle/>
          <a:p>
            <a:pPr algn="ctr" defTabSz="914376" hangingPunct="0"/>
            <a:r>
              <a:rPr lang="zh-CN" altLang="en-US" sz="900" dirty="0">
                <a:solidFill>
                  <a:srgbClr val="5E5E5E"/>
                </a:solidFill>
                <a:sym typeface="Alibaba PuHuiTi 2 55 Regular"/>
              </a:rPr>
              <a:t>大数据</a:t>
            </a:r>
            <a:r>
              <a:rPr lang="en-US" altLang="zh-CN" sz="900" dirty="0">
                <a:solidFill>
                  <a:srgbClr val="5E5E5E"/>
                </a:solidFill>
                <a:sym typeface="Alibaba PuHuiTi 2 55 Regular"/>
              </a:rPr>
              <a:t>/AI</a:t>
            </a:r>
            <a:r>
              <a:rPr lang="zh-CN" altLang="en-US" sz="675" dirty="0">
                <a:solidFill>
                  <a:srgbClr val="5E5E5E"/>
                </a:solidFill>
              </a:rPr>
              <a:t>容器调度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pic>
        <p:nvPicPr>
          <p:cNvPr id="50" name="图形 49">
            <a:extLst>
              <a:ext uri="{FF2B5EF4-FFF2-40B4-BE49-F238E27FC236}">
                <a16:creationId xmlns:a16="http://schemas.microsoft.com/office/drawing/2014/main" id="{CB64CA97-A209-E636-870D-4B32F44BD5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4686" y="1496094"/>
            <a:ext cx="691776" cy="360300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A4B1F17A-6758-17BC-C982-26BFFC8F49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34776" y="1465688"/>
            <a:ext cx="1030577" cy="515289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CFDE5558-CB0C-96A7-8E4B-D771BA15E2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761" y="1496093"/>
            <a:ext cx="942551" cy="471275"/>
          </a:xfrm>
          <a:prstGeom prst="rect">
            <a:avLst/>
          </a:prstGeom>
        </p:spPr>
      </p:pic>
      <p:pic>
        <p:nvPicPr>
          <p:cNvPr id="53" name="图形 52">
            <a:extLst>
              <a:ext uri="{FF2B5EF4-FFF2-40B4-BE49-F238E27FC236}">
                <a16:creationId xmlns:a16="http://schemas.microsoft.com/office/drawing/2014/main" id="{0ED93EF2-9AAD-2E6A-8F1A-1603AE1EA9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71903" y="1602274"/>
            <a:ext cx="1091393" cy="272849"/>
          </a:xfrm>
          <a:prstGeom prst="rect">
            <a:avLst/>
          </a:prstGeom>
        </p:spPr>
      </p:pic>
      <p:pic>
        <p:nvPicPr>
          <p:cNvPr id="54" name="图形 53">
            <a:extLst>
              <a:ext uri="{FF2B5EF4-FFF2-40B4-BE49-F238E27FC236}">
                <a16:creationId xmlns:a16="http://schemas.microsoft.com/office/drawing/2014/main" id="{623D536C-A649-9AA3-45FB-B578DFA8000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02570" y="1496093"/>
            <a:ext cx="476836" cy="411066"/>
          </a:xfrm>
          <a:prstGeom prst="rect">
            <a:avLst/>
          </a:prstGeom>
        </p:spPr>
      </p:pic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C134B72F-6D72-E43F-A5CF-3CEC6A3B2E99}"/>
              </a:ext>
            </a:extLst>
          </p:cNvPr>
          <p:cNvCxnSpPr>
            <a:stCxn id="54" idx="2"/>
            <a:endCxn id="45" idx="0"/>
          </p:cNvCxnSpPr>
          <p:nvPr/>
        </p:nvCxnSpPr>
        <p:spPr>
          <a:xfrm>
            <a:off x="4040988" y="1907159"/>
            <a:ext cx="2166344" cy="537839"/>
          </a:xfrm>
          <a:prstGeom prst="line">
            <a:avLst/>
          </a:prstGeom>
          <a:noFill/>
          <a:ln w="25400" cap="flat">
            <a:solidFill>
              <a:schemeClr val="tx1">
                <a:lumMod val="50000"/>
              </a:schemeClr>
            </a:solidFill>
            <a:prstDash val="sysDot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0DCD4A0D-2945-7127-5B53-E1318BA89AA5}"/>
              </a:ext>
            </a:extLst>
          </p:cNvPr>
          <p:cNvCxnSpPr>
            <a:cxnSpLocks/>
            <a:stCxn id="50" idx="2"/>
            <a:endCxn id="45" idx="0"/>
          </p:cNvCxnSpPr>
          <p:nvPr/>
        </p:nvCxnSpPr>
        <p:spPr>
          <a:xfrm>
            <a:off x="4980574" y="1856393"/>
            <a:ext cx="1226758" cy="588605"/>
          </a:xfrm>
          <a:prstGeom prst="line">
            <a:avLst/>
          </a:prstGeom>
          <a:noFill/>
          <a:ln w="25400" cap="flat">
            <a:solidFill>
              <a:schemeClr val="tx1">
                <a:lumMod val="50000"/>
              </a:schemeClr>
            </a:solidFill>
            <a:prstDash val="sysDot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52BBAA98-C02A-E172-CF29-DE70A5E50D00}"/>
              </a:ext>
            </a:extLst>
          </p:cNvPr>
          <p:cNvCxnSpPr>
            <a:cxnSpLocks/>
            <a:stCxn id="51" idx="2"/>
            <a:endCxn id="45" idx="0"/>
          </p:cNvCxnSpPr>
          <p:nvPr/>
        </p:nvCxnSpPr>
        <p:spPr>
          <a:xfrm>
            <a:off x="6050065" y="1980977"/>
            <a:ext cx="157267" cy="464021"/>
          </a:xfrm>
          <a:prstGeom prst="line">
            <a:avLst/>
          </a:prstGeom>
          <a:noFill/>
          <a:ln w="25400" cap="flat">
            <a:solidFill>
              <a:schemeClr val="tx1">
                <a:lumMod val="50000"/>
              </a:schemeClr>
            </a:solidFill>
            <a:prstDash val="sysDot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19AA66CA-DFCB-F724-B535-A4756AA0DD68}"/>
              </a:ext>
            </a:extLst>
          </p:cNvPr>
          <p:cNvCxnSpPr>
            <a:cxnSpLocks/>
            <a:stCxn id="52" idx="2"/>
            <a:endCxn id="45" idx="0"/>
          </p:cNvCxnSpPr>
          <p:nvPr/>
        </p:nvCxnSpPr>
        <p:spPr>
          <a:xfrm flipH="1">
            <a:off x="6207332" y="1967368"/>
            <a:ext cx="897705" cy="477630"/>
          </a:xfrm>
          <a:prstGeom prst="line">
            <a:avLst/>
          </a:prstGeom>
          <a:noFill/>
          <a:ln w="25400" cap="flat">
            <a:solidFill>
              <a:schemeClr val="tx1">
                <a:lumMod val="50000"/>
              </a:schemeClr>
            </a:solidFill>
            <a:prstDash val="sysDot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50BAF36C-2421-9B15-04A7-905295C6A8A0}"/>
              </a:ext>
            </a:extLst>
          </p:cNvPr>
          <p:cNvCxnSpPr>
            <a:cxnSpLocks/>
            <a:stCxn id="53" idx="2"/>
            <a:endCxn id="45" idx="0"/>
          </p:cNvCxnSpPr>
          <p:nvPr/>
        </p:nvCxnSpPr>
        <p:spPr>
          <a:xfrm flipH="1">
            <a:off x="6207331" y="1875123"/>
            <a:ext cx="2010269" cy="569875"/>
          </a:xfrm>
          <a:prstGeom prst="line">
            <a:avLst/>
          </a:prstGeom>
          <a:noFill/>
          <a:ln w="25400" cap="flat">
            <a:solidFill>
              <a:schemeClr val="tx1">
                <a:lumMod val="50000"/>
              </a:schemeClr>
            </a:solidFill>
            <a:prstDash val="sysDot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93574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案例一</a:t>
            </a: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</a:t>
            </a: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限流导致在线服务异常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B0871FA-86F4-72FE-E104-BA6EB654CECF}"/>
              </a:ext>
            </a:extLst>
          </p:cNvPr>
          <p:cNvSpPr txBox="1"/>
          <p:nvPr/>
        </p:nvSpPr>
        <p:spPr>
          <a:xfrm>
            <a:off x="4356507" y="1531746"/>
            <a:ext cx="3706405" cy="22313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背景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由于</a:t>
            </a:r>
            <a:r>
              <a:rPr lang="en-US" altLang="zh-CN" sz="1125" dirty="0">
                <a:solidFill>
                  <a:srgbClr val="1E1E1E"/>
                </a:solidFill>
              </a:rPr>
              <a:t>CPU</a:t>
            </a:r>
            <a:r>
              <a:rPr lang="zh-CN" altLang="en-US" sz="1125" dirty="0">
                <a:solidFill>
                  <a:srgbClr val="1E1E1E"/>
                </a:solidFill>
              </a:rPr>
              <a:t>限流，业务卡顿，导致业务线程池频繁打满，业务错误率有突增；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解决方案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在线服务全量开启</a:t>
            </a:r>
            <a:r>
              <a:rPr lang="en-US" altLang="zh-CN" sz="1125" dirty="0" err="1">
                <a:solidFill>
                  <a:srgbClr val="1E1E1E"/>
                </a:solidFill>
              </a:rPr>
              <a:t>cpu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burst</a:t>
            </a:r>
            <a:r>
              <a:rPr lang="zh-CN" altLang="en-US" sz="1125" dirty="0">
                <a:solidFill>
                  <a:srgbClr val="1E1E1E"/>
                </a:solidFill>
              </a:rPr>
              <a:t>，优化效果非常明显；</a:t>
            </a:r>
            <a:endParaRPr lang="en-US" altLang="zh-CN" sz="1125" dirty="0">
              <a:solidFill>
                <a:srgbClr val="1E1E1E"/>
              </a:solidFill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F302146-5EA8-CE67-1CE8-F48B9C0FD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789" y="2858489"/>
            <a:ext cx="2914650" cy="60089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35ED9BE-ED75-A125-33EF-00702006F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789" y="3459386"/>
            <a:ext cx="2914650" cy="62740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44E9853-CCEF-5A8E-52E4-CD185D0A3E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789" y="1620257"/>
            <a:ext cx="2914650" cy="95280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2F50BFCB-EFB8-382D-2FA1-701354AF97E4}"/>
              </a:ext>
            </a:extLst>
          </p:cNvPr>
          <p:cNvSpPr txBox="1"/>
          <p:nvPr/>
        </p:nvSpPr>
        <p:spPr>
          <a:xfrm>
            <a:off x="1893711" y="2615539"/>
            <a:ext cx="730969" cy="1769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9050" tIns="19050" rIns="19050" bIns="19050" numCol="1" spcCol="38100" rtlCol="0" anchor="ctr">
            <a:spAutoFit/>
          </a:bodyPr>
          <a:lstStyle/>
          <a:p>
            <a:pPr algn="ctr" defTabSz="914376" hangingPunct="0"/>
            <a:r>
              <a:rPr lang="zh-CN" altLang="en-US" sz="900" dirty="0">
                <a:solidFill>
                  <a:srgbClr val="5E5E5E"/>
                </a:solidFill>
                <a:sym typeface="Alibaba PuHuiTi 2 55 Regular"/>
              </a:rPr>
              <a:t>容器限流指标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CBF9DD-2802-9961-7BC6-7B68D405337C}"/>
              </a:ext>
            </a:extLst>
          </p:cNvPr>
          <p:cNvSpPr txBox="1"/>
          <p:nvPr/>
        </p:nvSpPr>
        <p:spPr>
          <a:xfrm>
            <a:off x="1853539" y="4152249"/>
            <a:ext cx="730969" cy="1769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9050" tIns="19050" rIns="19050" bIns="19050" numCol="1" spcCol="38100" rtlCol="0" anchor="ctr">
            <a:spAutoFit/>
          </a:bodyPr>
          <a:lstStyle/>
          <a:p>
            <a:pPr algn="ctr" defTabSz="914376" hangingPunct="0"/>
            <a:r>
              <a:rPr lang="zh-CN" altLang="en-US" sz="900" dirty="0">
                <a:solidFill>
                  <a:srgbClr val="5E5E5E"/>
                </a:solidFill>
                <a:sym typeface="Alibaba PuHuiTi 2 55 Regular"/>
              </a:rPr>
              <a:t>业务指标异常</a:t>
            </a:r>
          </a:p>
        </p:txBody>
      </p:sp>
    </p:spTree>
    <p:extLst>
      <p:ext uri="{BB962C8B-B14F-4D97-AF65-F5344CB8AC3E}">
        <p14:creationId xmlns:p14="http://schemas.microsoft.com/office/powerpoint/2010/main" val="3367531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883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案例二</a:t>
            </a: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：</a:t>
            </a:r>
            <a:r>
              <a:rPr lang="en-US" altLang="zh-CN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CPU</a:t>
            </a: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调度干扰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88A29C4-54C3-BC47-3094-E4DAAC4D0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16" y="3184571"/>
            <a:ext cx="3984281" cy="1519734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4B0D2A8-0704-00B6-9D8F-ABE391E5A172}"/>
              </a:ext>
            </a:extLst>
          </p:cNvPr>
          <p:cNvSpPr txBox="1"/>
          <p:nvPr/>
        </p:nvSpPr>
        <p:spPr>
          <a:xfrm>
            <a:off x="1285308" y="4793876"/>
            <a:ext cx="2292295" cy="1423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9050" tIns="19050" rIns="19050" bIns="19050" numCol="1" spcCol="38100" rtlCol="0" anchor="ctr">
            <a:spAutoFit/>
          </a:bodyPr>
          <a:lstStyle/>
          <a:p>
            <a:pPr algn="ctr" defTabSz="914376" hangingPunct="0"/>
            <a:r>
              <a:rPr lang="zh-CN" altLang="en-US" sz="675" dirty="0"/>
              <a:t>延迟敏感服务</a:t>
            </a:r>
            <a:r>
              <a:rPr lang="en-US" altLang="zh-CN" sz="675" dirty="0"/>
              <a:t>share</a:t>
            </a:r>
            <a:r>
              <a:rPr lang="zh-CN" altLang="en-US" sz="675" dirty="0"/>
              <a:t>绑核</a:t>
            </a:r>
            <a:r>
              <a:rPr lang="en-US" altLang="zh-CN" sz="675" dirty="0"/>
              <a:t>+</a:t>
            </a:r>
            <a:r>
              <a:rPr lang="en-US" altLang="zh-CN" sz="675" dirty="0" err="1"/>
              <a:t>bvt</a:t>
            </a:r>
            <a:r>
              <a:rPr lang="zh-CN" altLang="en-US" sz="675" dirty="0"/>
              <a:t>配置效果（与离线共享核混跑）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20D4E15-0830-D75E-BA23-67267C78ADBB}"/>
              </a:ext>
            </a:extLst>
          </p:cNvPr>
          <p:cNvSpPr txBox="1"/>
          <p:nvPr/>
        </p:nvSpPr>
        <p:spPr>
          <a:xfrm>
            <a:off x="4910730" y="1285438"/>
            <a:ext cx="3706405" cy="34143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71450" indent="-171450" defTabSz="914376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背景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混部池业务间干扰（在线</a:t>
            </a:r>
            <a:r>
              <a:rPr lang="en-US" altLang="zh-CN" sz="1125" dirty="0">
                <a:solidFill>
                  <a:srgbClr val="1E1E1E"/>
                </a:solidFill>
              </a:rPr>
              <a:t>+</a:t>
            </a:r>
            <a:r>
              <a:rPr lang="zh-CN" altLang="en-US" sz="1125" dirty="0">
                <a:solidFill>
                  <a:srgbClr val="1E1E1E"/>
                </a:solidFill>
              </a:rPr>
              <a:t>在线，在线</a:t>
            </a:r>
            <a:r>
              <a:rPr lang="en-US" altLang="zh-CN" sz="1125" dirty="0">
                <a:solidFill>
                  <a:srgbClr val="1E1E1E"/>
                </a:solidFill>
              </a:rPr>
              <a:t>+</a:t>
            </a:r>
            <a:r>
              <a:rPr lang="zh-CN" altLang="en-US" sz="1125" dirty="0">
                <a:solidFill>
                  <a:srgbClr val="1E1E1E"/>
                </a:solidFill>
              </a:rPr>
              <a:t>离线）严重，导致部分敏感服务受影响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解法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开启</a:t>
            </a:r>
            <a:r>
              <a:rPr lang="en-US" altLang="zh-CN" sz="1125" dirty="0">
                <a:solidFill>
                  <a:srgbClr val="1E1E1E"/>
                </a:solidFill>
              </a:rPr>
              <a:t>share</a:t>
            </a:r>
            <a:r>
              <a:rPr lang="zh-CN" altLang="en-US" sz="1125" dirty="0">
                <a:solidFill>
                  <a:srgbClr val="1E1E1E"/>
                </a:solidFill>
              </a:rPr>
              <a:t>绑核：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92881" indent="-192881" defTabSz="914376" hangingPunct="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125" dirty="0">
                <a:solidFill>
                  <a:srgbClr val="1E1E1E"/>
                </a:solidFill>
              </a:rPr>
              <a:t>L3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cache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miss</a:t>
            </a:r>
            <a:r>
              <a:rPr lang="zh-CN" altLang="en-US" sz="1125" dirty="0">
                <a:solidFill>
                  <a:srgbClr val="1E1E1E"/>
                </a:solidFill>
              </a:rPr>
              <a:t>率变低；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92881" lvl="2" indent="-19288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125" dirty="0">
                <a:solidFill>
                  <a:srgbClr val="1E1E1E"/>
                </a:solidFill>
              </a:rPr>
              <a:t>在线业务使用的核隔离，干扰降低；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92881" lvl="2" indent="-19288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125" dirty="0">
                <a:solidFill>
                  <a:srgbClr val="1E1E1E"/>
                </a:solidFill>
              </a:rPr>
              <a:t>离线服务与延迟敏感服务共享核，依赖内核的</a:t>
            </a:r>
            <a:r>
              <a:rPr lang="en-US" altLang="zh-CN" sz="1125" dirty="0">
                <a:solidFill>
                  <a:srgbClr val="1E1E1E"/>
                </a:solidFill>
              </a:rPr>
              <a:t>group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identity</a:t>
            </a:r>
            <a:r>
              <a:rPr lang="zh-CN" altLang="en-US" sz="1125" dirty="0">
                <a:solidFill>
                  <a:srgbClr val="1E1E1E"/>
                </a:solidFill>
              </a:rPr>
              <a:t>技术，支持离线压制与超线程隔离能力；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效果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某在线服务，延迟下降</a:t>
            </a:r>
            <a:r>
              <a:rPr lang="en-US" altLang="zh-CN" sz="1125" dirty="0">
                <a:solidFill>
                  <a:srgbClr val="1E1E1E"/>
                </a:solidFill>
              </a:rPr>
              <a:t>50%+</a:t>
            </a:r>
            <a:endParaRPr lang="zh-CN" altLang="en-US" sz="1125" dirty="0">
              <a:solidFill>
                <a:srgbClr val="1E1E1E"/>
              </a:solidFill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F82116F-384C-BD76-D378-7E366E4BC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55" y="1376992"/>
            <a:ext cx="2595241" cy="100114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0662E3C-AD8B-2A17-CAB0-2B0D14CF4D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8496" y="2128991"/>
            <a:ext cx="2705100" cy="92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958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案例三</a:t>
            </a: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：调度优先级反转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A5CDFC-EDE7-B77E-C814-CD7183E86638}"/>
              </a:ext>
            </a:extLst>
          </p:cNvPr>
          <p:cNvSpPr txBox="1"/>
          <p:nvPr/>
        </p:nvSpPr>
        <p:spPr>
          <a:xfrm>
            <a:off x="1641444" y="4437523"/>
            <a:ext cx="1885131" cy="1769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9050" tIns="19050" rIns="19050" bIns="19050" numCol="1" spcCol="38100" rtlCol="0" anchor="ctr">
            <a:spAutoFit/>
          </a:bodyPr>
          <a:lstStyle/>
          <a:p>
            <a:pPr algn="ctr" defTabSz="914376" hangingPunct="0"/>
            <a:r>
              <a:rPr lang="zh-CN" altLang="en-US" sz="900" dirty="0">
                <a:solidFill>
                  <a:srgbClr val="5E5E5E"/>
                </a:solidFill>
                <a:sym typeface="Alibaba PuHuiTi 2 55 Regular"/>
              </a:rPr>
              <a:t>离线严重限流优先级反转影响到在线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051EC9F-DD2B-878F-6C3E-D78208B312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09" y="3008038"/>
            <a:ext cx="4403999" cy="140439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92866056-2202-12B0-028B-4080F2F84BBD}"/>
              </a:ext>
            </a:extLst>
          </p:cNvPr>
          <p:cNvSpPr txBox="1"/>
          <p:nvPr/>
        </p:nvSpPr>
        <p:spPr>
          <a:xfrm>
            <a:off x="5131021" y="1456060"/>
            <a:ext cx="3706405" cy="22313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背景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离线被过度压制，占用内核锁，在线服务调度优先级高，但抢锁失败，导致在线服务延迟</a:t>
            </a:r>
            <a:r>
              <a:rPr lang="en-US" altLang="zh-CN" sz="1125" dirty="0">
                <a:solidFill>
                  <a:srgbClr val="1E1E1E"/>
                </a:solidFill>
              </a:rPr>
              <a:t>rt</a:t>
            </a:r>
            <a:r>
              <a:rPr lang="zh-CN" altLang="en-US" sz="1125" dirty="0">
                <a:solidFill>
                  <a:srgbClr val="1E1E1E"/>
                </a:solidFill>
              </a:rPr>
              <a:t>异常；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解决方案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策略优化，调整压制策略，避免离线被过渡压制；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4F50399-8730-6A45-8E06-3A97D9657F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10" y="1317034"/>
            <a:ext cx="4405902" cy="151371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Koordinator社区介绍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Koordinator</a:t>
            </a: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F88FCA5-6A25-7BBC-3008-0E8D4BE87F25}"/>
              </a:ext>
            </a:extLst>
          </p:cNvPr>
          <p:cNvGrpSpPr/>
          <p:nvPr/>
        </p:nvGrpSpPr>
        <p:grpSpPr>
          <a:xfrm>
            <a:off x="329950" y="1357504"/>
            <a:ext cx="4144984" cy="3315288"/>
            <a:chOff x="893546" y="2345113"/>
            <a:chExt cx="11053291" cy="884076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9538D6F-4EEA-281E-8B4D-F925EA9CBE98}"/>
                </a:ext>
              </a:extLst>
            </p:cNvPr>
            <p:cNvSpPr/>
            <p:nvPr/>
          </p:nvSpPr>
          <p:spPr>
            <a:xfrm>
              <a:off x="6888422" y="5808856"/>
              <a:ext cx="5058415" cy="257038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bg1">
                  <a:lumMod val="75000"/>
                </a:schemeClr>
              </a:solidFill>
              <a:prstDash val="dash"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endParaRPr lang="zh-CN" altLang="en-US" sz="750" dirty="0">
                <a:sym typeface="Helvetica Light"/>
              </a:endParaRPr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449958CB-7122-EA35-FBFB-0D4BD29F89F8}"/>
                </a:ext>
              </a:extLst>
            </p:cNvPr>
            <p:cNvSpPr/>
            <p:nvPr/>
          </p:nvSpPr>
          <p:spPr>
            <a:xfrm>
              <a:off x="893546" y="4383723"/>
              <a:ext cx="5532890" cy="2020790"/>
            </a:xfrm>
            <a:prstGeom prst="roundRect">
              <a:avLst/>
            </a:prstGeom>
            <a:solidFill>
              <a:srgbClr val="FFFFFF"/>
            </a:solidFill>
            <a:ln w="12700" cap="flat">
              <a:solidFill>
                <a:srgbClr val="0070C0"/>
              </a:solidFill>
              <a:prstDash val="dash"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endParaRPr lang="zh-CN" altLang="en-US" sz="750" dirty="0">
                <a:sym typeface="Helvetica Light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C442B60-1745-CEA3-0851-81A7CBD91ABA}"/>
                </a:ext>
              </a:extLst>
            </p:cNvPr>
            <p:cNvSpPr/>
            <p:nvPr/>
          </p:nvSpPr>
          <p:spPr>
            <a:xfrm>
              <a:off x="893546" y="2345113"/>
              <a:ext cx="5532889" cy="1470787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endParaRPr lang="zh-CN" altLang="en-US" sz="900" b="1" dirty="0">
                <a:solidFill>
                  <a:schemeClr val="bg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78EB202-58EE-478E-860E-ADF3381CB07C}"/>
                </a:ext>
              </a:extLst>
            </p:cNvPr>
            <p:cNvSpPr/>
            <p:nvPr/>
          </p:nvSpPr>
          <p:spPr>
            <a:xfrm>
              <a:off x="893547" y="2364359"/>
              <a:ext cx="5532889" cy="54104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dirty="0">
                  <a:solidFill>
                    <a:schemeClr val="bg1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  <a:sym typeface="Helvetica Light"/>
                </a:rPr>
                <a:t>支持多种工作负载引擎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1BDA11B-F6C1-986A-4D90-BD607D513E69}"/>
                </a:ext>
              </a:extLst>
            </p:cNvPr>
            <p:cNvSpPr/>
            <p:nvPr/>
          </p:nvSpPr>
          <p:spPr>
            <a:xfrm>
              <a:off x="1270998" y="4787447"/>
              <a:ext cx="2311385" cy="5717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硬件拓扑感知</a:t>
              </a:r>
              <a:endParaRPr lang="zh-CN" altLang="en-US" sz="900" dirty="0">
                <a:solidFill>
                  <a:schemeClr val="tx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EC5157AF-06ED-2A25-4B87-A5551D8361FD}"/>
                </a:ext>
              </a:extLst>
            </p:cNvPr>
            <p:cNvSpPr/>
            <p:nvPr/>
          </p:nvSpPr>
          <p:spPr>
            <a:xfrm>
              <a:off x="1090562" y="4101713"/>
              <a:ext cx="2767913" cy="51129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12700" cap="flat">
              <a:solidFill>
                <a:schemeClr val="accent1">
                  <a:lumMod val="50000"/>
                </a:schemeClr>
              </a:solidFill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en-US" altLang="zh-CN" sz="900" dirty="0" err="1">
                  <a:solidFill>
                    <a:schemeClr val="bg1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  <a:sym typeface="Helvetica Light"/>
                </a:rPr>
                <a:t>Koord</a:t>
              </a:r>
              <a:r>
                <a:rPr lang="en-US" altLang="zh-CN" sz="900" dirty="0">
                  <a:solidFill>
                    <a:schemeClr val="bg1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rPr>
                <a:t> Scheduler</a:t>
              </a:r>
              <a:endParaRPr lang="zh-CN" altLang="en-US" sz="900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Helvetica Light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EF7BED2-E56E-30AA-E714-1858FEDC4634}"/>
                </a:ext>
              </a:extLst>
            </p:cNvPr>
            <p:cNvSpPr/>
            <p:nvPr/>
          </p:nvSpPr>
          <p:spPr>
            <a:xfrm>
              <a:off x="4007662" y="4787447"/>
              <a:ext cx="2093967" cy="5717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任务调度</a:t>
              </a:r>
              <a:endParaRPr lang="zh-CN" altLang="en-US" sz="900" dirty="0">
                <a:solidFill>
                  <a:schemeClr val="tx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647D1E5-CB26-03AC-FC27-FF19F4FD143B}"/>
                </a:ext>
              </a:extLst>
            </p:cNvPr>
            <p:cNvSpPr/>
            <p:nvPr/>
          </p:nvSpPr>
          <p:spPr>
            <a:xfrm>
              <a:off x="1270999" y="5633192"/>
              <a:ext cx="2311385" cy="5717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en-US" altLang="zh-CN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GPU</a:t>
              </a:r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调度</a:t>
              </a:r>
              <a:endParaRPr lang="zh-CN" altLang="en-US" sz="900" dirty="0">
                <a:solidFill>
                  <a:schemeClr val="tx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6DE019C-6677-2B80-71E5-E048A7077C74}"/>
                </a:ext>
              </a:extLst>
            </p:cNvPr>
            <p:cNvSpPr/>
            <p:nvPr/>
          </p:nvSpPr>
          <p:spPr>
            <a:xfrm>
              <a:off x="4007662" y="5633191"/>
              <a:ext cx="2093967" cy="5717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负载感知</a:t>
              </a:r>
              <a:endParaRPr lang="zh-CN" altLang="en-US" sz="900" dirty="0">
                <a:solidFill>
                  <a:schemeClr val="tx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C341E80B-818D-D2D7-E0BB-591B133F9BFD}"/>
                </a:ext>
              </a:extLst>
            </p:cNvPr>
            <p:cNvSpPr/>
            <p:nvPr/>
          </p:nvSpPr>
          <p:spPr>
            <a:xfrm>
              <a:off x="6840662" y="3047760"/>
              <a:ext cx="5106175" cy="2020790"/>
            </a:xfrm>
            <a:prstGeom prst="roundRect">
              <a:avLst/>
            </a:prstGeom>
            <a:solidFill>
              <a:srgbClr val="FFFFFF"/>
            </a:solidFill>
            <a:ln w="12700" cap="flat">
              <a:solidFill>
                <a:srgbClr val="0070C0"/>
              </a:solidFill>
              <a:prstDash val="dash"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endParaRPr lang="zh-CN" altLang="en-US" sz="750" dirty="0">
                <a:sym typeface="Helvetica Light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B1D1C22-7DA6-0FD4-85F8-10A79938A305}"/>
                </a:ext>
              </a:extLst>
            </p:cNvPr>
            <p:cNvSpPr/>
            <p:nvPr/>
          </p:nvSpPr>
          <p:spPr>
            <a:xfrm>
              <a:off x="7082364" y="3465403"/>
              <a:ext cx="2311385" cy="5820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en-US" altLang="zh-CN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QoS</a:t>
              </a:r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策略管理</a:t>
              </a:r>
              <a:endParaRPr lang="zh-CN" altLang="en-US" sz="900" dirty="0">
                <a:solidFill>
                  <a:schemeClr val="tx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22" name="圆角矩形 21">
              <a:extLst>
                <a:ext uri="{FF2B5EF4-FFF2-40B4-BE49-F238E27FC236}">
                  <a16:creationId xmlns:a16="http://schemas.microsoft.com/office/drawing/2014/main" id="{DAD3A729-BEA1-7A6A-E117-1670FB0FBDC0}"/>
                </a:ext>
              </a:extLst>
            </p:cNvPr>
            <p:cNvSpPr/>
            <p:nvPr/>
          </p:nvSpPr>
          <p:spPr>
            <a:xfrm>
              <a:off x="7132411" y="2792727"/>
              <a:ext cx="2767913" cy="51129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12700" cap="flat">
              <a:solidFill>
                <a:schemeClr val="accent1">
                  <a:lumMod val="50000"/>
                </a:schemeClr>
              </a:solidFill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en-US" altLang="zh-CN" sz="900" dirty="0" err="1">
                  <a:solidFill>
                    <a:schemeClr val="bg1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  <a:sym typeface="Helvetica Light"/>
                </a:rPr>
                <a:t>Koord</a:t>
              </a:r>
              <a:r>
                <a:rPr lang="en-US" altLang="zh-CN" sz="900" dirty="0">
                  <a:solidFill>
                    <a:schemeClr val="bg1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rPr>
                <a:t> Manager</a:t>
              </a:r>
              <a:endParaRPr lang="zh-CN" altLang="en-US" sz="900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Helvetica Light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102502D-F602-9767-A82C-74ECE988225A}"/>
                </a:ext>
              </a:extLst>
            </p:cNvPr>
            <p:cNvSpPr/>
            <p:nvPr/>
          </p:nvSpPr>
          <p:spPr>
            <a:xfrm>
              <a:off x="9615392" y="3455083"/>
              <a:ext cx="2093967" cy="5820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应用自动接入</a:t>
              </a:r>
              <a:endParaRPr lang="zh-CN" altLang="en-US" sz="900" dirty="0">
                <a:solidFill>
                  <a:schemeClr val="tx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83ABC59-83B7-582B-1BEA-A3B06B4599C3}"/>
                </a:ext>
              </a:extLst>
            </p:cNvPr>
            <p:cNvSpPr/>
            <p:nvPr/>
          </p:nvSpPr>
          <p:spPr>
            <a:xfrm>
              <a:off x="7082364" y="4314831"/>
              <a:ext cx="2311385" cy="5820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动态资源超卖</a:t>
              </a:r>
              <a:endParaRPr lang="zh-CN" altLang="en-US" sz="900" dirty="0">
                <a:solidFill>
                  <a:schemeClr val="tx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A331569-65EF-79D0-2EB3-3EF5157AEC0C}"/>
                </a:ext>
              </a:extLst>
            </p:cNvPr>
            <p:cNvSpPr/>
            <p:nvPr/>
          </p:nvSpPr>
          <p:spPr>
            <a:xfrm>
              <a:off x="9615392" y="4314831"/>
              <a:ext cx="2093967" cy="5868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  <a:sym typeface="Helvetica Light"/>
                </a:rPr>
                <a:t>资源画像预测</a:t>
              </a:r>
            </a:p>
          </p:txBody>
        </p:sp>
        <p:sp>
          <p:nvSpPr>
            <p:cNvPr id="26" name="圆角矩形 25">
              <a:extLst>
                <a:ext uri="{FF2B5EF4-FFF2-40B4-BE49-F238E27FC236}">
                  <a16:creationId xmlns:a16="http://schemas.microsoft.com/office/drawing/2014/main" id="{F7CD2748-B3C9-9500-B8C4-7BE755A15620}"/>
                </a:ext>
              </a:extLst>
            </p:cNvPr>
            <p:cNvSpPr/>
            <p:nvPr/>
          </p:nvSpPr>
          <p:spPr>
            <a:xfrm>
              <a:off x="893546" y="6972855"/>
              <a:ext cx="5532890" cy="2072157"/>
            </a:xfrm>
            <a:prstGeom prst="roundRect">
              <a:avLst/>
            </a:prstGeom>
            <a:solidFill>
              <a:srgbClr val="FFFFFF"/>
            </a:solidFill>
            <a:ln w="12700" cap="flat">
              <a:solidFill>
                <a:srgbClr val="0070C0"/>
              </a:solidFill>
              <a:prstDash val="dash"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endParaRPr lang="zh-CN" altLang="en-US" sz="750" dirty="0">
                <a:sym typeface="Helvetica Light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554B6E2-CAC6-85EF-BBF0-EC053DEE0C3C}"/>
                </a:ext>
              </a:extLst>
            </p:cNvPr>
            <p:cNvSpPr/>
            <p:nvPr/>
          </p:nvSpPr>
          <p:spPr>
            <a:xfrm>
              <a:off x="1254439" y="7394809"/>
              <a:ext cx="2311385" cy="5988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真实负载感知</a:t>
              </a:r>
              <a:endParaRPr lang="zh-CN" altLang="en-US" sz="900" dirty="0">
                <a:solidFill>
                  <a:schemeClr val="tx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28" name="圆角矩形 27">
              <a:extLst>
                <a:ext uri="{FF2B5EF4-FFF2-40B4-BE49-F238E27FC236}">
                  <a16:creationId xmlns:a16="http://schemas.microsoft.com/office/drawing/2014/main" id="{127D2646-4C7B-551F-BAF8-AD621A825D92}"/>
                </a:ext>
              </a:extLst>
            </p:cNvPr>
            <p:cNvSpPr/>
            <p:nvPr/>
          </p:nvSpPr>
          <p:spPr>
            <a:xfrm>
              <a:off x="1106705" y="6765990"/>
              <a:ext cx="3190828" cy="51129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12700" cap="flat">
              <a:solidFill>
                <a:schemeClr val="accent1">
                  <a:lumMod val="50000"/>
                </a:schemeClr>
              </a:solidFill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en-US" altLang="zh-CN" sz="900" dirty="0" err="1">
                  <a:solidFill>
                    <a:schemeClr val="bg1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  <a:sym typeface="Helvetica Light"/>
                </a:rPr>
                <a:t>Koord</a:t>
              </a:r>
              <a:r>
                <a:rPr lang="en-US" altLang="zh-CN" sz="900" dirty="0">
                  <a:solidFill>
                    <a:schemeClr val="bg1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rPr>
                <a:t> </a:t>
              </a:r>
              <a:r>
                <a:rPr lang="en-US" altLang="zh-CN" sz="900" dirty="0" err="1">
                  <a:solidFill>
                    <a:schemeClr val="bg1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rPr>
                <a:t>Descheduler</a:t>
              </a:r>
              <a:endParaRPr lang="zh-CN" altLang="en-US" sz="900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Helvetica Light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DD96A94-A91C-BBAE-7C5E-144EE9810D2E}"/>
                </a:ext>
              </a:extLst>
            </p:cNvPr>
            <p:cNvSpPr/>
            <p:nvPr/>
          </p:nvSpPr>
          <p:spPr>
            <a:xfrm>
              <a:off x="3991103" y="7394809"/>
              <a:ext cx="2093967" cy="5988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支持资源预留</a:t>
              </a:r>
              <a:endParaRPr lang="zh-CN" altLang="en-US" sz="900" dirty="0">
                <a:solidFill>
                  <a:schemeClr val="tx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46124A5-0CCB-E46A-AB4C-1FB2B5334B3C}"/>
                </a:ext>
              </a:extLst>
            </p:cNvPr>
            <p:cNvSpPr/>
            <p:nvPr/>
          </p:nvSpPr>
          <p:spPr>
            <a:xfrm>
              <a:off x="1254438" y="8184574"/>
              <a:ext cx="2311385" cy="5820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集成社区插件</a:t>
              </a:r>
              <a:endParaRPr lang="zh-CN" altLang="en-US" sz="900" dirty="0">
                <a:solidFill>
                  <a:schemeClr val="tx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7942925-D387-6667-431B-AFDE74255144}"/>
                </a:ext>
              </a:extLst>
            </p:cNvPr>
            <p:cNvSpPr/>
            <p:nvPr/>
          </p:nvSpPr>
          <p:spPr>
            <a:xfrm>
              <a:off x="3991103" y="8184574"/>
              <a:ext cx="2093967" cy="5988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  <a:sym typeface="Helvetica Light"/>
                </a:rPr>
                <a:t>迁移流控保障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CD68A16-9B03-CF80-4C23-9325EF965333}"/>
                </a:ext>
              </a:extLst>
            </p:cNvPr>
            <p:cNvSpPr/>
            <p:nvPr/>
          </p:nvSpPr>
          <p:spPr>
            <a:xfrm>
              <a:off x="1481636" y="10481543"/>
              <a:ext cx="3140279" cy="70433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b="1" dirty="0">
                  <a:solidFill>
                    <a:schemeClr val="bg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裸金属实例</a:t>
              </a:r>
              <a:endParaRPr lang="zh-CN" altLang="en-US" sz="900" b="1" dirty="0">
                <a:solidFill>
                  <a:schemeClr val="bg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20C46E16-B95F-604E-2F8A-8CE1522397F5}"/>
                </a:ext>
              </a:extLst>
            </p:cNvPr>
            <p:cNvSpPr/>
            <p:nvPr/>
          </p:nvSpPr>
          <p:spPr>
            <a:xfrm>
              <a:off x="4941948" y="10481114"/>
              <a:ext cx="3140279" cy="70476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b="1" dirty="0">
                  <a:solidFill>
                    <a:schemeClr val="bg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  <a:sym typeface="Helvetica Light"/>
                </a:rPr>
                <a:t>虚拟机实例</a:t>
              </a:r>
            </a:p>
          </p:txBody>
        </p:sp>
        <p:sp>
          <p:nvSpPr>
            <p:cNvPr id="34" name="圆角矩形 33">
              <a:extLst>
                <a:ext uri="{FF2B5EF4-FFF2-40B4-BE49-F238E27FC236}">
                  <a16:creationId xmlns:a16="http://schemas.microsoft.com/office/drawing/2014/main" id="{778A7254-15F4-C560-A125-971E0CD91252}"/>
                </a:ext>
              </a:extLst>
            </p:cNvPr>
            <p:cNvSpPr/>
            <p:nvPr/>
          </p:nvSpPr>
          <p:spPr>
            <a:xfrm>
              <a:off x="7094956" y="6203673"/>
              <a:ext cx="4685843" cy="2004601"/>
            </a:xfrm>
            <a:prstGeom prst="roundRect">
              <a:avLst/>
            </a:prstGeom>
            <a:solidFill>
              <a:srgbClr val="FFFFFF"/>
            </a:solidFill>
            <a:ln w="12700" cap="flat">
              <a:solidFill>
                <a:srgbClr val="0070C0"/>
              </a:solidFill>
              <a:prstDash val="dash"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endParaRPr lang="zh-CN" altLang="en-US" sz="750" dirty="0">
                <a:sym typeface="Helvetica Light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E69991CA-C481-2734-A4B0-13E18380B506}"/>
                </a:ext>
              </a:extLst>
            </p:cNvPr>
            <p:cNvSpPr/>
            <p:nvPr/>
          </p:nvSpPr>
          <p:spPr>
            <a:xfrm>
              <a:off x="7207592" y="6613004"/>
              <a:ext cx="2093967" cy="6066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  <a:sym typeface="Helvetica Light"/>
                </a:rPr>
                <a:t>指标采集上报</a:t>
              </a:r>
            </a:p>
          </p:txBody>
        </p:sp>
        <p:sp>
          <p:nvSpPr>
            <p:cNvPr id="36" name="圆角矩形 35">
              <a:extLst>
                <a:ext uri="{FF2B5EF4-FFF2-40B4-BE49-F238E27FC236}">
                  <a16:creationId xmlns:a16="http://schemas.microsoft.com/office/drawing/2014/main" id="{40655B91-A626-6E27-E51B-D4434160192B}"/>
                </a:ext>
              </a:extLst>
            </p:cNvPr>
            <p:cNvSpPr/>
            <p:nvPr/>
          </p:nvSpPr>
          <p:spPr>
            <a:xfrm>
              <a:off x="7288260" y="5904219"/>
              <a:ext cx="1875211" cy="53699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12700" cap="flat">
              <a:solidFill>
                <a:schemeClr val="accent1">
                  <a:lumMod val="50000"/>
                </a:schemeClr>
              </a:solidFill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en-US" altLang="zh-CN" sz="900" dirty="0" err="1">
                  <a:solidFill>
                    <a:schemeClr val="bg1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  <a:sym typeface="Helvetica Light"/>
                </a:rPr>
                <a:t>Koordlet</a:t>
              </a:r>
              <a:endParaRPr lang="zh-CN" altLang="en-US" sz="900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Helvetica Light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FE09B86-4C11-9D9D-6218-374AB07C62D6}"/>
                </a:ext>
              </a:extLst>
            </p:cNvPr>
            <p:cNvSpPr/>
            <p:nvPr/>
          </p:nvSpPr>
          <p:spPr>
            <a:xfrm>
              <a:off x="7210602" y="7420147"/>
              <a:ext cx="2090957" cy="6066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en-US" altLang="zh-CN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QoS</a:t>
              </a:r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保障策略</a:t>
              </a:r>
              <a:endParaRPr lang="zh-CN" altLang="en-US" sz="900" dirty="0">
                <a:solidFill>
                  <a:schemeClr val="tx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597B423-6B4E-5230-5755-3BB8E8698D65}"/>
                </a:ext>
              </a:extLst>
            </p:cNvPr>
            <p:cNvSpPr/>
            <p:nvPr/>
          </p:nvSpPr>
          <p:spPr>
            <a:xfrm>
              <a:off x="9508093" y="7431397"/>
              <a:ext cx="2093967" cy="6066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适配多种环境</a:t>
              </a:r>
              <a:endParaRPr lang="zh-CN" altLang="en-US" sz="900" dirty="0">
                <a:solidFill>
                  <a:schemeClr val="tx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4D18D00A-A53D-70C1-E590-0E51F4A10A76}"/>
                </a:ext>
              </a:extLst>
            </p:cNvPr>
            <p:cNvSpPr/>
            <p:nvPr/>
          </p:nvSpPr>
          <p:spPr>
            <a:xfrm>
              <a:off x="9508093" y="6609295"/>
              <a:ext cx="2093967" cy="6066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dirty="0">
                  <a:solidFill>
                    <a:schemeClr val="tx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容器资源隔离</a:t>
              </a:r>
              <a:endParaRPr lang="zh-CN" altLang="en-US" sz="900" dirty="0">
                <a:solidFill>
                  <a:schemeClr val="tx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86BE49D-AFE1-1B94-E7C2-84442939F199}"/>
                </a:ext>
              </a:extLst>
            </p:cNvPr>
            <p:cNvSpPr/>
            <p:nvPr/>
          </p:nvSpPr>
          <p:spPr>
            <a:xfrm>
              <a:off x="10002230" y="5589926"/>
              <a:ext cx="1667303" cy="4774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en-US" altLang="zh-CN" sz="1050" b="1" dirty="0">
                  <a:solidFill>
                    <a:schemeClr val="bg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Node</a:t>
              </a:r>
              <a:endParaRPr lang="zh-CN" altLang="en-US" sz="1050" b="1" dirty="0">
                <a:solidFill>
                  <a:schemeClr val="bg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EACE880-64A8-0D2B-AB42-BEAB9FC16AED}"/>
                </a:ext>
              </a:extLst>
            </p:cNvPr>
            <p:cNvSpPr/>
            <p:nvPr/>
          </p:nvSpPr>
          <p:spPr>
            <a:xfrm>
              <a:off x="8402260" y="10481114"/>
              <a:ext cx="3140279" cy="70476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Autofit/>
            </a:bodyPr>
            <a:lstStyle/>
            <a:p>
              <a:pPr algn="ctr" defTabSz="309563" hangingPunct="0"/>
              <a:r>
                <a:rPr lang="zh-CN" altLang="en-US" sz="900" b="1" dirty="0">
                  <a:solidFill>
                    <a:schemeClr val="bg1"/>
                  </a:solidFill>
                  <a:latin typeface="Alibaba PuHuiTi L" pitchFamily="18" charset="-122"/>
                  <a:ea typeface="Alibaba PuHuiTi L" pitchFamily="18" charset="-122"/>
                  <a:cs typeface="Alibaba PuHuiTi L" pitchFamily="18" charset="-122"/>
                </a:rPr>
                <a:t>异构资源实例</a:t>
              </a:r>
              <a:endParaRPr lang="zh-CN" altLang="en-US" sz="900" b="1" dirty="0">
                <a:solidFill>
                  <a:schemeClr val="bg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  <a:sym typeface="Helvetica Light"/>
              </a:endParaRP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A7AEA7C-ECA2-354C-4911-33814FD1022F}"/>
                </a:ext>
              </a:extLst>
            </p:cNvPr>
            <p:cNvGrpSpPr/>
            <p:nvPr/>
          </p:nvGrpSpPr>
          <p:grpSpPr>
            <a:xfrm>
              <a:off x="1977656" y="9358174"/>
              <a:ext cx="9267568" cy="772088"/>
              <a:chOff x="1977656" y="9570824"/>
              <a:chExt cx="9267568" cy="772088"/>
            </a:xfrm>
          </p:grpSpPr>
          <p:sp>
            <p:nvSpPr>
              <p:cNvPr id="48" name="圆角矩形 47">
                <a:extLst>
                  <a:ext uri="{FF2B5EF4-FFF2-40B4-BE49-F238E27FC236}">
                    <a16:creationId xmlns:a16="http://schemas.microsoft.com/office/drawing/2014/main" id="{B5C31781-E79A-B531-D19C-2050530762EF}"/>
                  </a:ext>
                </a:extLst>
              </p:cNvPr>
              <p:cNvSpPr/>
              <p:nvPr/>
            </p:nvSpPr>
            <p:spPr>
              <a:xfrm>
                <a:off x="1977656" y="9570824"/>
                <a:ext cx="9267568" cy="77208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19050" tIns="19050" rIns="19050" bIns="19050" numCol="1" spcCol="38100" rtlCol="0" anchor="ctr">
                <a:noAutofit/>
              </a:bodyPr>
              <a:lstStyle/>
              <a:p>
                <a:pPr algn="ctr" defTabSz="309563" hangingPunct="0"/>
                <a:r>
                  <a:rPr lang="en-US" altLang="zh-CN" sz="900" dirty="0">
                    <a:solidFill>
                      <a:schemeClr val="tx1"/>
                    </a:solidFill>
                    <a:latin typeface="Alibaba PuHuiTi M" pitchFamily="18" charset="-122"/>
                    <a:ea typeface="Alibaba PuHuiTi M" pitchFamily="18" charset="-122"/>
                    <a:cs typeface="Alibaba PuHuiTi M" pitchFamily="18" charset="-122"/>
                    <a:sym typeface="Helvetica Light"/>
                  </a:rPr>
                  <a:t>Kubernetes</a:t>
                </a:r>
                <a:endParaRPr lang="zh-CN" altLang="en-US" sz="900" dirty="0">
                  <a:solidFill>
                    <a:schemeClr val="tx1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  <a:sym typeface="Helvetica Light"/>
                </a:endParaRPr>
              </a:p>
            </p:txBody>
          </p:sp>
          <p:pic>
            <p:nvPicPr>
              <p:cNvPr id="49" name="图形 48">
                <a:extLst>
                  <a:ext uri="{FF2B5EF4-FFF2-40B4-BE49-F238E27FC236}">
                    <a16:creationId xmlns:a16="http://schemas.microsoft.com/office/drawing/2014/main" id="{8E5AB46C-4B47-09DB-0A6B-356EFDF8ED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970617" y="9637342"/>
                <a:ext cx="639051" cy="639051"/>
              </a:xfrm>
              <a:prstGeom prst="rect">
                <a:avLst/>
              </a:prstGeom>
            </p:spPr>
          </p:pic>
        </p:grpSp>
        <p:pic>
          <p:nvPicPr>
            <p:cNvPr id="43" name="图形 42">
              <a:extLst>
                <a:ext uri="{FF2B5EF4-FFF2-40B4-BE49-F238E27FC236}">
                  <a16:creationId xmlns:a16="http://schemas.microsoft.com/office/drawing/2014/main" id="{D9BE3BCE-198D-025F-5E93-2AA5B80AD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97277" y="3139023"/>
              <a:ext cx="929625" cy="484180"/>
            </a:xfrm>
            <a:prstGeom prst="rect">
              <a:avLst/>
            </a:prstGeom>
          </p:spPr>
        </p:pic>
        <p:pic>
          <p:nvPicPr>
            <p:cNvPr id="44" name="图形 43">
              <a:extLst>
                <a:ext uri="{FF2B5EF4-FFF2-40B4-BE49-F238E27FC236}">
                  <a16:creationId xmlns:a16="http://schemas.microsoft.com/office/drawing/2014/main" id="{BC7BE56B-7C08-3AB7-F283-0820D0F12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827349" y="3081573"/>
              <a:ext cx="647700" cy="622300"/>
            </a:xfrm>
            <a:prstGeom prst="rect">
              <a:avLst/>
            </a:prstGeom>
          </p:spPr>
        </p:pic>
        <p:pic>
          <p:nvPicPr>
            <p:cNvPr id="45" name="图形 44">
              <a:extLst>
                <a:ext uri="{FF2B5EF4-FFF2-40B4-BE49-F238E27FC236}">
                  <a16:creationId xmlns:a16="http://schemas.microsoft.com/office/drawing/2014/main" id="{14BFFD9A-2B36-0C1D-6D65-641908782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683225" y="3042833"/>
              <a:ext cx="1476570" cy="738285"/>
            </a:xfrm>
            <a:prstGeom prst="rect">
              <a:avLst/>
            </a:prstGeom>
          </p:spPr>
        </p:pic>
        <p:pic>
          <p:nvPicPr>
            <p:cNvPr id="46" name="Picture 2">
              <a:extLst>
                <a:ext uri="{FF2B5EF4-FFF2-40B4-BE49-F238E27FC236}">
                  <a16:creationId xmlns:a16="http://schemas.microsoft.com/office/drawing/2014/main" id="{5417749C-9F23-55CD-EA58-D997FE1E3B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1995" y="3080507"/>
              <a:ext cx="647700" cy="6274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610B1AA7-728A-66C4-4AD7-C464CAD6B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3009" y="3149805"/>
              <a:ext cx="1061430" cy="530715"/>
            </a:xfrm>
            <a:prstGeom prst="rect">
              <a:avLst/>
            </a:prstGeom>
          </p:spPr>
        </p:pic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84460304-C352-BC53-3731-CEEED263B4DC}"/>
              </a:ext>
            </a:extLst>
          </p:cNvPr>
          <p:cNvSpPr txBox="1"/>
          <p:nvPr/>
        </p:nvSpPr>
        <p:spPr>
          <a:xfrm>
            <a:off x="4700414" y="1312165"/>
            <a:ext cx="4148781" cy="285206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t">
            <a:spAutoFit/>
          </a:bodyPr>
          <a:lstStyle/>
          <a:p>
            <a:pPr marL="255984" indent="-251817">
              <a:lnSpc>
                <a:spcPct val="120000"/>
              </a:lnSpc>
              <a:spcAft>
                <a:spcPts val="450"/>
              </a:spcAft>
              <a:buFont typeface="Wingdings" pitchFamily="2" charset="2"/>
              <a:buChar char="Ø"/>
            </a:pPr>
            <a:r>
              <a:rPr kumimoji="1" lang="en-US" altLang="zh-CN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2022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 年 </a:t>
            </a:r>
            <a:r>
              <a:rPr kumimoji="1" lang="en-US" altLang="zh-CN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4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 月正式开源，源自</a:t>
            </a:r>
            <a:r>
              <a:rPr kumimoji="1" lang="zh-CN" altLang="en-US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阿里巴巴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内部多年</a:t>
            </a:r>
            <a:r>
              <a:rPr kumimoji="1" lang="zh-CN" altLang="en-US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容器调度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、</a:t>
            </a:r>
            <a:r>
              <a:rPr kumimoji="1" lang="zh-CN" altLang="en-US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混部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实践经验</a:t>
            </a:r>
            <a:endParaRPr kumimoji="1" lang="en-US" altLang="zh-CN" sz="1500" dirty="0"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  <a:p>
            <a:pPr marL="255984" indent="-251817">
              <a:lnSpc>
                <a:spcPct val="120000"/>
              </a:lnSpc>
              <a:spcAft>
                <a:spcPts val="450"/>
              </a:spcAft>
              <a:buFont typeface="Wingdings" pitchFamily="2" charset="2"/>
              <a:buChar char="Ø"/>
            </a:pP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行业首个</a:t>
            </a:r>
            <a:r>
              <a:rPr kumimoji="1" lang="zh-CN" altLang="en-US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生产可用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、面向</a:t>
            </a:r>
            <a:r>
              <a:rPr kumimoji="1" lang="zh-CN" altLang="en-US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大规模场景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的开源混部系统</a:t>
            </a:r>
            <a:endParaRPr kumimoji="1" lang="en-US" altLang="zh-CN" sz="1500" dirty="0"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  <a:p>
            <a:pPr marL="255984" indent="-251817">
              <a:lnSpc>
                <a:spcPct val="120000"/>
              </a:lnSpc>
              <a:spcAft>
                <a:spcPts val="450"/>
              </a:spcAft>
              <a:buFont typeface="Wingdings" pitchFamily="2" charset="2"/>
              <a:buChar char="Ø"/>
            </a:pP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致力于提升</a:t>
            </a:r>
            <a:r>
              <a:rPr kumimoji="1" lang="zh-CN" altLang="en-US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应用服务质量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，优化</a:t>
            </a:r>
            <a:r>
              <a:rPr kumimoji="1" lang="zh-CN" altLang="en-US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资源使用效率</a:t>
            </a:r>
            <a:endParaRPr kumimoji="1" lang="en-US" altLang="zh-CN" sz="1500" dirty="0">
              <a:solidFill>
                <a:srgbClr val="0070C0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  <a:p>
            <a:pPr marL="255984" indent="-251817">
              <a:lnSpc>
                <a:spcPct val="120000"/>
              </a:lnSpc>
              <a:spcAft>
                <a:spcPts val="450"/>
              </a:spcAft>
              <a:buFont typeface="Wingdings" pitchFamily="2" charset="2"/>
              <a:buChar char="Ø"/>
            </a:pP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众多业界优秀工程师的贡献参与和讨论：</a:t>
            </a:r>
            <a:br>
              <a:rPr kumimoji="1" lang="en-US" altLang="zh-CN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</a:b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来自</a:t>
            </a:r>
            <a:r>
              <a:rPr kumimoji="1" lang="zh-CN" altLang="en-US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阿里巴巴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、</a:t>
            </a:r>
            <a:r>
              <a:rPr kumimoji="1" lang="zh-CN" altLang="en-US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爱奇艺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、</a:t>
            </a:r>
            <a:r>
              <a:rPr kumimoji="1" lang="zh-CN" altLang="en-US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小红书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、</a:t>
            </a:r>
            <a:r>
              <a:rPr kumimoji="1" lang="en-US" altLang="zh-CN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Intel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、</a:t>
            </a:r>
            <a:r>
              <a:rPr kumimoji="1" lang="zh-CN" altLang="en-US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小米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、</a:t>
            </a:r>
            <a:r>
              <a:rPr kumimoji="1" lang="en-US" altLang="zh-CN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360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、</a:t>
            </a:r>
            <a:r>
              <a:rPr kumimoji="1" lang="zh-CN" altLang="en-US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得物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、</a:t>
            </a:r>
            <a:r>
              <a:rPr kumimoji="1" lang="zh-CN" altLang="en-US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趣玩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等公司</a:t>
            </a:r>
            <a:endParaRPr kumimoji="1" lang="en-US" altLang="zh-CN" sz="1500" dirty="0"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  <a:p>
            <a:pPr marL="255984" indent="-251817">
              <a:lnSpc>
                <a:spcPct val="120000"/>
              </a:lnSpc>
              <a:spcAft>
                <a:spcPts val="450"/>
              </a:spcAft>
              <a:buFont typeface="Wingdings" pitchFamily="2" charset="2"/>
              <a:buChar char="Ø"/>
            </a:pP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支持构建</a:t>
            </a:r>
            <a:r>
              <a:rPr kumimoji="1" lang="zh-CN" altLang="en-US" sz="1500" dirty="0">
                <a:solidFill>
                  <a:srgbClr val="0070C0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企业级生产环境</a:t>
            </a:r>
            <a:r>
              <a:rPr kumimoji="1" lang="zh-CN" altLang="en-US" sz="15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的容器编排服务</a:t>
            </a:r>
            <a:endParaRPr kumimoji="1" lang="en-US" altLang="zh-CN" sz="1500" dirty="0"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pic>
        <p:nvPicPr>
          <p:cNvPr id="51" name="图形 50">
            <a:extLst>
              <a:ext uri="{FF2B5EF4-FFF2-40B4-BE49-F238E27FC236}">
                <a16:creationId xmlns:a16="http://schemas.microsoft.com/office/drawing/2014/main" id="{6B4DC54C-C407-2FFD-52F0-AC74E475325F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6105" t="21091" r="6160" b="19951"/>
          <a:stretch/>
        </p:blipFill>
        <p:spPr>
          <a:xfrm>
            <a:off x="5241614" y="4197214"/>
            <a:ext cx="3066381" cy="68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83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8715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</a:t>
            </a:r>
            <a:r>
              <a:rPr lang="en-US" altLang="zh-CN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，大数据的容器资源调度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03C2C99-B448-41B7-5111-3FF60CD07E5E}"/>
              </a:ext>
            </a:extLst>
          </p:cNvPr>
          <p:cNvSpPr/>
          <p:nvPr/>
        </p:nvSpPr>
        <p:spPr>
          <a:xfrm>
            <a:off x="977409" y="2284747"/>
            <a:ext cx="4034407" cy="2296673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7144" tIns="17144" rIns="17144" bIns="17144" numCol="1" spcCol="38100" rtlCol="0" anchor="t">
            <a:noAutofit/>
          </a:bodyPr>
          <a:lstStyle/>
          <a:p>
            <a:pPr marL="2143" algn="ctr" hangingPunct="0">
              <a:lnSpc>
                <a:spcPct val="120000"/>
              </a:lnSpc>
              <a:defRPr/>
            </a:pPr>
            <a:endParaRPr kumimoji="1" lang="zh-CN" altLang="en-US" sz="394" kern="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阿里巴巴普惠体 2.0" pitchFamily="18" charset="-122"/>
              <a:cs typeface="Alibaba PuHuiTi 2.0 55 Regular" pitchFamily="18" charset="-122"/>
              <a:sym typeface="Helvetica Ligh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DF7E4AE-F971-0F1D-F286-06FBFE5C9E58}"/>
              </a:ext>
            </a:extLst>
          </p:cNvPr>
          <p:cNvSpPr txBox="1"/>
          <p:nvPr/>
        </p:nvSpPr>
        <p:spPr>
          <a:xfrm>
            <a:off x="163051" y="2278879"/>
            <a:ext cx="736339" cy="1609275"/>
          </a:xfrm>
          <a:prstGeom prst="rect">
            <a:avLst/>
          </a:prstGeom>
          <a:solidFill>
            <a:srgbClr val="4C4C4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>
            <a:defPPr>
              <a:defRPr lang="en-US"/>
            </a:defPPr>
            <a:lvl1pPr marR="0" lvl="0" indent="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en-US" altLang="zh-CN" sz="900" dirty="0">
                <a:latin typeface="Arial" panose="020B0604020202020204" pitchFamily="34" charset="0"/>
                <a:ea typeface="阿里巴巴普惠体 2.0" pitchFamily="18" charset="-122"/>
                <a:sym typeface="Helvetica Light"/>
              </a:rPr>
              <a:t>Resource</a:t>
            </a:r>
            <a:r>
              <a:rPr lang="zh-CN" altLang="en-US" sz="900">
                <a:latin typeface="Arial" panose="020B0604020202020204" pitchFamily="34" charset="0"/>
                <a:ea typeface="阿里巴巴普惠体 2.0" pitchFamily="18" charset="-122"/>
                <a:sym typeface="Helvetica Light"/>
              </a:rPr>
              <a:t> </a:t>
            </a:r>
            <a:r>
              <a:rPr lang="en-US" altLang="zh-CN" sz="900" dirty="0">
                <a:latin typeface="Arial" panose="020B0604020202020204" pitchFamily="34" charset="0"/>
                <a:ea typeface="阿里巴巴普惠体 2.0" pitchFamily="18" charset="-122"/>
                <a:sym typeface="Helvetica Light"/>
              </a:rPr>
              <a:t>Scheduling</a:t>
            </a:r>
            <a:endParaRPr lang="zh-CN" altLang="en-US" sz="900">
              <a:latin typeface="Arial" panose="020B0604020202020204" pitchFamily="34" charset="0"/>
              <a:ea typeface="阿里巴巴普惠体 2.0" pitchFamily="18" charset="-122"/>
              <a:sym typeface="Helvetica Light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D23D9A30-6D99-7909-93A0-8EC9B8A27861}"/>
              </a:ext>
            </a:extLst>
          </p:cNvPr>
          <p:cNvSpPr/>
          <p:nvPr/>
        </p:nvSpPr>
        <p:spPr>
          <a:xfrm>
            <a:off x="977409" y="1533954"/>
            <a:ext cx="1915136" cy="269253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7144" tIns="17144" rIns="17144" bIns="17144" numCol="1" spcCol="38100" rtlCol="0" anchor="ctr">
            <a:noAutofit/>
          </a:bodyPr>
          <a:lstStyle/>
          <a:p>
            <a:pPr algn="ctr" defTabSz="171450" hangingPunct="0">
              <a:defRPr/>
            </a:pPr>
            <a:r>
              <a:rPr lang="en-US" altLang="zh-CN" sz="675" kern="0" dirty="0">
                <a:solidFill>
                  <a:schemeClr val="bg1"/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  <a:sym typeface="AlibabaPuHuiTiR"/>
              </a:rPr>
              <a:t>Kubeflow</a:t>
            </a:r>
            <a:endParaRPr lang="zh-CN" altLang="en-US" sz="675" kern="0" dirty="0">
              <a:solidFill>
                <a:schemeClr val="bg1"/>
              </a:solidFill>
              <a:latin typeface="Arial" panose="020B0604020202020204" pitchFamily="34" charset="0"/>
              <a:ea typeface="阿里巴巴普惠体 2.0" pitchFamily="18" charset="-122"/>
              <a:cs typeface="Alibaba PuHuiTi 2.0 55 Regular" pitchFamily="18" charset="-122"/>
              <a:sym typeface="AlibabaPuHuiTiR"/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099FF487-7D17-5AE2-6BF5-F6CEF59B0665}"/>
              </a:ext>
            </a:extLst>
          </p:cNvPr>
          <p:cNvSpPr/>
          <p:nvPr/>
        </p:nvSpPr>
        <p:spPr>
          <a:xfrm>
            <a:off x="2997806" y="1527541"/>
            <a:ext cx="2019770" cy="268592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7144" tIns="17144" rIns="17144" bIns="17144" numCol="1" spcCol="38100" rtlCol="0" anchor="ctr">
            <a:noAutofit/>
          </a:bodyPr>
          <a:lstStyle/>
          <a:p>
            <a:pPr algn="ctr" defTabSz="171450" hangingPunct="0">
              <a:defRPr/>
            </a:pPr>
            <a:r>
              <a:rPr lang="en-US" altLang="zh-CN" sz="675" kern="0" dirty="0">
                <a:solidFill>
                  <a:schemeClr val="bg1"/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  <a:sym typeface="AlibabaPuHuiTiR"/>
              </a:rPr>
              <a:t>KubeDL</a:t>
            </a:r>
            <a:endParaRPr lang="zh-CN" altLang="en-US" sz="675" kern="0" dirty="0">
              <a:solidFill>
                <a:schemeClr val="bg1"/>
              </a:solidFill>
              <a:latin typeface="Arial" panose="020B0604020202020204" pitchFamily="34" charset="0"/>
              <a:ea typeface="阿里巴巴普惠体 2.0" pitchFamily="18" charset="-122"/>
              <a:cs typeface="Alibaba PuHuiTi 2.0 55 Regular" pitchFamily="18" charset="-122"/>
              <a:sym typeface="AlibabaPuHuiTiR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EEAE536-BC49-E31C-7246-535288706B83}"/>
              </a:ext>
            </a:extLst>
          </p:cNvPr>
          <p:cNvSpPr txBox="1"/>
          <p:nvPr/>
        </p:nvSpPr>
        <p:spPr>
          <a:xfrm>
            <a:off x="163050" y="1533954"/>
            <a:ext cx="757032" cy="583886"/>
          </a:xfrm>
          <a:prstGeom prst="rect">
            <a:avLst/>
          </a:prstGeom>
          <a:solidFill>
            <a:srgbClr val="4C4C4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>
            <a:defPPr>
              <a:defRPr lang="en-US"/>
            </a:defPPr>
            <a:lvl1pPr marR="0" lvl="0" indent="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黑体" panose="02010609060101010101" pitchFamily="49" charset="-122"/>
              </a:defRPr>
            </a:lvl1pPr>
          </a:lstStyle>
          <a:p>
            <a:r>
              <a:rPr lang="en-US" altLang="zh-CN" sz="900" dirty="0"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  <a:sym typeface="Helvetica Light"/>
              </a:rPr>
              <a:t>AI/Bigdata</a:t>
            </a:r>
            <a:r>
              <a:rPr lang="zh-CN" altLang="en-US" sz="900" dirty="0"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  <a:sym typeface="Helvetica Light"/>
              </a:rPr>
              <a:t> </a:t>
            </a:r>
            <a:r>
              <a:rPr lang="en-US" altLang="zh-CN" sz="900" dirty="0"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  <a:sym typeface="Helvetica Light"/>
              </a:rPr>
              <a:t>Workloads</a:t>
            </a:r>
            <a:endParaRPr lang="zh-CN" altLang="en-US" sz="900" dirty="0">
              <a:latin typeface="Arial" panose="020B0604020202020204" pitchFamily="34" charset="0"/>
              <a:ea typeface="阿里巴巴普惠体 2.0" pitchFamily="18" charset="-122"/>
              <a:cs typeface="Alibaba PuHuiTi 2.0 55 Regular" pitchFamily="18" charset="-122"/>
              <a:sym typeface="Helvetica Ligh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C17E847-7303-93C5-E27A-E1EFE580EE55}"/>
              </a:ext>
            </a:extLst>
          </p:cNvPr>
          <p:cNvSpPr txBox="1"/>
          <p:nvPr/>
        </p:nvSpPr>
        <p:spPr>
          <a:xfrm>
            <a:off x="163050" y="4009157"/>
            <a:ext cx="757032" cy="559252"/>
          </a:xfrm>
          <a:prstGeom prst="rect">
            <a:avLst/>
          </a:prstGeom>
          <a:solidFill>
            <a:srgbClr val="4C4C4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>
            <a:defPPr>
              <a:defRPr lang="en-US"/>
            </a:defPPr>
            <a:lvl1pPr marR="0" lvl="0" indent="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en-US" altLang="zh-CN" sz="900" dirty="0">
                <a:latin typeface="Arial" panose="020B0604020202020204" pitchFamily="34" charset="0"/>
                <a:ea typeface="阿里巴巴普惠体 2.0" pitchFamily="18" charset="-122"/>
                <a:sym typeface="Helvetica Light"/>
              </a:rPr>
              <a:t>Resource</a:t>
            </a:r>
            <a:r>
              <a:rPr lang="zh-CN" altLang="en-US" sz="900" dirty="0">
                <a:latin typeface="Arial" panose="020B0604020202020204" pitchFamily="34" charset="0"/>
                <a:ea typeface="阿里巴巴普惠体 2.0" pitchFamily="18" charset="-122"/>
                <a:sym typeface="Helvetica Light"/>
              </a:rPr>
              <a:t> </a:t>
            </a:r>
            <a:r>
              <a:rPr lang="en-US" altLang="zh-CN" sz="900" dirty="0">
                <a:latin typeface="Arial" panose="020B0604020202020204" pitchFamily="34" charset="0"/>
                <a:ea typeface="阿里巴巴普惠体 2.0" pitchFamily="18" charset="-122"/>
                <a:sym typeface="Helvetica Light"/>
              </a:rPr>
              <a:t>Management</a:t>
            </a:r>
            <a:endParaRPr lang="zh-CN" altLang="en-US" sz="900" dirty="0">
              <a:latin typeface="Arial" panose="020B0604020202020204" pitchFamily="34" charset="0"/>
              <a:ea typeface="阿里巴巴普惠体 2.0" pitchFamily="18" charset="-122"/>
              <a:sym typeface="Helvetica Light"/>
            </a:endParaRP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38327075-93B0-2AF3-B5E7-534BF8D7C0FE}"/>
              </a:ext>
            </a:extLst>
          </p:cNvPr>
          <p:cNvSpPr/>
          <p:nvPr/>
        </p:nvSpPr>
        <p:spPr>
          <a:xfrm>
            <a:off x="977409" y="1863708"/>
            <a:ext cx="4034407" cy="254132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7144" tIns="17144" rIns="17144" bIns="17144" numCol="1" spcCol="38100" rtlCol="0" anchor="ctr">
            <a:noAutofit/>
          </a:bodyPr>
          <a:lstStyle/>
          <a:p>
            <a:pPr algn="ctr" defTabSz="171450" hangingPunct="0">
              <a:defRPr/>
            </a:pPr>
            <a:r>
              <a:rPr lang="en-US" altLang="zh-CN" sz="675" kern="0" dirty="0">
                <a:solidFill>
                  <a:schemeClr val="bg1"/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  <a:sym typeface="AlibabaPuHuiTiR"/>
              </a:rPr>
              <a:t>Kube-queue</a:t>
            </a:r>
            <a:endParaRPr lang="zh-CN" altLang="en-US" sz="675" kern="0" dirty="0">
              <a:solidFill>
                <a:schemeClr val="bg1"/>
              </a:solidFill>
              <a:latin typeface="Arial" panose="020B0604020202020204" pitchFamily="34" charset="0"/>
              <a:ea typeface="阿里巴巴普惠体 2.0" pitchFamily="18" charset="-122"/>
              <a:cs typeface="Alibaba PuHuiTi 2.0 55 Regular" pitchFamily="18" charset="-122"/>
              <a:sym typeface="AlibabaPuHuiTiR"/>
            </a:endParaRPr>
          </a:p>
        </p:txBody>
      </p:sp>
      <p:sp>
        <p:nvSpPr>
          <p:cNvPr id="55" name="Shape 359">
            <a:extLst>
              <a:ext uri="{FF2B5EF4-FFF2-40B4-BE49-F238E27FC236}">
                <a16:creationId xmlns:a16="http://schemas.microsoft.com/office/drawing/2014/main" id="{E338F5B1-63D9-6BCA-8102-AAFBFC3BA35D}"/>
              </a:ext>
            </a:extLst>
          </p:cNvPr>
          <p:cNvSpPr/>
          <p:nvPr/>
        </p:nvSpPr>
        <p:spPr>
          <a:xfrm>
            <a:off x="3821436" y="3096125"/>
            <a:ext cx="1118737" cy="792029"/>
          </a:xfrm>
          <a:prstGeom prst="roundRect">
            <a:avLst>
              <a:gd name="adj" fmla="val 0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316" tIns="12316" rIns="12316" bIns="12316"/>
          <a:lstStyle/>
          <a:p>
            <a:pPr defTabSz="100013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" altLang="zh-CN" sz="6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GPU</a:t>
            </a:r>
            <a:r>
              <a:rPr lang="zh-CN" altLang="en-US" sz="6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 </a:t>
            </a:r>
            <a:r>
              <a:rPr lang="en-US" altLang="zh-CN" sz="6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Sharing</a:t>
            </a:r>
            <a:r>
              <a:rPr lang="zh-CN" altLang="en-US" sz="6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 </a:t>
            </a:r>
            <a:r>
              <a:rPr lang="en-US" altLang="zh-CN" sz="6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and</a:t>
            </a:r>
            <a:r>
              <a:rPr lang="zh-CN" altLang="en-US" sz="6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 </a:t>
            </a:r>
            <a:r>
              <a:rPr lang="en-US" altLang="zh-CN" sz="6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Isolation</a:t>
            </a:r>
            <a:endParaRPr lang="zh-CN" altLang="en-US" sz="675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阿里巴巴普惠体 2.0" pitchFamily="18" charset="-122"/>
              <a:cs typeface="Alibaba PuHuiTi 2.0 55 Regular" pitchFamily="18" charset="-122"/>
            </a:endParaRPr>
          </a:p>
          <a:p>
            <a:pPr defTabSz="100013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  <a:endParaRPr sz="675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阿里巴巴普惠体 2.0" pitchFamily="18" charset="-122"/>
              <a:cs typeface="Alibaba PuHuiTi 2.0 55 Regular" pitchFamily="18" charset="-122"/>
            </a:endParaRPr>
          </a:p>
        </p:txBody>
      </p:sp>
      <p:sp>
        <p:nvSpPr>
          <p:cNvPr id="56" name="Shape 359">
            <a:extLst>
              <a:ext uri="{FF2B5EF4-FFF2-40B4-BE49-F238E27FC236}">
                <a16:creationId xmlns:a16="http://schemas.microsoft.com/office/drawing/2014/main" id="{A639F5C0-7E0E-712E-04CD-7B529060CBF2}"/>
              </a:ext>
            </a:extLst>
          </p:cNvPr>
          <p:cNvSpPr/>
          <p:nvPr/>
        </p:nvSpPr>
        <p:spPr>
          <a:xfrm>
            <a:off x="1066306" y="3096125"/>
            <a:ext cx="1235869" cy="792030"/>
          </a:xfrm>
          <a:prstGeom prst="roundRect">
            <a:avLst>
              <a:gd name="adj" fmla="val 0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316" tIns="12316" rIns="12316" bIns="12316"/>
          <a:lstStyle/>
          <a:p>
            <a:pPr defTabSz="100013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-US" altLang="zh-CN" sz="6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Job Scheduling</a:t>
            </a:r>
          </a:p>
        </p:txBody>
      </p:sp>
      <p:sp>
        <p:nvSpPr>
          <p:cNvPr id="57" name="Shape 359">
            <a:extLst>
              <a:ext uri="{FF2B5EF4-FFF2-40B4-BE49-F238E27FC236}">
                <a16:creationId xmlns:a16="http://schemas.microsoft.com/office/drawing/2014/main" id="{591A2A2A-4797-5A8C-7FDE-5E0DFDFE494A}"/>
              </a:ext>
            </a:extLst>
          </p:cNvPr>
          <p:cNvSpPr/>
          <p:nvPr/>
        </p:nvSpPr>
        <p:spPr>
          <a:xfrm>
            <a:off x="2391072" y="3096617"/>
            <a:ext cx="1341467" cy="798494"/>
          </a:xfrm>
          <a:prstGeom prst="roundRect">
            <a:avLst>
              <a:gd name="adj" fmla="val 0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316" tIns="12316" rIns="12316" bIns="12316"/>
          <a:lstStyle/>
          <a:p>
            <a:pPr defTabSz="100013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" altLang="zh-CN" sz="6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Device topology-aware scheduling</a:t>
            </a:r>
          </a:p>
          <a:p>
            <a:pPr defTabSz="100013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  <a:endParaRPr sz="675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阿里巴巴普惠体 2.0" pitchFamily="18" charset="-122"/>
              <a:cs typeface="Alibaba PuHuiTi 2.0 55 Regular" pitchFamily="18" charset="-122"/>
            </a:endParaRPr>
          </a:p>
        </p:txBody>
      </p:sp>
      <p:sp>
        <p:nvSpPr>
          <p:cNvPr id="58" name="Shape 359">
            <a:extLst>
              <a:ext uri="{FF2B5EF4-FFF2-40B4-BE49-F238E27FC236}">
                <a16:creationId xmlns:a16="http://schemas.microsoft.com/office/drawing/2014/main" id="{CB9F1EA7-A8CF-C339-A2E6-E2C9DADD983F}"/>
              </a:ext>
            </a:extLst>
          </p:cNvPr>
          <p:cNvSpPr/>
          <p:nvPr/>
        </p:nvSpPr>
        <p:spPr>
          <a:xfrm>
            <a:off x="1066306" y="2735070"/>
            <a:ext cx="3873867" cy="224186"/>
          </a:xfrm>
          <a:prstGeom prst="roundRect">
            <a:avLst>
              <a:gd name="adj" fmla="val 0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316" tIns="12316" rIns="12316" bIns="12316" anchor="ctr"/>
          <a:lstStyle/>
          <a:p>
            <a:pPr algn="ctr" defTabSz="100013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" altLang="zh-CN" sz="6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Optimization for AI, Big Data </a:t>
            </a:r>
            <a:r>
              <a:rPr lang="en-US" altLang="zh-CN" sz="6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Workload</a:t>
            </a:r>
            <a:endParaRPr lang="zh-CN" altLang="en-US" sz="675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阿里巴巴普惠体 2.0" pitchFamily="18" charset="-122"/>
              <a:cs typeface="Alibaba PuHuiTi 2.0 55 Regular" pitchFamily="18" charset="-122"/>
            </a:endParaRPr>
          </a:p>
        </p:txBody>
      </p:sp>
      <p:sp>
        <p:nvSpPr>
          <p:cNvPr id="59" name="Shape 368">
            <a:extLst>
              <a:ext uri="{FF2B5EF4-FFF2-40B4-BE49-F238E27FC236}">
                <a16:creationId xmlns:a16="http://schemas.microsoft.com/office/drawing/2014/main" id="{CB6240AA-DBFD-9A52-0931-6A9115776647}"/>
              </a:ext>
            </a:extLst>
          </p:cNvPr>
          <p:cNvSpPr/>
          <p:nvPr/>
        </p:nvSpPr>
        <p:spPr>
          <a:xfrm>
            <a:off x="1176796" y="3607890"/>
            <a:ext cx="435866" cy="16337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316" tIns="12316" rIns="12316" bIns="12316" anchor="ctr">
            <a:spAutoFit/>
          </a:bodyPr>
          <a:lstStyle>
            <a:lvl1pPr>
              <a:defRPr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 algn="ctr"/>
            <a:r>
              <a:rPr lang="en-US" altLang="zh-CN" sz="900" dirty="0">
                <a:latin typeface="Arial" panose="020B0604020202020204" pitchFamily="34" charset="0"/>
                <a:ea typeface="阿里巴巴普惠体 2.0" pitchFamily="18" charset="-122"/>
                <a:cs typeface="Arial" panose="020B0604020202020204" pitchFamily="34" charset="0"/>
              </a:rPr>
              <a:t>Pod</a:t>
            </a:r>
            <a:endParaRPr sz="900" dirty="0">
              <a:latin typeface="Arial" panose="020B0604020202020204" pitchFamily="34" charset="0"/>
              <a:ea typeface="阿里巴巴普惠体 2.0" pitchFamily="18" charset="-122"/>
              <a:cs typeface="Arial" panose="020B0604020202020204" pitchFamily="34" charset="0"/>
            </a:endParaRPr>
          </a:p>
        </p:txBody>
      </p:sp>
      <p:sp>
        <p:nvSpPr>
          <p:cNvPr id="60" name="流程 59">
            <a:extLst>
              <a:ext uri="{FF2B5EF4-FFF2-40B4-BE49-F238E27FC236}">
                <a16:creationId xmlns:a16="http://schemas.microsoft.com/office/drawing/2014/main" id="{A162589D-D9BF-236D-EA54-7E981BE5CBF2}"/>
              </a:ext>
            </a:extLst>
          </p:cNvPr>
          <p:cNvSpPr/>
          <p:nvPr/>
        </p:nvSpPr>
        <p:spPr>
          <a:xfrm>
            <a:off x="1133615" y="3364852"/>
            <a:ext cx="514350" cy="444934"/>
          </a:xfrm>
          <a:prstGeom prst="flowChartProcess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675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阿里巴巴普惠体 2.0" pitchFamily="18" charset="-122"/>
            </a:endParaRPr>
          </a:p>
        </p:txBody>
      </p:sp>
      <p:sp>
        <p:nvSpPr>
          <p:cNvPr id="61" name="右箭头 60">
            <a:extLst>
              <a:ext uri="{FF2B5EF4-FFF2-40B4-BE49-F238E27FC236}">
                <a16:creationId xmlns:a16="http://schemas.microsoft.com/office/drawing/2014/main" id="{F2C6E821-A59A-59A3-2EF3-C25F3741E1C2}"/>
              </a:ext>
            </a:extLst>
          </p:cNvPr>
          <p:cNvSpPr/>
          <p:nvPr/>
        </p:nvSpPr>
        <p:spPr>
          <a:xfrm>
            <a:off x="4140117" y="3533544"/>
            <a:ext cx="238631" cy="207883"/>
          </a:xfrm>
          <a:prstGeom prst="rightArrow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latin typeface="Arial" panose="020B0604020202020204" pitchFamily="34" charset="0"/>
              <a:ea typeface="阿里巴巴普惠体 2.0" pitchFamily="18" charset="-122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637414B9-008B-5708-BEE9-983DD155E3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6" t="13705" r="5791" b="18337"/>
          <a:stretch/>
        </p:blipFill>
        <p:spPr>
          <a:xfrm>
            <a:off x="2359348" y="2292755"/>
            <a:ext cx="1352567" cy="338045"/>
          </a:xfrm>
          <a:prstGeom prst="rect">
            <a:avLst/>
          </a:prstGeom>
          <a:ln>
            <a:noFill/>
          </a:ln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1237EF4D-864D-0DE3-5755-6BEE964FC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806" y="3422335"/>
            <a:ext cx="706106" cy="436124"/>
          </a:xfrm>
          <a:prstGeom prst="rect">
            <a:avLst/>
          </a:prstGeom>
          <a:ln>
            <a:noFill/>
          </a:ln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3AFB4CE0-19F6-D7A9-9EE7-78E031B083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0929" y="3488547"/>
            <a:ext cx="284812" cy="284812"/>
          </a:xfrm>
          <a:prstGeom prst="rect">
            <a:avLst/>
          </a:prstGeom>
          <a:ln>
            <a:noFill/>
          </a:ln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FA898E81-5754-AF92-A41F-295D5F7A4907}"/>
              </a:ext>
            </a:extLst>
          </p:cNvPr>
          <p:cNvSpPr/>
          <p:nvPr/>
        </p:nvSpPr>
        <p:spPr>
          <a:xfrm>
            <a:off x="1066307" y="4009157"/>
            <a:ext cx="3873866" cy="494945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7144" tIns="17144" rIns="17144" bIns="17144" numCol="1" spcCol="38100" rtlCol="0" anchor="t">
            <a:noAutofit/>
          </a:bodyPr>
          <a:lstStyle/>
          <a:p>
            <a:r>
              <a:rPr lang="en-US" altLang="zh-CN" sz="6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H</a:t>
            </a:r>
            <a:r>
              <a:rPr lang="en" altLang="zh-CN" sz="675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eterogeneous</a:t>
            </a:r>
            <a:r>
              <a:rPr lang="en" altLang="zh-CN" sz="6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 </a:t>
            </a:r>
            <a:r>
              <a:rPr lang="en" altLang="zh-CN" sz="675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comput</a:t>
            </a:r>
            <a:r>
              <a:rPr lang="en-US" altLang="zh-CN" sz="675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ing</a:t>
            </a:r>
            <a:r>
              <a:rPr lang="en" altLang="zh-CN" sz="675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阿里巴巴普惠体 2.0" pitchFamily="18" charset="-122"/>
                <a:cs typeface="Alibaba PuHuiTi 2.0 55 Regular" pitchFamily="18" charset="-122"/>
              </a:rPr>
              <a:t> resource management</a:t>
            </a:r>
          </a:p>
        </p:txBody>
      </p:sp>
      <p:sp>
        <p:nvSpPr>
          <p:cNvPr id="66" name="Shape 368">
            <a:extLst>
              <a:ext uri="{FF2B5EF4-FFF2-40B4-BE49-F238E27FC236}">
                <a16:creationId xmlns:a16="http://schemas.microsoft.com/office/drawing/2014/main" id="{1C01B794-020F-05D4-4E71-52DEC798D1B2}"/>
              </a:ext>
            </a:extLst>
          </p:cNvPr>
          <p:cNvSpPr/>
          <p:nvPr/>
        </p:nvSpPr>
        <p:spPr>
          <a:xfrm>
            <a:off x="1176796" y="3414405"/>
            <a:ext cx="435866" cy="16337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316" tIns="12316" rIns="12316" bIns="12316" anchor="ctr">
            <a:spAutoFit/>
          </a:bodyPr>
          <a:lstStyle>
            <a:lvl1pPr>
              <a:defRPr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 algn="ctr"/>
            <a:r>
              <a:rPr lang="en-US" altLang="zh-CN" sz="900" dirty="0">
                <a:latin typeface="Arial" panose="020B0604020202020204" pitchFamily="34" charset="0"/>
                <a:ea typeface="阿里巴巴普惠体 2.0" pitchFamily="18" charset="-122"/>
                <a:cs typeface="Arial" panose="020B0604020202020204" pitchFamily="34" charset="0"/>
              </a:rPr>
              <a:t>Pod</a:t>
            </a:r>
            <a:endParaRPr sz="900" dirty="0">
              <a:latin typeface="Arial" panose="020B0604020202020204" pitchFamily="34" charset="0"/>
              <a:ea typeface="阿里巴巴普惠体 2.0" pitchFamily="18" charset="-122"/>
              <a:cs typeface="Arial" panose="020B0604020202020204" pitchFamily="34" charset="0"/>
            </a:endParaRPr>
          </a:p>
        </p:txBody>
      </p:sp>
      <p:sp>
        <p:nvSpPr>
          <p:cNvPr id="67" name="Shape 368">
            <a:extLst>
              <a:ext uri="{FF2B5EF4-FFF2-40B4-BE49-F238E27FC236}">
                <a16:creationId xmlns:a16="http://schemas.microsoft.com/office/drawing/2014/main" id="{7E80C6BF-E714-92C6-7557-6CF9FE17CF7B}"/>
              </a:ext>
            </a:extLst>
          </p:cNvPr>
          <p:cNvSpPr/>
          <p:nvPr/>
        </p:nvSpPr>
        <p:spPr>
          <a:xfrm>
            <a:off x="1769103" y="3607890"/>
            <a:ext cx="435866" cy="16337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316" tIns="12316" rIns="12316" bIns="12316" anchor="ctr">
            <a:spAutoFit/>
          </a:bodyPr>
          <a:lstStyle>
            <a:lvl1pPr>
              <a:defRPr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 algn="ctr"/>
            <a:r>
              <a:rPr lang="en-US" altLang="zh-CN" sz="900" dirty="0">
                <a:latin typeface="Arial" panose="020B0604020202020204" pitchFamily="34" charset="0"/>
                <a:ea typeface="阿里巴巴普惠体 2.0" pitchFamily="18" charset="-122"/>
                <a:cs typeface="Arial" panose="020B0604020202020204" pitchFamily="34" charset="0"/>
              </a:rPr>
              <a:t>Pod</a:t>
            </a:r>
            <a:endParaRPr sz="900" dirty="0">
              <a:latin typeface="Arial" panose="020B0604020202020204" pitchFamily="34" charset="0"/>
              <a:ea typeface="阿里巴巴普惠体 2.0" pitchFamily="18" charset="-122"/>
              <a:cs typeface="Arial" panose="020B0604020202020204" pitchFamily="34" charset="0"/>
            </a:endParaRPr>
          </a:p>
        </p:txBody>
      </p:sp>
      <p:sp>
        <p:nvSpPr>
          <p:cNvPr id="68" name="流程 67">
            <a:extLst>
              <a:ext uri="{FF2B5EF4-FFF2-40B4-BE49-F238E27FC236}">
                <a16:creationId xmlns:a16="http://schemas.microsoft.com/office/drawing/2014/main" id="{4C37D015-DA86-E170-E34F-EC607057A63C}"/>
              </a:ext>
            </a:extLst>
          </p:cNvPr>
          <p:cNvSpPr/>
          <p:nvPr/>
        </p:nvSpPr>
        <p:spPr>
          <a:xfrm>
            <a:off x="1725921" y="3364852"/>
            <a:ext cx="514350" cy="444934"/>
          </a:xfrm>
          <a:prstGeom prst="flowChartProcess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675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阿里巴巴普惠体 2.0" pitchFamily="18" charset="-122"/>
            </a:endParaRPr>
          </a:p>
        </p:txBody>
      </p:sp>
      <p:sp>
        <p:nvSpPr>
          <p:cNvPr id="69" name="Shape 368">
            <a:extLst>
              <a:ext uri="{FF2B5EF4-FFF2-40B4-BE49-F238E27FC236}">
                <a16:creationId xmlns:a16="http://schemas.microsoft.com/office/drawing/2014/main" id="{496F93EE-72C1-2F44-0F2A-DE60F82A5036}"/>
              </a:ext>
            </a:extLst>
          </p:cNvPr>
          <p:cNvSpPr/>
          <p:nvPr/>
        </p:nvSpPr>
        <p:spPr>
          <a:xfrm>
            <a:off x="1769103" y="3414405"/>
            <a:ext cx="435866" cy="16337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316" tIns="12316" rIns="12316" bIns="12316" anchor="ctr">
            <a:spAutoFit/>
          </a:bodyPr>
          <a:lstStyle>
            <a:lvl1pPr>
              <a:defRPr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 algn="ctr"/>
            <a:r>
              <a:rPr lang="en-US" altLang="zh-CN" sz="900" dirty="0">
                <a:latin typeface="Arial" panose="020B0604020202020204" pitchFamily="34" charset="0"/>
                <a:ea typeface="阿里巴巴普惠体 2.0" pitchFamily="18" charset="-122"/>
                <a:cs typeface="Arial" panose="020B0604020202020204" pitchFamily="34" charset="0"/>
              </a:rPr>
              <a:t>Pod</a:t>
            </a:r>
            <a:endParaRPr sz="900" dirty="0">
              <a:latin typeface="Arial" panose="020B0604020202020204" pitchFamily="34" charset="0"/>
              <a:ea typeface="阿里巴巴普惠体 2.0" pitchFamily="18" charset="-122"/>
              <a:cs typeface="Arial" panose="020B0604020202020204" pitchFamily="34" charset="0"/>
            </a:endParaRPr>
          </a:p>
        </p:txBody>
      </p:sp>
      <p:sp>
        <p:nvSpPr>
          <p:cNvPr id="70" name="Shape 368">
            <a:extLst>
              <a:ext uri="{FF2B5EF4-FFF2-40B4-BE49-F238E27FC236}">
                <a16:creationId xmlns:a16="http://schemas.microsoft.com/office/drawing/2014/main" id="{C8A7DE7D-918F-179E-A7E7-4745CAD00420}"/>
              </a:ext>
            </a:extLst>
          </p:cNvPr>
          <p:cNvSpPr/>
          <p:nvPr/>
        </p:nvSpPr>
        <p:spPr>
          <a:xfrm>
            <a:off x="2456679" y="3569595"/>
            <a:ext cx="435866" cy="16337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316" tIns="12316" rIns="12316" bIns="12316" anchor="ctr">
            <a:spAutoFit/>
          </a:bodyPr>
          <a:lstStyle>
            <a:lvl1pPr>
              <a:defRPr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 algn="ctr"/>
            <a:r>
              <a:rPr lang="en-US" altLang="zh-CN" sz="900" dirty="0">
                <a:latin typeface="Arial" panose="020B0604020202020204" pitchFamily="34" charset="0"/>
                <a:ea typeface="阿里巴巴普惠体 2.0" pitchFamily="18" charset="-122"/>
                <a:cs typeface="Arial" panose="020B0604020202020204" pitchFamily="34" charset="0"/>
              </a:rPr>
              <a:t>Pod</a:t>
            </a:r>
            <a:endParaRPr sz="900" dirty="0">
              <a:latin typeface="Arial" panose="020B0604020202020204" pitchFamily="34" charset="0"/>
              <a:ea typeface="阿里巴巴普惠体 2.0" pitchFamily="18" charset="-122"/>
              <a:cs typeface="Arial" panose="020B0604020202020204" pitchFamily="34" charset="0"/>
            </a:endParaRPr>
          </a:p>
        </p:txBody>
      </p:sp>
      <p:sp>
        <p:nvSpPr>
          <p:cNvPr id="71" name="Shape 368">
            <a:extLst>
              <a:ext uri="{FF2B5EF4-FFF2-40B4-BE49-F238E27FC236}">
                <a16:creationId xmlns:a16="http://schemas.microsoft.com/office/drawing/2014/main" id="{6D35A22F-CC80-0DFF-116F-1C22C4329E90}"/>
              </a:ext>
            </a:extLst>
          </p:cNvPr>
          <p:cNvSpPr/>
          <p:nvPr/>
        </p:nvSpPr>
        <p:spPr>
          <a:xfrm>
            <a:off x="4436877" y="3658057"/>
            <a:ext cx="435866" cy="16337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316" tIns="12316" rIns="12316" bIns="12316" anchor="ctr">
            <a:spAutoFit/>
          </a:bodyPr>
          <a:lstStyle>
            <a:lvl1pPr>
              <a:defRPr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 algn="ctr"/>
            <a:r>
              <a:rPr lang="en-US" altLang="zh-CN" sz="900" dirty="0">
                <a:latin typeface="Arial" panose="020B0604020202020204" pitchFamily="34" charset="0"/>
                <a:ea typeface="阿里巴巴普惠体 2.0" pitchFamily="18" charset="-122"/>
                <a:cs typeface="Arial" panose="020B0604020202020204" pitchFamily="34" charset="0"/>
              </a:rPr>
              <a:t>Pod</a:t>
            </a:r>
            <a:endParaRPr sz="900" dirty="0">
              <a:latin typeface="Arial" panose="020B0604020202020204" pitchFamily="34" charset="0"/>
              <a:ea typeface="阿里巴巴普惠体 2.0" pitchFamily="18" charset="-122"/>
              <a:cs typeface="Arial" panose="020B0604020202020204" pitchFamily="34" charset="0"/>
            </a:endParaRPr>
          </a:p>
        </p:txBody>
      </p:sp>
      <p:sp>
        <p:nvSpPr>
          <p:cNvPr id="72" name="流程 71">
            <a:extLst>
              <a:ext uri="{FF2B5EF4-FFF2-40B4-BE49-F238E27FC236}">
                <a16:creationId xmlns:a16="http://schemas.microsoft.com/office/drawing/2014/main" id="{B07D219C-E573-8AEA-95B6-8EFC6D8C38A3}"/>
              </a:ext>
            </a:extLst>
          </p:cNvPr>
          <p:cNvSpPr/>
          <p:nvPr/>
        </p:nvSpPr>
        <p:spPr>
          <a:xfrm>
            <a:off x="4393695" y="3415018"/>
            <a:ext cx="514350" cy="444934"/>
          </a:xfrm>
          <a:prstGeom prst="flowChartProcess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675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阿里巴巴普惠体 2.0" pitchFamily="18" charset="-122"/>
            </a:endParaRPr>
          </a:p>
        </p:txBody>
      </p:sp>
      <p:sp>
        <p:nvSpPr>
          <p:cNvPr id="73" name="Shape 368">
            <a:extLst>
              <a:ext uri="{FF2B5EF4-FFF2-40B4-BE49-F238E27FC236}">
                <a16:creationId xmlns:a16="http://schemas.microsoft.com/office/drawing/2014/main" id="{40D6D11A-EA4B-A296-5DCE-69568CC9B763}"/>
              </a:ext>
            </a:extLst>
          </p:cNvPr>
          <p:cNvSpPr/>
          <p:nvPr/>
        </p:nvSpPr>
        <p:spPr>
          <a:xfrm>
            <a:off x="4436877" y="3464571"/>
            <a:ext cx="435866" cy="16337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316" tIns="12316" rIns="12316" bIns="12316" anchor="ctr">
            <a:spAutoFit/>
          </a:bodyPr>
          <a:lstStyle>
            <a:lvl1pPr>
              <a:defRPr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 algn="ctr"/>
            <a:r>
              <a:rPr lang="en-US" altLang="zh-CN" sz="900" dirty="0">
                <a:latin typeface="Arial" panose="020B0604020202020204" pitchFamily="34" charset="0"/>
                <a:ea typeface="阿里巴巴普惠体 2.0" pitchFamily="18" charset="-122"/>
                <a:cs typeface="Arial" panose="020B0604020202020204" pitchFamily="34" charset="0"/>
              </a:rPr>
              <a:t>Pod</a:t>
            </a:r>
            <a:endParaRPr sz="900" dirty="0">
              <a:latin typeface="Arial" panose="020B0604020202020204" pitchFamily="34" charset="0"/>
              <a:ea typeface="阿里巴巴普惠体 2.0" pitchFamily="18" charset="-122"/>
              <a:cs typeface="Arial" panose="020B0604020202020204" pitchFamily="34" charset="0"/>
            </a:endParaRPr>
          </a:p>
        </p:txBody>
      </p:sp>
      <p:sp>
        <p:nvSpPr>
          <p:cNvPr id="74" name="文本占位符 3">
            <a:extLst>
              <a:ext uri="{FF2B5EF4-FFF2-40B4-BE49-F238E27FC236}">
                <a16:creationId xmlns:a16="http://schemas.microsoft.com/office/drawing/2014/main" id="{026E4B35-DB4D-46BB-41D0-4DD827DCCC1C}"/>
              </a:ext>
            </a:extLst>
          </p:cNvPr>
          <p:cNvSpPr txBox="1">
            <a:spLocks/>
          </p:cNvSpPr>
          <p:nvPr/>
        </p:nvSpPr>
        <p:spPr>
          <a:xfrm>
            <a:off x="5174613" y="1292487"/>
            <a:ext cx="3914679" cy="3717003"/>
          </a:xfrm>
          <a:prstGeom prst="rect">
            <a:avLst/>
          </a:prstGeom>
          <a:ln w="12700">
            <a:miter lim="400000"/>
          </a:ln>
        </p:spPr>
        <p:txBody>
          <a:bodyPr lIns="19050" tIns="19050" rIns="19050" bIns="19050" anchor="t">
            <a:normAutofit lnSpcReduction="10000"/>
          </a:bodyPr>
          <a:lstStyle>
            <a:lvl1pPr marL="635000" marR="0" indent="-63500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Char char="•"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1270000" marR="0" indent="-63500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Char char="•"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1905000" marR="0" indent="-63500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Char char="•"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2540000" marR="0" indent="-63500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Char char="•"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3175000" marR="0" indent="-63500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Char char="•"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381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444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508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571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200" dirty="0"/>
              <a:t>任务调度</a:t>
            </a:r>
            <a:endParaRPr lang="en-US" altLang="zh-CN" sz="1200" dirty="0"/>
          </a:p>
          <a:p>
            <a:pPr marL="635000" lvl="1" indent="0">
              <a:lnSpc>
                <a:spcPct val="150000"/>
              </a:lnSpc>
              <a:buNone/>
            </a:pPr>
            <a:r>
              <a:rPr lang="en-US" altLang="zh-CN" sz="1200" dirty="0" err="1">
                <a:solidFill>
                  <a:schemeClr val="accent1">
                    <a:lumMod val="75000"/>
                  </a:schemeClr>
                </a:solidFill>
              </a:rPr>
              <a:t>Coscheudling</a:t>
            </a:r>
            <a:r>
              <a:rPr lang="zh-CN" altLang="en-US" sz="1200" dirty="0"/>
              <a:t>增强，兼容</a:t>
            </a:r>
            <a:r>
              <a:rPr lang="en-US" altLang="zh-CN" sz="1200" dirty="0" err="1"/>
              <a:t>PodGroup</a:t>
            </a:r>
            <a:r>
              <a:rPr lang="zh-CN" altLang="en-US" sz="1200" dirty="0"/>
              <a:t>，支持多</a:t>
            </a:r>
            <a:r>
              <a:rPr lang="en-US" altLang="zh-CN" sz="1200" dirty="0" err="1"/>
              <a:t>PodGroup</a:t>
            </a:r>
            <a:r>
              <a:rPr lang="zh-CN" altLang="en-US" sz="1200" dirty="0"/>
              <a:t>联合原子调度</a:t>
            </a:r>
            <a:endParaRPr lang="en-US" altLang="zh-CN" sz="1200" dirty="0"/>
          </a:p>
          <a:p>
            <a:pPr marL="635000" lvl="1" indent="0">
              <a:lnSpc>
                <a:spcPct val="150000"/>
              </a:lnSpc>
              <a:buNone/>
            </a:pPr>
            <a:r>
              <a:rPr lang="zh-CN" altLang="en-US" sz="1200" dirty="0"/>
              <a:t>基于</a:t>
            </a:r>
            <a:r>
              <a:rPr lang="en-US" altLang="zh-CN" sz="1200" dirty="0" err="1">
                <a:solidFill>
                  <a:schemeClr val="accent1">
                    <a:lumMod val="75000"/>
                  </a:schemeClr>
                </a:solidFill>
              </a:rPr>
              <a:t>ElasticQuota</a:t>
            </a:r>
            <a:r>
              <a:rPr lang="zh-CN" altLang="en-US" sz="1200" dirty="0"/>
              <a:t>的树形结构</a:t>
            </a:r>
            <a:r>
              <a:rPr lang="en-US" altLang="zh-CN" sz="1200" dirty="0"/>
              <a:t>Quota</a:t>
            </a:r>
            <a:r>
              <a:rPr lang="zh-CN" altLang="en-US" sz="1200" dirty="0"/>
              <a:t>，兼容社区语意，提升公平性</a:t>
            </a:r>
            <a:endParaRPr lang="en-US" altLang="zh-CN" sz="1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200" dirty="0"/>
              <a:t>硬件设备拓扑感知</a:t>
            </a:r>
            <a:endParaRPr lang="en-US" altLang="zh-CN" sz="1200" dirty="0"/>
          </a:p>
          <a:p>
            <a:pPr marL="635000" lvl="1" indent="0">
              <a:lnSpc>
                <a:spcPct val="150000"/>
              </a:lnSpc>
              <a:buNone/>
            </a:pP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拓扑结构影响</a:t>
            </a:r>
            <a:r>
              <a:rPr kumimoji="1" lang="zh-CN" altLang="en-US" sz="1200" dirty="0">
                <a:solidFill>
                  <a:srgbClr val="0070C0"/>
                </a:solidFill>
              </a:rPr>
              <a:t>设备间通信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效率（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PCIe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NUMA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）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  <a:p>
            <a:pPr marL="635000" lvl="1" indent="0">
              <a:lnSpc>
                <a:spcPct val="150000"/>
              </a:lnSpc>
              <a:buNone/>
            </a:pP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感知硬件间的拓扑关系，按照</a:t>
            </a:r>
            <a:r>
              <a:rPr kumimoji="1" lang="zh-CN" altLang="en-US" sz="1200" dirty="0">
                <a:solidFill>
                  <a:schemeClr val="accent1">
                    <a:lumMod val="75000"/>
                  </a:schemeClr>
                </a:solidFill>
              </a:rPr>
              <a:t>最优拓扑结构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分配设备，优化应用性能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资源调度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  <a:p>
            <a:pPr marL="635000" lvl="1" indent="0">
              <a:lnSpc>
                <a:spcPct val="150000"/>
              </a:lnSpc>
              <a:buNone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Pod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间</a:t>
            </a:r>
            <a:r>
              <a:rPr kumimoji="1" lang="zh-CN" altLang="en-US" sz="1200" dirty="0">
                <a:solidFill>
                  <a:schemeClr val="accent1">
                    <a:lumMod val="75000"/>
                  </a:schemeClr>
                </a:solidFill>
              </a:rPr>
              <a:t>共享 </a:t>
            </a:r>
            <a:r>
              <a:rPr kumimoji="1" lang="en-US" altLang="zh-CN" sz="1200" dirty="0">
                <a:solidFill>
                  <a:schemeClr val="accent1">
                    <a:lumMod val="75000"/>
                  </a:schemeClr>
                </a:solidFill>
              </a:rPr>
              <a:t>GPU </a:t>
            </a:r>
            <a:r>
              <a:rPr kumimoji="1" lang="zh-CN" altLang="en-US" sz="1200" dirty="0">
                <a:solidFill>
                  <a:schemeClr val="accent1">
                    <a:lumMod val="75000"/>
                  </a:schemeClr>
                </a:solidFill>
              </a:rPr>
              <a:t>算力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显存</a:t>
            </a:r>
          </a:p>
          <a:p>
            <a:pPr marL="635000" lvl="1" indent="0">
              <a:lnSpc>
                <a:spcPct val="150000"/>
              </a:lnSpc>
              <a:buNone/>
            </a:pP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支持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</a:rPr>
              <a:t>Binpack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/Spread </a:t>
            </a:r>
            <a:r>
              <a:rPr kumimoji="1" lang="zh-CN" altLang="en-US" sz="1200" dirty="0">
                <a:solidFill>
                  <a:schemeClr val="accent1">
                    <a:lumMod val="75000"/>
                  </a:schemeClr>
                </a:solidFill>
              </a:rPr>
              <a:t>分配策略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，满足成本和高可用的不同诉求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  <a:p>
            <a:pPr marL="635000" lvl="1" indent="0">
              <a:lnSpc>
                <a:spcPct val="150000"/>
              </a:lnSpc>
              <a:buNone/>
            </a:pPr>
            <a:r>
              <a:rPr kumimoji="1" lang="en-US" altLang="zh-CN" sz="1200" dirty="0">
                <a:solidFill>
                  <a:schemeClr val="accent1">
                    <a:lumMod val="75000"/>
                  </a:schemeClr>
                </a:solidFill>
              </a:rPr>
              <a:t>GPU MIG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，支持静态划分和动态划分（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WIP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）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5" name="圆角矩形 74">
            <a:extLst>
              <a:ext uri="{FF2B5EF4-FFF2-40B4-BE49-F238E27FC236}">
                <a16:creationId xmlns:a16="http://schemas.microsoft.com/office/drawing/2014/main" id="{05F756DF-04B2-0C82-9CED-ED8DC57C830F}"/>
              </a:ext>
            </a:extLst>
          </p:cNvPr>
          <p:cNvSpPr/>
          <p:nvPr/>
        </p:nvSpPr>
        <p:spPr>
          <a:xfrm>
            <a:off x="1130169" y="4216335"/>
            <a:ext cx="378831" cy="235516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7144" tIns="17144" rIns="17144" bIns="17144" numCol="1" spcCol="38100" rtlCol="0" anchor="ctr">
            <a:noAutofit/>
          </a:bodyPr>
          <a:lstStyle/>
          <a:p>
            <a:pPr algn="ctr" defTabSz="171450" hangingPunct="0">
              <a:defRPr/>
            </a:pPr>
            <a:r>
              <a:rPr lang="en-US" altLang="zh-CN" sz="675" kern="0" dirty="0">
                <a:solidFill>
                  <a:schemeClr val="bg1"/>
                </a:solidFill>
                <a:latin typeface="Arial" panose="020B0604020202020204" pitchFamily="34" charset="0"/>
                <a:ea typeface="阿里巴巴普惠体 2.0" pitchFamily="18" charset="-122"/>
                <a:sym typeface="Helvetica Light"/>
              </a:rPr>
              <a:t>CPU</a:t>
            </a:r>
            <a:endParaRPr lang="zh-CN" altLang="en-US" sz="675" kern="0" dirty="0">
              <a:solidFill>
                <a:schemeClr val="bg1"/>
              </a:solidFill>
              <a:latin typeface="Arial" panose="020B0604020202020204" pitchFamily="34" charset="0"/>
              <a:ea typeface="阿里巴巴普惠体 2.0" pitchFamily="18" charset="-122"/>
              <a:sym typeface="AlibabaPuHuiTiR"/>
            </a:endParaRP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CBC69096-5DA7-0B73-F85C-3B068C809E61}"/>
              </a:ext>
            </a:extLst>
          </p:cNvPr>
          <p:cNvSpPr/>
          <p:nvPr/>
        </p:nvSpPr>
        <p:spPr>
          <a:xfrm>
            <a:off x="2397157" y="4229227"/>
            <a:ext cx="454511" cy="2290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7144" tIns="17144" rIns="17144" bIns="17144" numCol="1" spcCol="38100" rtlCol="0" anchor="ctr">
            <a:noAutofit/>
          </a:bodyPr>
          <a:lstStyle/>
          <a:p>
            <a:pPr algn="ctr" defTabSz="171450" hangingPunct="0">
              <a:defRPr/>
            </a:pPr>
            <a:r>
              <a:rPr lang="en-US" altLang="zh-CN" sz="675" kern="0" dirty="0">
                <a:solidFill>
                  <a:schemeClr val="bg1"/>
                </a:solidFill>
                <a:latin typeface="Arial" panose="020B0604020202020204" pitchFamily="34" charset="0"/>
                <a:ea typeface="阿里巴巴普惠体 2.0" pitchFamily="18" charset="-122"/>
                <a:cs typeface="AlibabaPuHuiTiR"/>
                <a:sym typeface="AlibabaPuHuiTiR"/>
              </a:rPr>
              <a:t>FPGA</a:t>
            </a:r>
            <a:endParaRPr lang="zh-CN" altLang="en-US" sz="675" kern="0" dirty="0">
              <a:solidFill>
                <a:schemeClr val="bg1"/>
              </a:solidFill>
              <a:latin typeface="Arial" panose="020B0604020202020204" pitchFamily="34" charset="0"/>
              <a:ea typeface="阿里巴巴普惠体 2.0" pitchFamily="18" charset="-122"/>
              <a:cs typeface="AlibabaPuHuiTiR"/>
              <a:sym typeface="AlibabaPuHuiTiR"/>
            </a:endParaRPr>
          </a:p>
        </p:txBody>
      </p:sp>
      <p:sp>
        <p:nvSpPr>
          <p:cNvPr id="77" name="圆角矩形 76">
            <a:extLst>
              <a:ext uri="{FF2B5EF4-FFF2-40B4-BE49-F238E27FC236}">
                <a16:creationId xmlns:a16="http://schemas.microsoft.com/office/drawing/2014/main" id="{03FA7DAF-4512-5FB9-7460-F57F1D61F06B}"/>
              </a:ext>
            </a:extLst>
          </p:cNvPr>
          <p:cNvSpPr/>
          <p:nvPr/>
        </p:nvSpPr>
        <p:spPr>
          <a:xfrm>
            <a:off x="2906403" y="4229228"/>
            <a:ext cx="750343" cy="2290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7144" tIns="17144" rIns="17144" bIns="17144" numCol="1" spcCol="38100" rtlCol="0" anchor="ctr">
            <a:noAutofit/>
          </a:bodyPr>
          <a:lstStyle/>
          <a:p>
            <a:pPr algn="ctr" defTabSz="171450" hangingPunct="0">
              <a:defRPr/>
            </a:pPr>
            <a:r>
              <a:rPr lang="en-US" altLang="zh-CN" sz="675" kern="0" dirty="0">
                <a:solidFill>
                  <a:schemeClr val="bg1"/>
                </a:solidFill>
                <a:latin typeface="Arial" panose="020B0604020202020204" pitchFamily="34" charset="0"/>
                <a:ea typeface="阿里巴巴普惠体 2.0" pitchFamily="18" charset="-122"/>
                <a:cs typeface="AlibabaPuHuiTiR"/>
                <a:sym typeface="AlibabaPuHuiTiR"/>
              </a:rPr>
              <a:t>VPC/RDMA</a:t>
            </a:r>
            <a:endParaRPr lang="zh-CN" altLang="en-US" sz="675" kern="0" dirty="0">
              <a:solidFill>
                <a:schemeClr val="bg1"/>
              </a:solidFill>
              <a:latin typeface="Arial" panose="020B0604020202020204" pitchFamily="34" charset="0"/>
              <a:ea typeface="阿里巴巴普惠体 2.0" pitchFamily="18" charset="-122"/>
              <a:cs typeface="AlibabaPuHuiTiR"/>
              <a:sym typeface="AlibabaPuHuiTiR"/>
            </a:endParaRP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86859C0C-E84F-7E3F-8F49-003BDC7D11BE}"/>
              </a:ext>
            </a:extLst>
          </p:cNvPr>
          <p:cNvSpPr/>
          <p:nvPr/>
        </p:nvSpPr>
        <p:spPr>
          <a:xfrm>
            <a:off x="4439314" y="4219988"/>
            <a:ext cx="444920" cy="23831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7144" tIns="17144" rIns="17144" bIns="17144" numCol="1" spcCol="38100" rtlCol="0" anchor="ctr">
            <a:noAutofit/>
          </a:bodyPr>
          <a:lstStyle/>
          <a:p>
            <a:pPr algn="ctr" defTabSz="171450" hangingPunct="0">
              <a:defRPr/>
            </a:pPr>
            <a:r>
              <a:rPr lang="en-US" altLang="zh-CN" sz="675" kern="0" dirty="0">
                <a:solidFill>
                  <a:schemeClr val="bg1"/>
                </a:solidFill>
                <a:latin typeface="Arial" panose="020B0604020202020204" pitchFamily="34" charset="0"/>
                <a:ea typeface="阿里巴巴普惠体 2.0" pitchFamily="18" charset="-122"/>
                <a:cs typeface="AlibabaPuHuiTiR"/>
                <a:sym typeface="AlibabaPuHuiTiR"/>
              </a:rPr>
              <a:t>OSS</a:t>
            </a:r>
            <a:endParaRPr lang="zh-CN" altLang="en-US" sz="675" kern="0" dirty="0">
              <a:solidFill>
                <a:schemeClr val="bg1"/>
              </a:solidFill>
              <a:latin typeface="Arial" panose="020B0604020202020204" pitchFamily="34" charset="0"/>
              <a:ea typeface="阿里巴巴普惠体 2.0" pitchFamily="18" charset="-122"/>
              <a:cs typeface="AlibabaPuHuiTiR"/>
              <a:sym typeface="AlibabaPuHuiTiR"/>
            </a:endParaRPr>
          </a:p>
        </p:txBody>
      </p:sp>
      <p:sp>
        <p:nvSpPr>
          <p:cNvPr id="79" name="圆角矩形 78">
            <a:extLst>
              <a:ext uri="{FF2B5EF4-FFF2-40B4-BE49-F238E27FC236}">
                <a16:creationId xmlns:a16="http://schemas.microsoft.com/office/drawing/2014/main" id="{27E47542-2A70-BC64-BB55-C1167EFEF2BD}"/>
              </a:ext>
            </a:extLst>
          </p:cNvPr>
          <p:cNvSpPr/>
          <p:nvPr/>
        </p:nvSpPr>
        <p:spPr>
          <a:xfrm>
            <a:off x="1972955" y="4222782"/>
            <a:ext cx="378831" cy="235516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7144" tIns="17144" rIns="17144" bIns="17144" numCol="1" spcCol="38100" rtlCol="0" anchor="ctr">
            <a:noAutofit/>
          </a:bodyPr>
          <a:lstStyle/>
          <a:p>
            <a:pPr algn="ctr" defTabSz="171450" hangingPunct="0">
              <a:defRPr/>
            </a:pPr>
            <a:r>
              <a:rPr lang="en-US" altLang="zh-CN" sz="675" kern="0" dirty="0">
                <a:solidFill>
                  <a:schemeClr val="bg1"/>
                </a:solidFill>
                <a:latin typeface="Arial" panose="020B0604020202020204" pitchFamily="34" charset="0"/>
                <a:ea typeface="阿里巴巴普惠体 2.0" pitchFamily="18" charset="-122"/>
                <a:cs typeface="AlibabaPuHuiTiR"/>
                <a:sym typeface="AlibabaPuHuiTiR"/>
              </a:rPr>
              <a:t>NPU</a:t>
            </a:r>
            <a:endParaRPr lang="zh-CN" altLang="en-US" sz="675" kern="0" dirty="0">
              <a:solidFill>
                <a:schemeClr val="bg1"/>
              </a:solidFill>
              <a:latin typeface="Arial" panose="020B0604020202020204" pitchFamily="34" charset="0"/>
              <a:ea typeface="阿里巴巴普惠体 2.0" pitchFamily="18" charset="-122"/>
              <a:cs typeface="AlibabaPuHuiTiR"/>
              <a:sym typeface="AlibabaPuHuiTiR"/>
            </a:endParaRPr>
          </a:p>
        </p:txBody>
      </p:sp>
      <p:sp>
        <p:nvSpPr>
          <p:cNvPr id="80" name="圆角矩形 79">
            <a:extLst>
              <a:ext uri="{FF2B5EF4-FFF2-40B4-BE49-F238E27FC236}">
                <a16:creationId xmlns:a16="http://schemas.microsoft.com/office/drawing/2014/main" id="{717F307D-F083-28DC-5B1B-8CFD2ABF68BE}"/>
              </a:ext>
            </a:extLst>
          </p:cNvPr>
          <p:cNvSpPr/>
          <p:nvPr/>
        </p:nvSpPr>
        <p:spPr>
          <a:xfrm>
            <a:off x="1560677" y="4216335"/>
            <a:ext cx="378831" cy="235516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7144" tIns="17144" rIns="17144" bIns="17144" numCol="1" spcCol="38100" rtlCol="0" anchor="ctr">
            <a:noAutofit/>
          </a:bodyPr>
          <a:lstStyle/>
          <a:p>
            <a:pPr algn="ctr" defTabSz="171450" hangingPunct="0">
              <a:defRPr/>
            </a:pPr>
            <a:r>
              <a:rPr lang="en-US" altLang="zh-CN" sz="675" kern="0" dirty="0">
                <a:solidFill>
                  <a:schemeClr val="bg1"/>
                </a:solidFill>
                <a:latin typeface="Arial" panose="020B0604020202020204" pitchFamily="34" charset="0"/>
                <a:ea typeface="阿里巴巴普惠体 2.0" pitchFamily="18" charset="-122"/>
                <a:sym typeface="Helvetica Light"/>
              </a:rPr>
              <a:t>GPU</a:t>
            </a:r>
            <a:endParaRPr lang="zh-CN" altLang="en-US" sz="675" kern="0" dirty="0">
              <a:solidFill>
                <a:schemeClr val="bg1"/>
              </a:solidFill>
              <a:latin typeface="Arial" panose="020B0604020202020204" pitchFamily="34" charset="0"/>
              <a:ea typeface="阿里巴巴普惠体 2.0" pitchFamily="18" charset="-122"/>
              <a:sym typeface="AlibabaPuHuiTiR"/>
            </a:endParaRPr>
          </a:p>
        </p:txBody>
      </p: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70D31D47-0D1D-0438-36C4-9F2FE6787331}"/>
              </a:ext>
            </a:extLst>
          </p:cNvPr>
          <p:cNvSpPr/>
          <p:nvPr/>
        </p:nvSpPr>
        <p:spPr>
          <a:xfrm>
            <a:off x="3712684" y="4222781"/>
            <a:ext cx="660772" cy="2290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7144" tIns="17144" rIns="17144" bIns="17144" numCol="1" spcCol="38100" rtlCol="0" anchor="ctr">
            <a:noAutofit/>
          </a:bodyPr>
          <a:lstStyle/>
          <a:p>
            <a:pPr algn="ctr" defTabSz="171450" hangingPunct="0">
              <a:defRPr/>
            </a:pPr>
            <a:r>
              <a:rPr lang="en-US" altLang="zh-CN" sz="675" kern="0" dirty="0">
                <a:solidFill>
                  <a:schemeClr val="bg1"/>
                </a:solidFill>
                <a:latin typeface="Arial" panose="020B0604020202020204" pitchFamily="34" charset="0"/>
                <a:ea typeface="阿里巴巴普惠体 2.0" pitchFamily="18" charset="-122"/>
                <a:cs typeface="AlibabaPuHuiTiR"/>
                <a:sym typeface="AlibabaPuHuiTiR"/>
              </a:rPr>
              <a:t>NAS/CPFS</a:t>
            </a:r>
            <a:endParaRPr lang="zh-CN" altLang="en-US" sz="675" kern="0" dirty="0">
              <a:solidFill>
                <a:schemeClr val="bg1"/>
              </a:solidFill>
              <a:latin typeface="Arial" panose="020B0604020202020204" pitchFamily="34" charset="0"/>
              <a:ea typeface="阿里巴巴普惠体 2.0" pitchFamily="18" charset="-122"/>
              <a:cs typeface="AlibabaPuHuiTiR"/>
              <a:sym typeface="AlibabaPuHuiTiR"/>
            </a:endParaRPr>
          </a:p>
        </p:txBody>
      </p:sp>
    </p:spTree>
    <p:extLst>
      <p:ext uri="{BB962C8B-B14F-4D97-AF65-F5344CB8AC3E}">
        <p14:creationId xmlns:p14="http://schemas.microsoft.com/office/powerpoint/2010/main" val="2401980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8715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</a:t>
            </a: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altLang="zh-CN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Hadoop</a:t>
            </a: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YARN</a:t>
            </a: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3E2456B-9CDF-C562-FEBA-33A231C0D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418" y="1302067"/>
            <a:ext cx="3321528" cy="3828374"/>
          </a:xfrm>
          <a:prstGeom prst="rect">
            <a:avLst/>
          </a:prstGeom>
        </p:spPr>
      </p:pic>
      <p:sp>
        <p:nvSpPr>
          <p:cNvPr id="7" name="文本占位符 3">
            <a:extLst>
              <a:ext uri="{FF2B5EF4-FFF2-40B4-BE49-F238E27FC236}">
                <a16:creationId xmlns:a16="http://schemas.microsoft.com/office/drawing/2014/main" id="{BE4EF59C-58F4-E4FE-E50E-89B0F1DF3A16}"/>
              </a:ext>
            </a:extLst>
          </p:cNvPr>
          <p:cNvSpPr txBox="1">
            <a:spLocks/>
          </p:cNvSpPr>
          <p:nvPr/>
        </p:nvSpPr>
        <p:spPr>
          <a:xfrm>
            <a:off x="342695" y="1302068"/>
            <a:ext cx="4684219" cy="3717003"/>
          </a:xfrm>
          <a:prstGeom prst="rect">
            <a:avLst/>
          </a:prstGeom>
          <a:ln w="12700">
            <a:miter lim="400000"/>
          </a:ln>
        </p:spPr>
        <p:txBody>
          <a:bodyPr lIns="19050" tIns="19050" rIns="19050" bIns="19050" anchor="t">
            <a:normAutofit fontScale="92500" lnSpcReduction="10000"/>
          </a:bodyPr>
          <a:lstStyle>
            <a:lvl1pPr marL="635000" marR="0" indent="-63500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Char char="•"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1270000" marR="0" indent="-63500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Char char="•"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1905000" marR="0" indent="-63500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Char char="•"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2540000" marR="0" indent="-63500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Char char="•"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3175000" marR="0" indent="-63500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Char char="•"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381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444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508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571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350" dirty="0"/>
              <a:t>面向开源生态</a:t>
            </a:r>
            <a:endParaRPr lang="en-US" altLang="zh-CN" sz="1350" dirty="0"/>
          </a:p>
          <a:p>
            <a:pPr marL="635000" lvl="1" indent="0">
              <a:lnSpc>
                <a:spcPct val="150000"/>
              </a:lnSpc>
              <a:buNone/>
            </a:pPr>
            <a:r>
              <a:rPr lang="zh-CN" altLang="en-US" sz="1350" dirty="0"/>
              <a:t>基于</a:t>
            </a:r>
            <a:r>
              <a:rPr lang="zh-CN" altLang="en-US" sz="1350" dirty="0">
                <a:solidFill>
                  <a:schemeClr val="accent1">
                    <a:lumMod val="75000"/>
                  </a:schemeClr>
                </a:solidFill>
              </a:rPr>
              <a:t>开源版本</a:t>
            </a:r>
            <a:r>
              <a:rPr lang="en-US" altLang="zh-CN" sz="1350" dirty="0"/>
              <a:t>Hadoop</a:t>
            </a:r>
            <a:r>
              <a:rPr lang="zh-CN" altLang="en-US" sz="1350" dirty="0"/>
              <a:t>，</a:t>
            </a:r>
            <a:r>
              <a:rPr lang="zh-CN" altLang="en-US" sz="1350" dirty="0">
                <a:solidFill>
                  <a:schemeClr val="accent1">
                    <a:lumMod val="75000"/>
                  </a:schemeClr>
                </a:solidFill>
              </a:rPr>
              <a:t>非侵入式</a:t>
            </a:r>
            <a:r>
              <a:rPr lang="zh-CN" altLang="en-US" sz="1350" dirty="0"/>
              <a:t>改造</a:t>
            </a:r>
            <a:endParaRPr lang="en-US" altLang="zh-CN" sz="1350" dirty="0"/>
          </a:p>
          <a:p>
            <a:pPr marL="635000" lvl="1" indent="0">
              <a:lnSpc>
                <a:spcPct val="150000"/>
              </a:lnSpc>
              <a:buNone/>
            </a:pPr>
            <a:r>
              <a:rPr lang="zh-CN" altLang="en-US" sz="1350" dirty="0"/>
              <a:t>保持大数据作业</a:t>
            </a:r>
            <a:r>
              <a:rPr lang="zh-CN" altLang="en-US" sz="1350" dirty="0">
                <a:solidFill>
                  <a:srgbClr val="0070C0"/>
                </a:solidFill>
              </a:rPr>
              <a:t>提交入口为</a:t>
            </a:r>
            <a:r>
              <a:rPr lang="en-US" altLang="zh-CN" sz="1350" dirty="0">
                <a:solidFill>
                  <a:srgbClr val="0070C0"/>
                </a:solidFill>
              </a:rPr>
              <a:t>YARN</a:t>
            </a:r>
            <a:r>
              <a:rPr lang="zh-CN" altLang="en-US" sz="1350" dirty="0"/>
              <a:t>不变</a:t>
            </a:r>
            <a:endParaRPr lang="en-US" altLang="zh-CN" sz="135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350" dirty="0"/>
              <a:t>节点资源共享</a:t>
            </a:r>
            <a:endParaRPr lang="en-US" altLang="zh-CN" sz="1350" dirty="0"/>
          </a:p>
          <a:p>
            <a:pPr marL="635000" lvl="1" indent="0">
              <a:lnSpc>
                <a:spcPct val="150000"/>
              </a:lnSpc>
              <a:buNone/>
            </a:pPr>
            <a:r>
              <a:rPr lang="zh-CN" altLang="en-US" sz="1350" dirty="0"/>
              <a:t>超卖资源即可被</a:t>
            </a:r>
            <a:r>
              <a:rPr lang="en-US" altLang="zh-CN" sz="1350" dirty="0"/>
              <a:t>K8s Pod</a:t>
            </a:r>
            <a:r>
              <a:rPr lang="zh-CN" altLang="en-US" sz="1350" dirty="0"/>
              <a:t>使用，也可被</a:t>
            </a:r>
            <a:r>
              <a:rPr lang="en-US" altLang="zh-CN" sz="1350" dirty="0"/>
              <a:t>YARN task</a:t>
            </a:r>
            <a:r>
              <a:rPr lang="zh-CN" altLang="en-US" sz="1350" dirty="0"/>
              <a:t>使用</a:t>
            </a:r>
            <a:endParaRPr lang="en-US" altLang="zh-CN" sz="1350" dirty="0">
              <a:solidFill>
                <a:srgbClr val="FF7B00"/>
              </a:solidFill>
            </a:endParaRPr>
          </a:p>
          <a:p>
            <a:pPr marL="635000" lvl="1" indent="0">
              <a:lnSpc>
                <a:spcPct val="150000"/>
              </a:lnSpc>
              <a:buNone/>
            </a:pPr>
            <a:r>
              <a:rPr lang="en-US" altLang="zh-CN" sz="1350" dirty="0">
                <a:solidFill>
                  <a:srgbClr val="0070C0"/>
                </a:solidFill>
              </a:rPr>
              <a:t>YARN</a:t>
            </a:r>
            <a:r>
              <a:rPr lang="zh-CN" altLang="en-US" sz="1350" dirty="0">
                <a:solidFill>
                  <a:srgbClr val="0070C0"/>
                </a:solidFill>
              </a:rPr>
              <a:t> </a:t>
            </a:r>
            <a:r>
              <a:rPr lang="en-US" altLang="zh-CN" sz="1350" dirty="0">
                <a:solidFill>
                  <a:srgbClr val="0070C0"/>
                </a:solidFill>
              </a:rPr>
              <a:t>task</a:t>
            </a:r>
            <a:r>
              <a:rPr lang="zh-CN" altLang="en-US" sz="1350" dirty="0"/>
              <a:t>和</a:t>
            </a:r>
            <a:r>
              <a:rPr lang="en-US" altLang="zh-CN" sz="1350" dirty="0">
                <a:solidFill>
                  <a:srgbClr val="0070C0"/>
                </a:solidFill>
              </a:rPr>
              <a:t>Batch</a:t>
            </a:r>
            <a:r>
              <a:rPr lang="zh-CN" altLang="en-US" sz="1350" dirty="0">
                <a:solidFill>
                  <a:srgbClr val="0070C0"/>
                </a:solidFill>
              </a:rPr>
              <a:t> </a:t>
            </a:r>
            <a:r>
              <a:rPr lang="en-US" altLang="zh-CN" sz="1350" dirty="0">
                <a:solidFill>
                  <a:srgbClr val="0070C0"/>
                </a:solidFill>
              </a:rPr>
              <a:t>Pod</a:t>
            </a:r>
            <a:r>
              <a:rPr lang="zh-CN" altLang="en-US" sz="1350" dirty="0"/>
              <a:t>在同一节点内共存</a:t>
            </a:r>
            <a:endParaRPr lang="en-US" altLang="zh-CN" sz="135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350" dirty="0"/>
              <a:t>统一优先级</a:t>
            </a:r>
            <a:r>
              <a:rPr lang="en-US" altLang="zh-CN" sz="1350" dirty="0"/>
              <a:t>/QoS</a:t>
            </a:r>
            <a:r>
              <a:rPr lang="zh-CN" altLang="en-US" sz="1350" dirty="0"/>
              <a:t>策略</a:t>
            </a:r>
            <a:endParaRPr lang="en-US" altLang="zh-CN" sz="1350" dirty="0"/>
          </a:p>
          <a:p>
            <a:pPr marL="635000" lvl="1" indent="0">
              <a:lnSpc>
                <a:spcPct val="150000"/>
              </a:lnSpc>
              <a:buNone/>
            </a:pPr>
            <a:r>
              <a:rPr lang="zh-CN" altLang="en" sz="1350" dirty="0"/>
              <a:t>对接</a:t>
            </a:r>
            <a:r>
              <a:rPr lang="en-US" altLang="zh-CN" sz="1350" dirty="0" err="1"/>
              <a:t>Koordinator</a:t>
            </a:r>
            <a:r>
              <a:rPr lang="zh-CN" altLang="en-US" sz="1350" dirty="0"/>
              <a:t>的</a:t>
            </a:r>
            <a:r>
              <a:rPr lang="en-US" altLang="zh-CN" sz="1350" dirty="0">
                <a:solidFill>
                  <a:srgbClr val="0070C0"/>
                </a:solidFill>
              </a:rPr>
              <a:t>Batch</a:t>
            </a:r>
            <a:r>
              <a:rPr lang="zh-CN" altLang="en-US" sz="1350" dirty="0">
                <a:solidFill>
                  <a:srgbClr val="0070C0"/>
                </a:solidFill>
              </a:rPr>
              <a:t>优先级</a:t>
            </a:r>
            <a:r>
              <a:rPr lang="zh-CN" altLang="en-US" sz="1350" dirty="0"/>
              <a:t>资源</a:t>
            </a:r>
            <a:endParaRPr lang="en" altLang="zh-CN" sz="1350" dirty="0"/>
          </a:p>
          <a:p>
            <a:pPr marL="635000" lvl="1" indent="0">
              <a:lnSpc>
                <a:spcPct val="150000"/>
              </a:lnSpc>
              <a:buNone/>
            </a:pPr>
            <a:r>
              <a:rPr lang="zh-CN" altLang="en-US" sz="1350" dirty="0"/>
              <a:t>接受</a:t>
            </a:r>
            <a:r>
              <a:rPr lang="en" altLang="zh-CN" sz="1350" dirty="0" err="1"/>
              <a:t>Koordlet</a:t>
            </a:r>
            <a:r>
              <a:rPr lang="zh-CN" altLang="en-US" sz="1350" dirty="0"/>
              <a:t>的</a:t>
            </a:r>
            <a:r>
              <a:rPr lang="en" altLang="zh-CN" sz="1350" dirty="0"/>
              <a:t>QoS</a:t>
            </a:r>
            <a:r>
              <a:rPr lang="zh-CN" altLang="en-US" sz="1350" dirty="0"/>
              <a:t>策略管理</a:t>
            </a:r>
            <a:endParaRPr lang="en-US" altLang="zh-CN" sz="1350" dirty="0"/>
          </a:p>
          <a:p>
            <a:pPr marL="635000" lvl="1" indent="0">
              <a:lnSpc>
                <a:spcPct val="150000"/>
              </a:lnSpc>
              <a:buNone/>
            </a:pPr>
            <a:r>
              <a:rPr lang="en-US" altLang="zh-CN" sz="1350" dirty="0"/>
              <a:t>	CPU</a:t>
            </a:r>
            <a:r>
              <a:rPr lang="zh-CN" altLang="en-US" sz="1350" dirty="0"/>
              <a:t> </a:t>
            </a:r>
            <a:r>
              <a:rPr lang="en-US" altLang="zh-CN" sz="1350" dirty="0"/>
              <a:t>QoS</a:t>
            </a:r>
            <a:r>
              <a:rPr lang="zh-CN" altLang="en-US" sz="1350" dirty="0"/>
              <a:t>、</a:t>
            </a:r>
            <a:r>
              <a:rPr lang="en-US" altLang="zh-CN" sz="1350" dirty="0"/>
              <a:t>Memory</a:t>
            </a:r>
            <a:r>
              <a:rPr lang="zh-CN" altLang="en-US" sz="1350" dirty="0"/>
              <a:t> </a:t>
            </a:r>
            <a:r>
              <a:rPr lang="en-US" altLang="zh-CN" sz="1350" dirty="0"/>
              <a:t>QoS</a:t>
            </a:r>
            <a:r>
              <a:rPr lang="zh-CN" altLang="en-US" sz="1350" dirty="0"/>
              <a:t>、</a:t>
            </a:r>
            <a:r>
              <a:rPr lang="en-US" altLang="zh-CN" sz="1350" dirty="0"/>
              <a:t>LLC/</a:t>
            </a:r>
            <a:r>
              <a:rPr lang="zh-CN" altLang="en-US" sz="1350" dirty="0"/>
              <a:t>内存带宽</a:t>
            </a:r>
            <a:endParaRPr lang="en-US" altLang="zh-CN" sz="1350" dirty="0"/>
          </a:p>
          <a:p>
            <a:pPr marL="635000" lvl="1" indent="0">
              <a:lnSpc>
                <a:spcPct val="150000"/>
              </a:lnSpc>
              <a:buNone/>
            </a:pPr>
            <a:r>
              <a:rPr lang="zh-CN" altLang="en-US" sz="1350" dirty="0"/>
              <a:t>     单机驱逐</a:t>
            </a:r>
            <a:endParaRPr lang="en-US" altLang="zh-CN" sz="135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350" dirty="0"/>
              <a:t>支持对接</a:t>
            </a:r>
            <a:r>
              <a:rPr lang="zh-CN" altLang="en-US" sz="1350" dirty="0">
                <a:solidFill>
                  <a:srgbClr val="0070C0"/>
                </a:solidFill>
              </a:rPr>
              <a:t>阿里云</a:t>
            </a:r>
            <a:r>
              <a:rPr lang="en-US" altLang="zh-CN" sz="1350" dirty="0">
                <a:solidFill>
                  <a:srgbClr val="0070C0"/>
                </a:solidFill>
              </a:rPr>
              <a:t>EMR</a:t>
            </a:r>
            <a:r>
              <a:rPr lang="zh-CN" altLang="en-US" sz="1350" dirty="0"/>
              <a:t>产品能力</a:t>
            </a:r>
            <a:endParaRPr lang="en-US" altLang="zh-CN" sz="1350" dirty="0"/>
          </a:p>
          <a:p>
            <a:pPr marL="635000" lvl="1" indent="0">
              <a:lnSpc>
                <a:spcPct val="150000"/>
              </a:lnSpc>
              <a:buNone/>
            </a:pPr>
            <a:r>
              <a:rPr lang="en-US" altLang="zh-CN" sz="1350" dirty="0"/>
              <a:t>ACK</a:t>
            </a:r>
            <a:r>
              <a:rPr lang="zh-CN" altLang="en-US" sz="1350" dirty="0"/>
              <a:t>容器与</a:t>
            </a:r>
            <a:r>
              <a:rPr lang="en-US" altLang="zh-CN" sz="1350" dirty="0"/>
              <a:t>EMR</a:t>
            </a:r>
            <a:r>
              <a:rPr lang="zh-CN" altLang="en-US" sz="1350" dirty="0"/>
              <a:t>任务混部</a:t>
            </a:r>
            <a:endParaRPr lang="en-US" altLang="zh-CN" sz="1350" dirty="0"/>
          </a:p>
          <a:p>
            <a:pPr marL="635000" lvl="1" indent="0">
              <a:lnSpc>
                <a:spcPct val="150000"/>
              </a:lnSpc>
              <a:buNone/>
            </a:pPr>
            <a:r>
              <a:rPr lang="zh-CN" altLang="en-US" sz="1350" dirty="0"/>
              <a:t>基于</a:t>
            </a:r>
            <a:r>
              <a:rPr lang="en-US" altLang="zh-CN" sz="1350" dirty="0" err="1"/>
              <a:t>Koordinator</a:t>
            </a:r>
            <a:r>
              <a:rPr lang="zh-CN" altLang="en-US" sz="1350" dirty="0"/>
              <a:t>混部</a:t>
            </a:r>
            <a:r>
              <a:rPr lang="en-US" altLang="zh-CN" sz="1350" dirty="0"/>
              <a:t>QoS</a:t>
            </a:r>
            <a:r>
              <a:rPr lang="zh-CN" altLang="en-US" sz="1350" dirty="0"/>
              <a:t>能力</a:t>
            </a:r>
            <a:endParaRPr lang="en-US" altLang="zh-CN" sz="1350" dirty="0"/>
          </a:p>
        </p:txBody>
      </p:sp>
    </p:spTree>
    <p:extLst>
      <p:ext uri="{BB962C8B-B14F-4D97-AF65-F5344CB8AC3E}">
        <p14:creationId xmlns:p14="http://schemas.microsoft.com/office/powerpoint/2010/main" val="34261925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8715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社区生态合作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8" name="集群本地存储+OSS冷存架构性价比">
            <a:extLst>
              <a:ext uri="{FF2B5EF4-FFF2-40B4-BE49-F238E27FC236}">
                <a16:creationId xmlns:a16="http://schemas.microsoft.com/office/drawing/2014/main" id="{8C84A73A-110E-B81D-BFF7-E5574794D2D7}"/>
              </a:ext>
            </a:extLst>
          </p:cNvPr>
          <p:cNvSpPr txBox="1"/>
          <p:nvPr/>
        </p:nvSpPr>
        <p:spPr>
          <a:xfrm>
            <a:off x="2125068" y="1916913"/>
            <a:ext cx="2505876" cy="1731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l" defTabSz="274320">
              <a:defRPr sz="3000">
                <a:solidFill>
                  <a:srgbClr val="1E1E1E"/>
                </a:solidFill>
              </a:defRPr>
            </a:lvl1pPr>
          </a:lstStyle>
          <a:p>
            <a:r>
              <a:rPr lang="en-US" altLang="zh-CN" sz="1125" dirty="0" err="1"/>
              <a:t>Containerd</a:t>
            </a:r>
            <a:r>
              <a:rPr lang="en-US" altLang="zh-CN" sz="1125" dirty="0"/>
              <a:t> NRI</a:t>
            </a:r>
            <a:r>
              <a:rPr lang="zh-CN" altLang="en-US" sz="1125" dirty="0"/>
              <a:t>插件集成</a:t>
            </a:r>
            <a:endParaRPr sz="1125" dirty="0"/>
          </a:p>
        </p:txBody>
      </p:sp>
      <p:sp>
        <p:nvSpPr>
          <p:cNvPr id="9" name="高性能的数据存取能力…">
            <a:extLst>
              <a:ext uri="{FF2B5EF4-FFF2-40B4-BE49-F238E27FC236}">
                <a16:creationId xmlns:a16="http://schemas.microsoft.com/office/drawing/2014/main" id="{D6E02CD3-9F7E-D9D3-A577-CED6FEF4CF56}"/>
              </a:ext>
            </a:extLst>
          </p:cNvPr>
          <p:cNvSpPr txBox="1"/>
          <p:nvPr/>
        </p:nvSpPr>
        <p:spPr>
          <a:xfrm>
            <a:off x="2123393" y="2093778"/>
            <a:ext cx="2505876" cy="18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102870">
              <a:lnSpc>
                <a:spcPct val="120000"/>
              </a:lnSpc>
              <a:defRPr sz="2000">
                <a:solidFill>
                  <a:srgbClr val="53585F"/>
                </a:solidFill>
              </a:defRPr>
            </a:pP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</a:rPr>
              <a:t>@</a:t>
            </a:r>
            <a:r>
              <a:rPr lang="zh-CN" altLang="en-US" sz="1050" dirty="0">
                <a:solidFill>
                  <a:schemeClr val="accent1">
                    <a:lumMod val="75000"/>
                  </a:schemeClr>
                </a:solidFill>
              </a:rPr>
              <a:t>张康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</a:rPr>
              <a:t>from</a:t>
            </a:r>
            <a:r>
              <a:rPr lang="zh-CN" altLang="en-US" sz="105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</a:rPr>
              <a:t>Intel</a:t>
            </a:r>
            <a:r>
              <a:rPr lang="zh-CN" altLang="en-US" sz="1050" dirty="0">
                <a:solidFill>
                  <a:schemeClr val="accent1">
                    <a:lumMod val="75000"/>
                  </a:schemeClr>
                </a:solidFill>
              </a:rPr>
              <a:t> 主导</a:t>
            </a:r>
            <a:endParaRPr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集群本地存储+OSS冷存架构性价比">
            <a:extLst>
              <a:ext uri="{FF2B5EF4-FFF2-40B4-BE49-F238E27FC236}">
                <a16:creationId xmlns:a16="http://schemas.microsoft.com/office/drawing/2014/main" id="{D0F39116-EF55-7DA8-BB50-AC455437DB6E}"/>
              </a:ext>
            </a:extLst>
          </p:cNvPr>
          <p:cNvSpPr txBox="1"/>
          <p:nvPr/>
        </p:nvSpPr>
        <p:spPr>
          <a:xfrm>
            <a:off x="2145945" y="3211012"/>
            <a:ext cx="2505876" cy="1731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l" defTabSz="274320">
              <a:defRPr sz="3000">
                <a:solidFill>
                  <a:srgbClr val="1E1E1E"/>
                </a:solidFill>
              </a:defRPr>
            </a:lvl1pPr>
          </a:lstStyle>
          <a:p>
            <a:r>
              <a:rPr lang="zh-CN" altLang="en-US" sz="1125" dirty="0"/>
              <a:t>树形结构的</a:t>
            </a:r>
            <a:r>
              <a:rPr lang="en-US" altLang="zh-CN" sz="1125" dirty="0"/>
              <a:t>Elastic</a:t>
            </a:r>
            <a:r>
              <a:rPr lang="zh-CN" altLang="en-US" sz="1125" dirty="0"/>
              <a:t> </a:t>
            </a:r>
            <a:r>
              <a:rPr lang="en-US" altLang="zh-CN" sz="1125" dirty="0"/>
              <a:t>Quota</a:t>
            </a:r>
            <a:r>
              <a:rPr lang="zh-CN" altLang="en-US" sz="1125" dirty="0"/>
              <a:t>实现</a:t>
            </a:r>
            <a:endParaRPr sz="1125" dirty="0"/>
          </a:p>
        </p:txBody>
      </p:sp>
      <p:sp>
        <p:nvSpPr>
          <p:cNvPr id="11" name="高性能的数据存取能力…">
            <a:extLst>
              <a:ext uri="{FF2B5EF4-FFF2-40B4-BE49-F238E27FC236}">
                <a16:creationId xmlns:a16="http://schemas.microsoft.com/office/drawing/2014/main" id="{E6278976-F6B1-FE76-560E-E97075630262}"/>
              </a:ext>
            </a:extLst>
          </p:cNvPr>
          <p:cNvSpPr txBox="1"/>
          <p:nvPr/>
        </p:nvSpPr>
        <p:spPr>
          <a:xfrm>
            <a:off x="2145945" y="3384061"/>
            <a:ext cx="2505876" cy="18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102870">
              <a:lnSpc>
                <a:spcPct val="120000"/>
              </a:lnSpc>
              <a:defRPr sz="2000">
                <a:solidFill>
                  <a:srgbClr val="53585F"/>
                </a:solidFill>
              </a:defRPr>
            </a:pP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</a:rPr>
              <a:t>@</a:t>
            </a:r>
            <a:r>
              <a:rPr lang="zh-CN" altLang="en-US" sz="1050" dirty="0">
                <a:solidFill>
                  <a:schemeClr val="accent1">
                    <a:lumMod val="75000"/>
                  </a:schemeClr>
                </a:solidFill>
              </a:rPr>
              <a:t>王加胜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</a:rPr>
              <a:t>from</a:t>
            </a:r>
            <a:r>
              <a:rPr lang="zh-CN" altLang="en-US" sz="1050" dirty="0">
                <a:solidFill>
                  <a:schemeClr val="accent1">
                    <a:lumMod val="75000"/>
                  </a:schemeClr>
                </a:solidFill>
              </a:rPr>
              <a:t> 小米 参与</a:t>
            </a:r>
            <a:endParaRPr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集群本地存储+OSS冷存架构性价比">
            <a:extLst>
              <a:ext uri="{FF2B5EF4-FFF2-40B4-BE49-F238E27FC236}">
                <a16:creationId xmlns:a16="http://schemas.microsoft.com/office/drawing/2014/main" id="{CC4BF8A7-6715-5FC3-E5AD-70A7CB65AE98}"/>
              </a:ext>
            </a:extLst>
          </p:cNvPr>
          <p:cNvSpPr txBox="1"/>
          <p:nvPr/>
        </p:nvSpPr>
        <p:spPr>
          <a:xfrm>
            <a:off x="6322590" y="1804937"/>
            <a:ext cx="2505876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l" defTabSz="274320">
              <a:defRPr sz="3000">
                <a:solidFill>
                  <a:srgbClr val="1E1E1E"/>
                </a:solidFill>
              </a:defRPr>
            </a:lvl1pPr>
          </a:lstStyle>
          <a:p>
            <a:r>
              <a:rPr lang="zh-CN" altLang="en-US" sz="1125" dirty="0"/>
              <a:t>带外应用</a:t>
            </a:r>
            <a:r>
              <a:rPr lang="en-US" altLang="zh-CN" sz="1125" dirty="0"/>
              <a:t>QoS</a:t>
            </a:r>
            <a:r>
              <a:rPr lang="zh-CN" altLang="en-US" sz="1125" dirty="0"/>
              <a:t>管理，支持</a:t>
            </a:r>
            <a:r>
              <a:rPr lang="en-US" altLang="zh-CN" sz="1125" dirty="0"/>
              <a:t>K8s</a:t>
            </a:r>
            <a:r>
              <a:rPr lang="zh-CN" altLang="en-US" sz="1125" dirty="0"/>
              <a:t>与非容器化应用混部</a:t>
            </a:r>
            <a:endParaRPr sz="1125" dirty="0"/>
          </a:p>
        </p:txBody>
      </p:sp>
      <p:sp>
        <p:nvSpPr>
          <p:cNvPr id="13" name="高性能的数据存取能力…">
            <a:extLst>
              <a:ext uri="{FF2B5EF4-FFF2-40B4-BE49-F238E27FC236}">
                <a16:creationId xmlns:a16="http://schemas.microsoft.com/office/drawing/2014/main" id="{391CDDDC-B001-3E6B-4CD2-94E58F883B66}"/>
              </a:ext>
            </a:extLst>
          </p:cNvPr>
          <p:cNvSpPr txBox="1"/>
          <p:nvPr/>
        </p:nvSpPr>
        <p:spPr>
          <a:xfrm>
            <a:off x="6322590" y="2142004"/>
            <a:ext cx="2505876" cy="18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102870">
              <a:lnSpc>
                <a:spcPct val="120000"/>
              </a:lnSpc>
              <a:defRPr sz="2000">
                <a:solidFill>
                  <a:srgbClr val="53585F"/>
                </a:solidFill>
              </a:defRPr>
            </a:pP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</a:rPr>
              <a:t>@</a:t>
            </a:r>
            <a:r>
              <a:rPr lang="zh-CN" altLang="en-US" sz="1050" dirty="0">
                <a:solidFill>
                  <a:schemeClr val="accent1">
                    <a:lumMod val="75000"/>
                  </a:schemeClr>
                </a:solidFill>
              </a:rPr>
              <a:t>刘明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</a:rPr>
              <a:t>from</a:t>
            </a:r>
            <a:r>
              <a:rPr lang="zh-CN" altLang="en-US" sz="105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</a:rPr>
              <a:t>360</a:t>
            </a:r>
            <a:r>
              <a:rPr lang="zh-CN" altLang="en-US" sz="1050" dirty="0">
                <a:solidFill>
                  <a:schemeClr val="accent1">
                    <a:lumMod val="75000"/>
                  </a:schemeClr>
                </a:solidFill>
              </a:rPr>
              <a:t> 参与</a:t>
            </a:r>
            <a:endParaRPr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集群本地存储+OSS冷存架构性价比">
            <a:extLst>
              <a:ext uri="{FF2B5EF4-FFF2-40B4-BE49-F238E27FC236}">
                <a16:creationId xmlns:a16="http://schemas.microsoft.com/office/drawing/2014/main" id="{EBEE9EF5-53C8-2FA0-B34C-F3A212903A7B}"/>
              </a:ext>
            </a:extLst>
          </p:cNvPr>
          <p:cNvSpPr txBox="1"/>
          <p:nvPr/>
        </p:nvSpPr>
        <p:spPr>
          <a:xfrm>
            <a:off x="6322590" y="3209057"/>
            <a:ext cx="2505876" cy="1731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l" defTabSz="274320">
              <a:defRPr sz="3000">
                <a:solidFill>
                  <a:srgbClr val="1E1E1E"/>
                </a:solidFill>
              </a:defRPr>
            </a:lvl1pPr>
          </a:lstStyle>
          <a:p>
            <a:r>
              <a:rPr lang="zh-CN" altLang="en-US" sz="1125" dirty="0"/>
              <a:t>单机指标存储持久化</a:t>
            </a:r>
            <a:endParaRPr sz="1125" dirty="0"/>
          </a:p>
        </p:txBody>
      </p:sp>
      <p:sp>
        <p:nvSpPr>
          <p:cNvPr id="15" name="高性能的数据存取能力…">
            <a:extLst>
              <a:ext uri="{FF2B5EF4-FFF2-40B4-BE49-F238E27FC236}">
                <a16:creationId xmlns:a16="http://schemas.microsoft.com/office/drawing/2014/main" id="{40A5CFC6-C38C-1AEB-9E65-C82B45A934E7}"/>
              </a:ext>
            </a:extLst>
          </p:cNvPr>
          <p:cNvSpPr txBox="1"/>
          <p:nvPr/>
        </p:nvSpPr>
        <p:spPr>
          <a:xfrm>
            <a:off x="6322590" y="3366006"/>
            <a:ext cx="2505876" cy="18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102870">
              <a:lnSpc>
                <a:spcPct val="120000"/>
              </a:lnSpc>
              <a:defRPr sz="2000">
                <a:solidFill>
                  <a:srgbClr val="53585F"/>
                </a:solidFill>
              </a:defRPr>
            </a:pP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</a:rPr>
              <a:t>@</a:t>
            </a:r>
            <a:r>
              <a:rPr lang="zh-CN" altLang="en-US" sz="1050" dirty="0">
                <a:solidFill>
                  <a:schemeClr val="accent1">
                    <a:lumMod val="75000"/>
                  </a:schemeClr>
                </a:solidFill>
              </a:rPr>
              <a:t>黄金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</a:rPr>
              <a:t>from</a:t>
            </a:r>
            <a:r>
              <a:rPr lang="zh-CN" altLang="en-US" sz="1050" dirty="0">
                <a:solidFill>
                  <a:schemeClr val="accent1">
                    <a:lumMod val="75000"/>
                  </a:schemeClr>
                </a:solidFill>
              </a:rPr>
              <a:t> 趣丸科技 参与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5440D25-2B63-2E17-DBE6-7AC98D7E05F4}"/>
              </a:ext>
            </a:extLst>
          </p:cNvPr>
          <p:cNvGrpSpPr/>
          <p:nvPr/>
        </p:nvGrpSpPr>
        <p:grpSpPr>
          <a:xfrm>
            <a:off x="4861100" y="1789785"/>
            <a:ext cx="1252212" cy="1024610"/>
            <a:chOff x="13824500" y="4003510"/>
            <a:chExt cx="3930591" cy="2854489"/>
          </a:xfrm>
        </p:grpSpPr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99D43D38-CE16-8B95-237F-DE543B268BFE}"/>
                </a:ext>
              </a:extLst>
            </p:cNvPr>
            <p:cNvSpPr>
              <a:spLocks/>
            </p:cNvSpPr>
            <p:nvPr/>
          </p:nvSpPr>
          <p:spPr>
            <a:xfrm>
              <a:off x="13824500" y="4003510"/>
              <a:ext cx="3930591" cy="285448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t">
              <a:normAutofit/>
            </a:bodyPr>
            <a:lstStyle/>
            <a:p>
              <a:pPr algn="ctr" defTabSz="914376" hangingPunct="0"/>
              <a:r>
                <a:rPr lang="en-US" altLang="zh-CN" sz="900" dirty="0">
                  <a:solidFill>
                    <a:srgbClr val="5E5E5E"/>
                  </a:solidFill>
                  <a:sym typeface="Alibaba PuHuiTi 2 55 Regular"/>
                </a:rPr>
                <a:t>Node</a:t>
              </a:r>
              <a:endParaRPr lang="zh-CN" altLang="en-US" sz="900" dirty="0">
                <a:solidFill>
                  <a:srgbClr val="5E5E5E"/>
                </a:solidFill>
                <a:sym typeface="Alibaba PuHuiTi 2 55 Regular"/>
              </a:endParaRPr>
            </a:p>
          </p:txBody>
        </p:sp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00CC3FDF-CDB0-743E-4BC8-2FCC912A19E4}"/>
                </a:ext>
              </a:extLst>
            </p:cNvPr>
            <p:cNvSpPr/>
            <p:nvPr/>
          </p:nvSpPr>
          <p:spPr>
            <a:xfrm>
              <a:off x="14259578" y="4682822"/>
              <a:ext cx="1530218" cy="782782"/>
            </a:xfrm>
            <a:prstGeom prst="roundRect">
              <a:avLst/>
            </a:prstGeom>
            <a:solidFill>
              <a:schemeClr val="accent1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rmAutofit/>
            </a:bodyPr>
            <a:lstStyle/>
            <a:p>
              <a:pPr algn="ctr" defTabSz="914376" hangingPunct="0"/>
              <a:r>
                <a:rPr lang="en-US" altLang="zh-CN" sz="1050" dirty="0">
                  <a:solidFill>
                    <a:schemeClr val="bg1"/>
                  </a:solidFill>
                  <a:sym typeface="Alibaba PuHuiTi 2 55 Regular"/>
                </a:rPr>
                <a:t>Pod</a:t>
              </a:r>
              <a:endParaRPr lang="zh-CN" altLang="en-US" sz="1050" dirty="0">
                <a:solidFill>
                  <a:schemeClr val="bg1"/>
                </a:solidFill>
                <a:sym typeface="Alibaba PuHuiTi 2 55 Regular"/>
              </a:endParaRPr>
            </a:p>
          </p:txBody>
        </p:sp>
        <p:sp>
          <p:nvSpPr>
            <p:cNvPr id="20" name="圆角矩形 19">
              <a:extLst>
                <a:ext uri="{FF2B5EF4-FFF2-40B4-BE49-F238E27FC236}">
                  <a16:creationId xmlns:a16="http://schemas.microsoft.com/office/drawing/2014/main" id="{EC52262D-0EEB-7FFD-14C7-DFD197642E81}"/>
                </a:ext>
              </a:extLst>
            </p:cNvPr>
            <p:cNvSpPr/>
            <p:nvPr/>
          </p:nvSpPr>
          <p:spPr>
            <a:xfrm>
              <a:off x="15888364" y="4650610"/>
              <a:ext cx="1530218" cy="782782"/>
            </a:xfrm>
            <a:prstGeom prst="roundRect">
              <a:avLst/>
            </a:prstGeom>
            <a:solidFill>
              <a:schemeClr val="accent1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rmAutofit/>
            </a:bodyPr>
            <a:lstStyle/>
            <a:p>
              <a:pPr algn="ctr" defTabSz="914376" hangingPunct="0"/>
              <a:r>
                <a:rPr lang="en-US" altLang="zh-CN" sz="1050" dirty="0">
                  <a:solidFill>
                    <a:schemeClr val="bg1"/>
                  </a:solidFill>
                  <a:sym typeface="Alibaba PuHuiTi 2 55 Regular"/>
                </a:rPr>
                <a:t>Pod</a:t>
              </a:r>
              <a:endParaRPr lang="zh-CN" altLang="en-US" sz="1050" dirty="0">
                <a:solidFill>
                  <a:schemeClr val="bg1"/>
                </a:solidFill>
                <a:sym typeface="Alibaba PuHuiTi 2 55 Regular"/>
              </a:endParaRPr>
            </a:p>
          </p:txBody>
        </p: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E8CA1AA4-9C10-720A-7387-1BA5BC7C3CE2}"/>
                </a:ext>
              </a:extLst>
            </p:cNvPr>
            <p:cNvCxnSpPr>
              <a:cxnSpLocks/>
            </p:cNvCxnSpPr>
            <p:nvPr/>
          </p:nvCxnSpPr>
          <p:spPr>
            <a:xfrm>
              <a:off x="13824500" y="5629420"/>
              <a:ext cx="3930591" cy="0"/>
            </a:xfrm>
            <a:prstGeom prst="line">
              <a:avLst/>
            </a:prstGeom>
            <a:noFill/>
            <a:ln w="25400" cap="flat">
              <a:solidFill>
                <a:schemeClr val="bg2"/>
              </a:solidFill>
              <a:prstDash val="dash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2" name="圆角矩形 21">
              <a:extLst>
                <a:ext uri="{FF2B5EF4-FFF2-40B4-BE49-F238E27FC236}">
                  <a16:creationId xmlns:a16="http://schemas.microsoft.com/office/drawing/2014/main" id="{8C6BFD64-9B9D-8B50-7BA9-FB67733189F8}"/>
                </a:ext>
              </a:extLst>
            </p:cNvPr>
            <p:cNvSpPr/>
            <p:nvPr/>
          </p:nvSpPr>
          <p:spPr>
            <a:xfrm>
              <a:off x="14237614" y="5861555"/>
              <a:ext cx="3180967" cy="760467"/>
            </a:xfrm>
            <a:prstGeom prst="roundRect">
              <a:avLst/>
            </a:prstGeom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rmAutofit/>
            </a:bodyPr>
            <a:lstStyle/>
            <a:p>
              <a:pPr algn="ctr" defTabSz="914376" hangingPunct="0"/>
              <a:r>
                <a:rPr lang="zh-CN" altLang="en-US" sz="1050" dirty="0">
                  <a:solidFill>
                    <a:schemeClr val="bg1"/>
                  </a:solidFill>
                  <a:sym typeface="Alibaba PuHuiTi 2 55 Regular"/>
                </a:rPr>
                <a:t>带外应用进程</a:t>
              </a:r>
            </a:p>
          </p:txBody>
        </p:sp>
      </p:grpSp>
      <p:sp>
        <p:nvSpPr>
          <p:cNvPr id="23" name="高性能的数据存取能力…">
            <a:extLst>
              <a:ext uri="{FF2B5EF4-FFF2-40B4-BE49-F238E27FC236}">
                <a16:creationId xmlns:a16="http://schemas.microsoft.com/office/drawing/2014/main" id="{705CA32F-1774-0A3B-6A62-1197897A82F0}"/>
              </a:ext>
            </a:extLst>
          </p:cNvPr>
          <p:cNvSpPr txBox="1"/>
          <p:nvPr/>
        </p:nvSpPr>
        <p:spPr>
          <a:xfrm>
            <a:off x="6322590" y="2357335"/>
            <a:ext cx="2505876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102870">
              <a:lnSpc>
                <a:spcPct val="120000"/>
              </a:lnSpc>
              <a:defRPr sz="2000">
                <a:solidFill>
                  <a:srgbClr val="53585F"/>
                </a:solidFill>
              </a:defRPr>
            </a:pPr>
            <a:r>
              <a:rPr lang="zh-CN" altLang="en-US" sz="1050" dirty="0"/>
              <a:t>为非容器化应用预留资源</a:t>
            </a:r>
            <a:r>
              <a:rPr lang="en-US" altLang="zh-CN" sz="1050" dirty="0"/>
              <a:t> (</a:t>
            </a:r>
            <a:r>
              <a:rPr lang="en-US" altLang="zh-CN" sz="1050" dirty="0" err="1"/>
              <a:t>CPUSet</a:t>
            </a:r>
            <a:r>
              <a:rPr lang="zh-CN" altLang="en-US" sz="1050" dirty="0"/>
              <a:t>、内存</a:t>
            </a:r>
            <a:r>
              <a:rPr lang="en-US" altLang="zh-CN" sz="1050" dirty="0"/>
              <a:t>)</a:t>
            </a:r>
            <a:endParaRPr sz="1050" dirty="0"/>
          </a:p>
          <a:p>
            <a:pPr defTabSz="102870">
              <a:lnSpc>
                <a:spcPct val="120000"/>
              </a:lnSpc>
              <a:defRPr sz="2000">
                <a:solidFill>
                  <a:srgbClr val="53585F"/>
                </a:solidFill>
              </a:defRPr>
            </a:pPr>
            <a:r>
              <a:rPr lang="zh-CN" altLang="en-US" sz="1050" dirty="0"/>
              <a:t>纳管应用进程</a:t>
            </a:r>
            <a:r>
              <a:rPr lang="en-US" altLang="zh-CN" sz="1050" dirty="0"/>
              <a:t>QoS</a:t>
            </a:r>
            <a:endParaRPr sz="1050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B249697-F919-360D-A5D6-C92894FB7D10}"/>
              </a:ext>
            </a:extLst>
          </p:cNvPr>
          <p:cNvGrpSpPr/>
          <p:nvPr/>
        </p:nvGrpSpPr>
        <p:grpSpPr>
          <a:xfrm>
            <a:off x="4861100" y="3103931"/>
            <a:ext cx="1252212" cy="1024610"/>
            <a:chOff x="12471039" y="10475554"/>
            <a:chExt cx="3339232" cy="2732293"/>
          </a:xfrm>
        </p:grpSpPr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5D5FB8A7-5E04-82BF-BF2A-EBB5DDDD089C}"/>
                </a:ext>
              </a:extLst>
            </p:cNvPr>
            <p:cNvSpPr/>
            <p:nvPr/>
          </p:nvSpPr>
          <p:spPr>
            <a:xfrm>
              <a:off x="12471039" y="10475554"/>
              <a:ext cx="3339232" cy="2732293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t">
              <a:normAutofit/>
            </a:bodyPr>
            <a:lstStyle/>
            <a:p>
              <a:pPr algn="ctr" defTabSz="914376" hangingPunct="0"/>
              <a:r>
                <a:rPr lang="en-US" altLang="zh-CN" sz="900" dirty="0" err="1">
                  <a:solidFill>
                    <a:srgbClr val="5E5E5E"/>
                  </a:solidFill>
                  <a:sym typeface="Alibaba PuHuiTi 2 55 Regular"/>
                </a:rPr>
                <a:t>Koordlet</a:t>
              </a:r>
              <a:endParaRPr lang="zh-CN" altLang="en-US" sz="900" dirty="0">
                <a:solidFill>
                  <a:srgbClr val="5E5E5E"/>
                </a:solidFill>
                <a:sym typeface="Alibaba PuHuiTi 2 55 Regular"/>
              </a:endParaRPr>
            </a:p>
          </p:txBody>
        </p:sp>
        <p:sp>
          <p:nvSpPr>
            <p:cNvPr id="26" name="圆角矩形 25">
              <a:extLst>
                <a:ext uri="{FF2B5EF4-FFF2-40B4-BE49-F238E27FC236}">
                  <a16:creationId xmlns:a16="http://schemas.microsoft.com/office/drawing/2014/main" id="{15058CE7-C166-0C1A-61BE-6E640AE0A440}"/>
                </a:ext>
              </a:extLst>
            </p:cNvPr>
            <p:cNvSpPr/>
            <p:nvPr/>
          </p:nvSpPr>
          <p:spPr>
            <a:xfrm>
              <a:off x="12619098" y="12270708"/>
              <a:ext cx="3073184" cy="522128"/>
            </a:xfrm>
            <a:prstGeom prst="round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spAutoFit/>
            </a:bodyPr>
            <a:lstStyle/>
            <a:p>
              <a:pPr algn="ctr" defTabSz="914376" hangingPunct="0"/>
              <a:endParaRPr lang="zh-CN" altLang="en-US" sz="900">
                <a:solidFill>
                  <a:srgbClr val="5E5E5E"/>
                </a:solidFill>
                <a:sym typeface="Alibaba PuHuiTi 2 55 Regular"/>
              </a:endParaRPr>
            </a:p>
          </p:txBody>
        </p:sp>
        <p:pic>
          <p:nvPicPr>
            <p:cNvPr id="27" name="图形 26">
              <a:extLst>
                <a:ext uri="{FF2B5EF4-FFF2-40B4-BE49-F238E27FC236}">
                  <a16:creationId xmlns:a16="http://schemas.microsoft.com/office/drawing/2014/main" id="{A0C184B6-7CD0-E75C-7EF4-B8AE56576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730989" y="12239375"/>
              <a:ext cx="673463" cy="673463"/>
            </a:xfrm>
            <a:prstGeom prst="rect">
              <a:avLst/>
            </a:prstGeom>
          </p:spPr>
        </p:pic>
        <p:pic>
          <p:nvPicPr>
            <p:cNvPr id="28" name="图形 27">
              <a:extLst>
                <a:ext uri="{FF2B5EF4-FFF2-40B4-BE49-F238E27FC236}">
                  <a16:creationId xmlns:a16="http://schemas.microsoft.com/office/drawing/2014/main" id="{202EC4AC-35DE-9978-91A5-FE194F449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404452" y="12239375"/>
              <a:ext cx="673463" cy="673463"/>
            </a:xfrm>
            <a:prstGeom prst="rect">
              <a:avLst/>
            </a:prstGeom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B4B16D3-2E36-C8FB-D2FF-63EF88F6CDED}"/>
                </a:ext>
              </a:extLst>
            </p:cNvPr>
            <p:cNvSpPr txBox="1"/>
            <p:nvPr/>
          </p:nvSpPr>
          <p:spPr>
            <a:xfrm>
              <a:off x="14022668" y="12332202"/>
              <a:ext cx="1669616" cy="4719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spAutoFit/>
            </a:bodyPr>
            <a:lstStyle/>
            <a:p>
              <a:pPr algn="ctr" defTabSz="914376" hangingPunct="0"/>
              <a:r>
                <a:rPr lang="en-US" altLang="zh-CN" sz="900" dirty="0">
                  <a:solidFill>
                    <a:srgbClr val="5E5E5E"/>
                  </a:solidFill>
                  <a:sym typeface="Alibaba PuHuiTi 2 55 Regular"/>
                </a:rPr>
                <a:t>local</a:t>
              </a:r>
              <a:r>
                <a:rPr lang="zh-CN" altLang="en-US" sz="900" dirty="0">
                  <a:solidFill>
                    <a:srgbClr val="5E5E5E"/>
                  </a:solidFill>
                  <a:sym typeface="Alibaba PuHuiTi 2 55 Regular"/>
                </a:rPr>
                <a:t> </a:t>
              </a:r>
              <a:r>
                <a:rPr lang="en-US" altLang="zh-CN" sz="900" dirty="0">
                  <a:solidFill>
                    <a:srgbClr val="5E5E5E"/>
                  </a:solidFill>
                  <a:sym typeface="Alibaba PuHuiTi 2 55 Regular"/>
                </a:rPr>
                <a:t>TSDB</a:t>
              </a:r>
              <a:endParaRPr lang="zh-CN" altLang="en-US" sz="900" dirty="0">
                <a:solidFill>
                  <a:srgbClr val="5E5E5E"/>
                </a:solidFill>
                <a:sym typeface="Alibaba PuHuiTi 2 55 Regular"/>
              </a:endParaRPr>
            </a:p>
          </p:txBody>
        </p:sp>
        <p:sp>
          <p:nvSpPr>
            <p:cNvPr id="30" name="圆角矩形 29">
              <a:extLst>
                <a:ext uri="{FF2B5EF4-FFF2-40B4-BE49-F238E27FC236}">
                  <a16:creationId xmlns:a16="http://schemas.microsoft.com/office/drawing/2014/main" id="{17ABF267-9851-654B-3758-E71F98491F2F}"/>
                </a:ext>
              </a:extLst>
            </p:cNvPr>
            <p:cNvSpPr/>
            <p:nvPr/>
          </p:nvSpPr>
          <p:spPr>
            <a:xfrm>
              <a:off x="12619097" y="11116222"/>
              <a:ext cx="3073185" cy="777916"/>
            </a:xfrm>
            <a:prstGeom prst="roundRect">
              <a:avLst/>
            </a:prstGeom>
            <a:solidFill>
              <a:schemeClr val="accent1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normAutofit/>
            </a:bodyPr>
            <a:lstStyle/>
            <a:p>
              <a:pPr algn="ctr" defTabSz="914376" hangingPunct="0"/>
              <a:r>
                <a:rPr lang="en-US" altLang="zh-CN" sz="900" dirty="0">
                  <a:solidFill>
                    <a:schemeClr val="bg1"/>
                  </a:solidFill>
                  <a:sym typeface="Alibaba PuHuiTi 2 55 Regular"/>
                </a:rPr>
                <a:t>Collector</a:t>
              </a:r>
              <a:endParaRPr lang="zh-CN" altLang="en-US" sz="900" dirty="0">
                <a:solidFill>
                  <a:schemeClr val="bg1"/>
                </a:solidFill>
                <a:sym typeface="Alibaba PuHuiTi 2 55 Regular"/>
              </a:endParaRPr>
            </a:p>
          </p:txBody>
        </p:sp>
      </p:grpSp>
      <p:sp>
        <p:nvSpPr>
          <p:cNvPr id="31" name="高性能的数据存取能力…">
            <a:extLst>
              <a:ext uri="{FF2B5EF4-FFF2-40B4-BE49-F238E27FC236}">
                <a16:creationId xmlns:a16="http://schemas.microsoft.com/office/drawing/2014/main" id="{00CAFD00-2505-C81B-61CF-870D5608A98B}"/>
              </a:ext>
            </a:extLst>
          </p:cNvPr>
          <p:cNvSpPr txBox="1"/>
          <p:nvPr/>
        </p:nvSpPr>
        <p:spPr>
          <a:xfrm>
            <a:off x="6322590" y="3600941"/>
            <a:ext cx="2505876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102870">
              <a:lnSpc>
                <a:spcPct val="120000"/>
              </a:lnSpc>
              <a:defRPr sz="2000">
                <a:solidFill>
                  <a:srgbClr val="53585F"/>
                </a:solidFill>
              </a:defRPr>
            </a:pPr>
            <a:r>
              <a:rPr lang="zh-CN" altLang="en-US" sz="1050" dirty="0"/>
              <a:t>本地</a:t>
            </a:r>
            <a:r>
              <a:rPr lang="en-US" altLang="zh-CN" sz="1050" dirty="0"/>
              <a:t>TSDB</a:t>
            </a:r>
            <a:r>
              <a:rPr lang="zh-CN" altLang="en-US" sz="1050" dirty="0"/>
              <a:t>持久化存储，指标保留时间更长</a:t>
            </a:r>
            <a:endParaRPr lang="en-US" altLang="zh-CN" sz="1050" dirty="0"/>
          </a:p>
          <a:p>
            <a:pPr defTabSz="102870">
              <a:lnSpc>
                <a:spcPct val="120000"/>
              </a:lnSpc>
              <a:defRPr sz="2000">
                <a:solidFill>
                  <a:srgbClr val="53585F"/>
                </a:solidFill>
              </a:defRPr>
            </a:pPr>
            <a:r>
              <a:rPr lang="zh-CN" altLang="en-US" sz="1050" dirty="0"/>
              <a:t>支持更稳定的资源超卖策略</a:t>
            </a:r>
            <a:r>
              <a:rPr lang="en-US" altLang="zh-CN" sz="1050" dirty="0"/>
              <a:t>(Mid Priority)</a:t>
            </a:r>
            <a:endParaRPr sz="1050" dirty="0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124A629D-20A8-06F9-C63F-1DFE5A0D444A}"/>
              </a:ext>
            </a:extLst>
          </p:cNvPr>
          <p:cNvSpPr/>
          <p:nvPr/>
        </p:nvSpPr>
        <p:spPr>
          <a:xfrm>
            <a:off x="509761" y="1789785"/>
            <a:ext cx="1426906" cy="455965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9050" tIns="19050" rIns="19050" bIns="19050" numCol="1" spcCol="38100" rtlCol="0" anchor="t">
            <a:normAutofit/>
          </a:bodyPr>
          <a:lstStyle/>
          <a:p>
            <a:pPr algn="ctr" defTabSz="914376" hangingPunct="0"/>
            <a:r>
              <a:rPr lang="en-US" altLang="zh-CN" sz="900" dirty="0" err="1">
                <a:solidFill>
                  <a:srgbClr val="5E5E5E"/>
                </a:solidFill>
                <a:sym typeface="Alibaba PuHuiTi 2 55 Regular"/>
              </a:rPr>
              <a:t>Containerd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4CF959B0-2A1F-380C-29D3-6C56BAECCE6A}"/>
              </a:ext>
            </a:extLst>
          </p:cNvPr>
          <p:cNvSpPr/>
          <p:nvPr/>
        </p:nvSpPr>
        <p:spPr>
          <a:xfrm>
            <a:off x="759636" y="1989956"/>
            <a:ext cx="927156" cy="195798"/>
          </a:xfrm>
          <a:prstGeom prst="round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rmAutofit/>
          </a:bodyPr>
          <a:lstStyle/>
          <a:p>
            <a:pPr algn="ctr" defTabSz="914376" hangingPunct="0"/>
            <a:r>
              <a:rPr lang="en-US" altLang="zh-CN" sz="900" dirty="0">
                <a:solidFill>
                  <a:schemeClr val="bg1"/>
                </a:solidFill>
                <a:sym typeface="Alibaba PuHuiTi 2 55 Regular"/>
              </a:rPr>
              <a:t>NRI Server</a:t>
            </a:r>
            <a:endParaRPr lang="zh-CN" altLang="en-US" sz="900" dirty="0">
              <a:solidFill>
                <a:schemeClr val="bg1"/>
              </a:solidFill>
              <a:sym typeface="Alibaba PuHuiTi 2 55 Regular"/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6BA13736-5AA5-4667-C94F-C49D50793035}"/>
              </a:ext>
            </a:extLst>
          </p:cNvPr>
          <p:cNvSpPr/>
          <p:nvPr/>
        </p:nvSpPr>
        <p:spPr>
          <a:xfrm>
            <a:off x="509761" y="2356296"/>
            <a:ext cx="1426906" cy="455965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9050" tIns="19050" rIns="19050" bIns="19050" numCol="1" spcCol="38100" rtlCol="0" anchor="b">
            <a:normAutofit/>
          </a:bodyPr>
          <a:lstStyle/>
          <a:p>
            <a:pPr algn="ctr" defTabSz="914376" hangingPunct="0"/>
            <a:r>
              <a:rPr lang="en-US" altLang="zh-CN" sz="900" dirty="0" err="1">
                <a:solidFill>
                  <a:srgbClr val="5E5E5E"/>
                </a:solidFill>
                <a:sym typeface="Alibaba PuHuiTi 2 55 Regular"/>
              </a:rPr>
              <a:t>Koordlet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ECE0961E-0C89-474D-5BB6-AD6CFBD3BDF6}"/>
              </a:ext>
            </a:extLst>
          </p:cNvPr>
          <p:cNvSpPr/>
          <p:nvPr/>
        </p:nvSpPr>
        <p:spPr>
          <a:xfrm>
            <a:off x="759636" y="2429306"/>
            <a:ext cx="927156" cy="195798"/>
          </a:xfrm>
          <a:prstGeom prst="round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rmAutofit/>
          </a:bodyPr>
          <a:lstStyle/>
          <a:p>
            <a:pPr algn="ctr" defTabSz="914376" hangingPunct="0"/>
            <a:r>
              <a:rPr lang="en-US" altLang="zh-CN" sz="900" dirty="0">
                <a:solidFill>
                  <a:schemeClr val="bg1"/>
                </a:solidFill>
                <a:sym typeface="Alibaba PuHuiTi 2 55 Regular"/>
              </a:rPr>
              <a:t>NRI Plugins</a:t>
            </a:r>
            <a:endParaRPr lang="zh-CN" altLang="en-US" sz="900" dirty="0">
              <a:solidFill>
                <a:schemeClr val="bg1"/>
              </a:solidFill>
              <a:sym typeface="Alibaba PuHuiTi 2 55 Regular"/>
            </a:endParaRP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D52DED6D-2CBB-332F-D8CF-74CCD2BDD7F9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1223214" y="2185754"/>
            <a:ext cx="0" cy="243552"/>
          </a:xfrm>
          <a:prstGeom prst="straightConnector1">
            <a:avLst/>
          </a:prstGeom>
          <a:noFill/>
          <a:ln w="34925" cap="flat">
            <a:solidFill>
              <a:schemeClr val="accent1"/>
            </a:solidFill>
            <a:prstDash val="solid"/>
            <a:round/>
            <a:headEnd type="stealth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7" name="高性能的数据存取能力…">
            <a:extLst>
              <a:ext uri="{FF2B5EF4-FFF2-40B4-BE49-F238E27FC236}">
                <a16:creationId xmlns:a16="http://schemas.microsoft.com/office/drawing/2014/main" id="{7E5F8C78-1161-D812-A5F6-50559A8B88CB}"/>
              </a:ext>
            </a:extLst>
          </p:cNvPr>
          <p:cNvSpPr txBox="1"/>
          <p:nvPr/>
        </p:nvSpPr>
        <p:spPr>
          <a:xfrm>
            <a:off x="2123393" y="2333757"/>
            <a:ext cx="2505876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102870">
              <a:lnSpc>
                <a:spcPct val="120000"/>
              </a:lnSpc>
              <a:defRPr sz="2000">
                <a:solidFill>
                  <a:srgbClr val="53585F"/>
                </a:solidFill>
              </a:defRPr>
            </a:pPr>
            <a:r>
              <a:rPr lang="zh-CN" altLang="en-US" sz="1050" dirty="0"/>
              <a:t>可定制</a:t>
            </a:r>
            <a:r>
              <a:rPr lang="en-US" altLang="zh-CN" sz="1050" dirty="0"/>
              <a:t>/</a:t>
            </a:r>
            <a:r>
              <a:rPr lang="zh-CN" altLang="en-US" sz="1050" dirty="0"/>
              <a:t>可插拔的扩展插件</a:t>
            </a:r>
            <a:endParaRPr lang="en-US" altLang="zh-CN" sz="1050" dirty="0"/>
          </a:p>
          <a:p>
            <a:pPr defTabSz="102870">
              <a:lnSpc>
                <a:spcPct val="120000"/>
              </a:lnSpc>
              <a:defRPr sz="2000">
                <a:solidFill>
                  <a:srgbClr val="53585F"/>
                </a:solidFill>
              </a:defRPr>
            </a:pPr>
            <a:r>
              <a:rPr lang="zh-CN" altLang="en-US" sz="1050" dirty="0"/>
              <a:t>非侵入式，无缝接入</a:t>
            </a:r>
            <a:r>
              <a:rPr lang="en-US" altLang="zh-CN" sz="1050" dirty="0" err="1"/>
              <a:t>Containerd</a:t>
            </a:r>
            <a:r>
              <a:rPr lang="zh-CN" altLang="en-US" sz="1050" dirty="0"/>
              <a:t>架构生态</a:t>
            </a:r>
            <a:endParaRPr lang="en-US" altLang="zh-CN" sz="1050" dirty="0"/>
          </a:p>
        </p:txBody>
      </p:sp>
      <p:sp>
        <p:nvSpPr>
          <p:cNvPr id="38" name="IT基础设施云化">
            <a:extLst>
              <a:ext uri="{FF2B5EF4-FFF2-40B4-BE49-F238E27FC236}">
                <a16:creationId xmlns:a16="http://schemas.microsoft.com/office/drawing/2014/main" id="{E4496E50-2939-BBF6-2EEF-7FA22FC752D8}"/>
              </a:ext>
            </a:extLst>
          </p:cNvPr>
          <p:cNvSpPr txBox="1"/>
          <p:nvPr/>
        </p:nvSpPr>
        <p:spPr>
          <a:xfrm>
            <a:off x="2732603" y="1262415"/>
            <a:ext cx="4109030" cy="309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0583" tIns="10583" rIns="10583" bIns="10583" anchor="ctr">
            <a:spAutoFit/>
          </a:bodyPr>
          <a:lstStyle>
            <a:lvl1pPr defTabSz="458609">
              <a:defRPr sz="5000">
                <a:solidFill>
                  <a:srgbClr val="0033CC"/>
                </a:solidFill>
                <a:latin typeface="Alibaba PuHuiTi 2 85 Bold"/>
                <a:ea typeface="Alibaba PuHuiTi 2 85 Bold"/>
                <a:cs typeface="Alibaba PuHuiTi 2 85 Bold"/>
                <a:sym typeface="Alibaba PuHuiTi 2 85 Bold"/>
              </a:defRPr>
            </a:lvl1pPr>
          </a:lstStyle>
          <a:p>
            <a:r>
              <a:rPr lang="zh-CN" altLang="en-US" sz="1875" dirty="0"/>
              <a:t>成员来自各行各业、积极参与贡献方案</a:t>
            </a:r>
            <a:endParaRPr sz="1875" dirty="0"/>
          </a:p>
        </p:txBody>
      </p:sp>
      <p:sp>
        <p:nvSpPr>
          <p:cNvPr id="39" name="IT基础设施云化">
            <a:extLst>
              <a:ext uri="{FF2B5EF4-FFF2-40B4-BE49-F238E27FC236}">
                <a16:creationId xmlns:a16="http://schemas.microsoft.com/office/drawing/2014/main" id="{F74BD0CB-0922-C164-FEC9-0DC6D4291591}"/>
              </a:ext>
            </a:extLst>
          </p:cNvPr>
          <p:cNvSpPr txBox="1"/>
          <p:nvPr/>
        </p:nvSpPr>
        <p:spPr>
          <a:xfrm>
            <a:off x="4565862" y="4517142"/>
            <a:ext cx="1784804" cy="309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0583" tIns="10583" rIns="10583" bIns="10583" anchor="ctr">
            <a:spAutoFit/>
          </a:bodyPr>
          <a:lstStyle>
            <a:lvl1pPr defTabSz="458609">
              <a:defRPr sz="5000">
                <a:solidFill>
                  <a:srgbClr val="0033CC"/>
                </a:solidFill>
                <a:latin typeface="Alibaba PuHuiTi 2 85 Bold"/>
                <a:ea typeface="Alibaba PuHuiTi 2 85 Bold"/>
                <a:cs typeface="Alibaba PuHuiTi 2 85 Bold"/>
                <a:sym typeface="Alibaba PuHuiTi 2 85 Bold"/>
              </a:defRPr>
            </a:lvl1pPr>
          </a:lstStyle>
          <a:p>
            <a:r>
              <a:rPr lang="en-US" altLang="zh-CN" sz="1875" dirty="0"/>
              <a:t>CNCF</a:t>
            </a:r>
            <a:r>
              <a:rPr lang="zh-CN" altLang="en-US" sz="1875" dirty="0"/>
              <a:t> </a:t>
            </a:r>
            <a:r>
              <a:rPr lang="en-US" altLang="zh-CN" sz="1875" dirty="0" err="1"/>
              <a:t>Sandox</a:t>
            </a:r>
            <a:r>
              <a:rPr lang="zh-CN" altLang="en-US" sz="1875" dirty="0"/>
              <a:t>项目</a:t>
            </a:r>
            <a:endParaRPr sz="1875" dirty="0"/>
          </a:p>
        </p:txBody>
      </p:sp>
      <p:sp>
        <p:nvSpPr>
          <p:cNvPr id="40" name="高性能的数据存取能力…">
            <a:extLst>
              <a:ext uri="{FF2B5EF4-FFF2-40B4-BE49-F238E27FC236}">
                <a16:creationId xmlns:a16="http://schemas.microsoft.com/office/drawing/2014/main" id="{B6A16DE7-1352-8F54-814C-D4E504D24035}"/>
              </a:ext>
            </a:extLst>
          </p:cNvPr>
          <p:cNvSpPr txBox="1"/>
          <p:nvPr/>
        </p:nvSpPr>
        <p:spPr>
          <a:xfrm>
            <a:off x="2123393" y="3600942"/>
            <a:ext cx="2505876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102870">
              <a:lnSpc>
                <a:spcPct val="120000"/>
              </a:lnSpc>
              <a:defRPr sz="2000">
                <a:solidFill>
                  <a:srgbClr val="53585F"/>
                </a:solidFill>
              </a:defRPr>
            </a:pPr>
            <a:r>
              <a:rPr lang="zh-CN" altLang="en-US" sz="1050" dirty="0"/>
              <a:t>面向多租户的树形结构</a:t>
            </a:r>
            <a:r>
              <a:rPr lang="en-US" altLang="zh-CN" sz="1050" dirty="0"/>
              <a:t>Quota</a:t>
            </a:r>
            <a:r>
              <a:rPr lang="zh-CN" altLang="en-US" sz="1050" dirty="0"/>
              <a:t>分组</a:t>
            </a:r>
            <a:endParaRPr lang="en-US" altLang="zh-CN" sz="1050" dirty="0"/>
          </a:p>
          <a:p>
            <a:pPr defTabSz="102870">
              <a:lnSpc>
                <a:spcPct val="120000"/>
              </a:lnSpc>
              <a:defRPr sz="2000">
                <a:solidFill>
                  <a:srgbClr val="53585F"/>
                </a:solidFill>
              </a:defRPr>
            </a:pPr>
            <a:r>
              <a:rPr lang="zh-CN" altLang="en-US" sz="1050" dirty="0"/>
              <a:t>租户间资源公平性借用和抢占</a:t>
            </a:r>
            <a:endParaRPr lang="en-US" altLang="zh-CN" sz="1050" dirty="0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BE457258-AC3E-343B-8A32-8E559120EE21}"/>
              </a:ext>
            </a:extLst>
          </p:cNvPr>
          <p:cNvSpPr/>
          <p:nvPr/>
        </p:nvSpPr>
        <p:spPr>
          <a:xfrm>
            <a:off x="1035330" y="3158580"/>
            <a:ext cx="567825" cy="195798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algn="ctr" defTabSz="914376" hangingPunct="0"/>
            <a:r>
              <a:rPr lang="en-US" altLang="zh-CN" sz="900" dirty="0">
                <a:solidFill>
                  <a:srgbClr val="5E5E5E"/>
                </a:solidFill>
                <a:sym typeface="Alibaba PuHuiTi 2 55 Regular"/>
              </a:rPr>
              <a:t>root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5F4195AC-02A1-D956-4CD3-DB01E31BDA86}"/>
              </a:ext>
            </a:extLst>
          </p:cNvPr>
          <p:cNvSpPr/>
          <p:nvPr/>
        </p:nvSpPr>
        <p:spPr>
          <a:xfrm>
            <a:off x="661779" y="3566366"/>
            <a:ext cx="568212" cy="195798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algn="ctr" defTabSz="914376" hangingPunct="0"/>
            <a:r>
              <a:rPr lang="en-US" altLang="zh-CN" sz="900" dirty="0">
                <a:solidFill>
                  <a:srgbClr val="5E5E5E"/>
                </a:solidFill>
                <a:sym typeface="Alibaba PuHuiTi 2 55 Regular"/>
              </a:rPr>
              <a:t>parent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B52012C4-29E2-A337-037A-95385F82E55F}"/>
              </a:ext>
            </a:extLst>
          </p:cNvPr>
          <p:cNvSpPr/>
          <p:nvPr/>
        </p:nvSpPr>
        <p:spPr>
          <a:xfrm>
            <a:off x="304523" y="3924490"/>
            <a:ext cx="568212" cy="195798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algn="ctr" defTabSz="914376" hangingPunct="0"/>
            <a:r>
              <a:rPr lang="en-US" altLang="zh-CN" sz="900" dirty="0">
                <a:solidFill>
                  <a:srgbClr val="5E5E5E"/>
                </a:solidFill>
                <a:sym typeface="Alibaba PuHuiTi 2 55 Regular"/>
              </a:rPr>
              <a:t>child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9D6CEFDD-CA7D-988F-CE97-C00F74D26B76}"/>
              </a:ext>
            </a:extLst>
          </p:cNvPr>
          <p:cNvSpPr/>
          <p:nvPr/>
        </p:nvSpPr>
        <p:spPr>
          <a:xfrm>
            <a:off x="1392586" y="3574428"/>
            <a:ext cx="568212" cy="195798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algn="ctr" defTabSz="914376" hangingPunct="0"/>
            <a:r>
              <a:rPr lang="en-US" altLang="zh-CN" sz="900" dirty="0">
                <a:solidFill>
                  <a:srgbClr val="5E5E5E"/>
                </a:solidFill>
                <a:sym typeface="Alibaba PuHuiTi 2 55 Regular"/>
              </a:rPr>
              <a:t>parent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30EFB5E4-AF8D-93AC-F259-219A888970BE}"/>
              </a:ext>
            </a:extLst>
          </p:cNvPr>
          <p:cNvSpPr/>
          <p:nvPr/>
        </p:nvSpPr>
        <p:spPr>
          <a:xfrm>
            <a:off x="1035330" y="3924491"/>
            <a:ext cx="568212" cy="195798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algn="ctr" defTabSz="914376" hangingPunct="0"/>
            <a:r>
              <a:rPr lang="en-US" altLang="zh-CN" sz="900" dirty="0">
                <a:solidFill>
                  <a:srgbClr val="5E5E5E"/>
                </a:solidFill>
                <a:sym typeface="Alibaba PuHuiTi 2 55 Regular"/>
              </a:rPr>
              <a:t>child</a:t>
            </a:r>
            <a:endParaRPr lang="zh-CN" altLang="en-US" sz="900" dirty="0">
              <a:solidFill>
                <a:srgbClr val="5E5E5E"/>
              </a:solidFill>
              <a:sym typeface="Alibaba PuHuiTi 2 55 Regular"/>
            </a:endParaRP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2DAD7354-EF20-F1FE-3EC3-AA81D1F55279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 flipH="1">
            <a:off x="945885" y="3354378"/>
            <a:ext cx="373358" cy="211988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9385D14B-4AFF-BCDF-D520-37093EEB2A7F}"/>
              </a:ext>
            </a:extLst>
          </p:cNvPr>
          <p:cNvCxnSpPr>
            <a:cxnSpLocks/>
            <a:stCxn id="41" idx="2"/>
            <a:endCxn id="44" idx="0"/>
          </p:cNvCxnSpPr>
          <p:nvPr/>
        </p:nvCxnSpPr>
        <p:spPr>
          <a:xfrm>
            <a:off x="1319243" y="3354378"/>
            <a:ext cx="357449" cy="22005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D93970CD-1105-5599-9726-1D0F50DFBE46}"/>
              </a:ext>
            </a:extLst>
          </p:cNvPr>
          <p:cNvCxnSpPr>
            <a:stCxn id="42" idx="2"/>
            <a:endCxn id="43" idx="0"/>
          </p:cNvCxnSpPr>
          <p:nvPr/>
        </p:nvCxnSpPr>
        <p:spPr>
          <a:xfrm flipH="1">
            <a:off x="588629" y="3762164"/>
            <a:ext cx="357256" cy="162326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653293E7-9A9A-FB7F-F150-0ABCCB5723FD}"/>
              </a:ext>
            </a:extLst>
          </p:cNvPr>
          <p:cNvCxnSpPr>
            <a:stCxn id="42" idx="2"/>
            <a:endCxn id="45" idx="0"/>
          </p:cNvCxnSpPr>
          <p:nvPr/>
        </p:nvCxnSpPr>
        <p:spPr>
          <a:xfrm>
            <a:off x="945885" y="3762164"/>
            <a:ext cx="373551" cy="162327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C183F137-B225-2590-D49F-21640FA0958D}"/>
              </a:ext>
            </a:extLst>
          </p:cNvPr>
          <p:cNvSpPr txBox="1"/>
          <p:nvPr/>
        </p:nvSpPr>
        <p:spPr>
          <a:xfrm>
            <a:off x="4406886" y="4859043"/>
            <a:ext cx="3546933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zh-CN" sz="1200" dirty="0">
                <a:solidFill>
                  <a:schemeClr val="bg2"/>
                </a:solidFill>
              </a:rPr>
              <a:t>https://</a:t>
            </a:r>
            <a:r>
              <a:rPr lang="en" altLang="zh-CN" sz="1200" dirty="0" err="1">
                <a:solidFill>
                  <a:schemeClr val="bg2"/>
                </a:solidFill>
              </a:rPr>
              <a:t>koordinator.sh</a:t>
            </a:r>
            <a:r>
              <a:rPr lang="en" altLang="zh-CN" sz="1200" dirty="0">
                <a:solidFill>
                  <a:schemeClr val="bg2"/>
                </a:solidFill>
              </a:rPr>
              <a:t>/</a:t>
            </a:r>
            <a:r>
              <a:rPr lang="en" altLang="zh-CN" sz="1200" dirty="0" err="1">
                <a:solidFill>
                  <a:schemeClr val="bg2"/>
                </a:solidFill>
              </a:rPr>
              <a:t>zh</a:t>
            </a:r>
            <a:r>
              <a:rPr lang="en" altLang="zh-CN" sz="1200" dirty="0">
                <a:solidFill>
                  <a:schemeClr val="bg2"/>
                </a:solidFill>
              </a:rPr>
              <a:t>-Hans/blog/release-v1.5.0/</a:t>
            </a:r>
            <a:endParaRPr lang="zh-CN" altLang="en-US" sz="1200" dirty="0">
              <a:solidFill>
                <a:schemeClr val="bg2"/>
              </a:solidFill>
            </a:endParaRPr>
          </a:p>
        </p:txBody>
      </p:sp>
      <p:pic>
        <p:nvPicPr>
          <p:cNvPr id="51" name="Picture 2">
            <a:extLst>
              <a:ext uri="{FF2B5EF4-FFF2-40B4-BE49-F238E27FC236}">
                <a16:creationId xmlns:a16="http://schemas.microsoft.com/office/drawing/2014/main" id="{47F0CB4A-86CF-457D-79AD-0609A93F0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667" y="4589406"/>
            <a:ext cx="2320428" cy="44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5185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8999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QA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866056-2202-12B0-028B-4080F2F84BBD}"/>
              </a:ext>
            </a:extLst>
          </p:cNvPr>
          <p:cNvSpPr txBox="1"/>
          <p:nvPr/>
        </p:nvSpPr>
        <p:spPr>
          <a:xfrm>
            <a:off x="371948" y="1184979"/>
            <a:ext cx="8400104" cy="38502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更深入介绍一下</a:t>
            </a:r>
            <a:r>
              <a:rPr lang="en-US" altLang="zh-CN" sz="1875" dirty="0">
                <a:solidFill>
                  <a:srgbClr val="1E1E1E"/>
                </a:solidFill>
              </a:rPr>
              <a:t>CPU</a:t>
            </a:r>
            <a:r>
              <a:rPr lang="zh-CN" altLang="en-US" sz="1875" dirty="0">
                <a:solidFill>
                  <a:srgbClr val="1E1E1E"/>
                </a:solidFill>
              </a:rPr>
              <a:t>限流导致在线服务异常的分析方法和解决方案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zh-CN" sz="1125" dirty="0">
                <a:solidFill>
                  <a:srgbClr val="1E1E1E"/>
                </a:solidFill>
                <a:hlinkClick r:id="rId4"/>
              </a:rPr>
              <a:t>https://help.aliyun.com/zh/ack/ack-managed-and-ack-dedicated/user-guide/cpu-burst</a:t>
            </a:r>
            <a:endParaRPr lang="en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80" dirty="0">
                <a:solidFill>
                  <a:srgbClr val="1E1E1E"/>
                </a:solidFill>
              </a:rPr>
              <a:t>更深入介绍一下</a:t>
            </a:r>
            <a:r>
              <a:rPr lang="en" altLang="zh-CN" sz="1880" dirty="0">
                <a:solidFill>
                  <a:srgbClr val="1E1E1E"/>
                </a:solidFill>
              </a:rPr>
              <a:t>CPU</a:t>
            </a:r>
            <a:r>
              <a:rPr lang="zh-CN" altLang="en-US" sz="1880" dirty="0">
                <a:solidFill>
                  <a:srgbClr val="1E1E1E"/>
                </a:solidFill>
              </a:rPr>
              <a:t>调度干扰的分析方法和解决方案</a:t>
            </a: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识别方法：系统指标，</a:t>
            </a:r>
            <a:r>
              <a:rPr lang="en-US" altLang="zh-CN" sz="1125" dirty="0" err="1">
                <a:solidFill>
                  <a:srgbClr val="1E1E1E"/>
                </a:solidFill>
              </a:rPr>
              <a:t>cpu.schedinfo</a:t>
            </a:r>
            <a:r>
              <a:rPr lang="zh-CN" altLang="en-US" sz="1125" dirty="0">
                <a:solidFill>
                  <a:srgbClr val="1E1E1E"/>
                </a:solidFill>
              </a:rPr>
              <a:t>，调度延迟等指标，</a:t>
            </a:r>
            <a:r>
              <a:rPr lang="en-US" altLang="zh-CN" sz="1125" dirty="0">
                <a:solidFill>
                  <a:srgbClr val="1E1E1E"/>
                </a:solidFill>
              </a:rPr>
              <a:t>L3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cache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>
                <a:solidFill>
                  <a:srgbClr val="1E1E1E"/>
                </a:solidFill>
              </a:rPr>
              <a:t>miss</a:t>
            </a:r>
            <a:r>
              <a:rPr lang="zh-CN" altLang="en-US" sz="1125" dirty="0">
                <a:solidFill>
                  <a:srgbClr val="1E1E1E"/>
                </a:solidFill>
              </a:rPr>
              <a:t>率等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解决方案：基本通过绑核</a:t>
            </a:r>
            <a:r>
              <a:rPr lang="en-US" altLang="zh-CN" sz="1125" dirty="0">
                <a:solidFill>
                  <a:srgbClr val="1E1E1E"/>
                </a:solidFill>
              </a:rPr>
              <a:t>+</a:t>
            </a:r>
            <a:r>
              <a:rPr lang="en-US" altLang="zh-CN" sz="1125" dirty="0" err="1">
                <a:solidFill>
                  <a:srgbClr val="1E1E1E"/>
                </a:solidFill>
              </a:rPr>
              <a:t>bvt</a:t>
            </a:r>
            <a:r>
              <a:rPr lang="zh-CN" altLang="en-US" sz="1125" dirty="0">
                <a:solidFill>
                  <a:srgbClr val="1E1E1E"/>
                </a:solidFill>
              </a:rPr>
              <a:t>调度优化可以解决的七七八八，剩下的就是基于负载的调度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80" dirty="0">
                <a:solidFill>
                  <a:srgbClr val="1E1E1E"/>
                </a:solidFill>
              </a:rPr>
              <a:t>更深入介绍一下调度优先级反转</a:t>
            </a: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分析方法：内核</a:t>
            </a:r>
            <a:r>
              <a:rPr lang="en-US" altLang="zh-CN" sz="1125" dirty="0">
                <a:solidFill>
                  <a:srgbClr val="1E1E1E"/>
                </a:solidFill>
              </a:rPr>
              <a:t>core</a:t>
            </a:r>
            <a:r>
              <a:rPr lang="zh-CN" altLang="en-US" sz="1125" dirty="0">
                <a:solidFill>
                  <a:srgbClr val="1E1E1E"/>
                </a:solidFill>
              </a:rPr>
              <a:t>文件。</a:t>
            </a:r>
            <a:r>
              <a:rPr lang="en-US" altLang="zh-CN" sz="1125" dirty="0" err="1">
                <a:solidFill>
                  <a:srgbClr val="1E1E1E"/>
                </a:solidFill>
              </a:rPr>
              <a:t>Sysprobe</a:t>
            </a:r>
            <a:r>
              <a:rPr lang="zh-CN" altLang="en-US" sz="1125" dirty="0">
                <a:solidFill>
                  <a:srgbClr val="1E1E1E"/>
                </a:solidFill>
              </a:rPr>
              <a:t> </a:t>
            </a:r>
            <a:r>
              <a:rPr lang="en-US" altLang="zh-CN" sz="1125" dirty="0" err="1">
                <a:solidFill>
                  <a:srgbClr val="1E1E1E"/>
                </a:solidFill>
              </a:rPr>
              <a:t>ebpf</a:t>
            </a:r>
            <a:r>
              <a:rPr lang="zh-CN" altLang="en-US" sz="1125" dirty="0">
                <a:solidFill>
                  <a:srgbClr val="1E1E1E"/>
                </a:solidFill>
              </a:rPr>
              <a:t>抓一些系统调用，非</a:t>
            </a:r>
            <a:r>
              <a:rPr lang="en-US" altLang="zh-CN" sz="1125" dirty="0">
                <a:solidFill>
                  <a:srgbClr val="1E1E1E"/>
                </a:solidFill>
              </a:rPr>
              <a:t>block</a:t>
            </a:r>
            <a:r>
              <a:rPr lang="zh-CN" altLang="en-US" sz="1125" dirty="0">
                <a:solidFill>
                  <a:srgbClr val="1E1E1E"/>
                </a:solidFill>
              </a:rPr>
              <a:t> 的</a:t>
            </a:r>
            <a:r>
              <a:rPr lang="en-US" altLang="zh-CN" sz="1125" dirty="0">
                <a:solidFill>
                  <a:srgbClr val="1E1E1E"/>
                </a:solidFill>
              </a:rPr>
              <a:t>latency</a:t>
            </a:r>
            <a:r>
              <a:rPr lang="zh-CN" altLang="en-US" sz="1125" dirty="0">
                <a:solidFill>
                  <a:srgbClr val="1E1E1E"/>
                </a:solidFill>
              </a:rPr>
              <a:t>等系统指标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25" dirty="0">
                <a:solidFill>
                  <a:srgbClr val="1E1E1E"/>
                </a:solidFill>
              </a:rPr>
              <a:t>解决方案：优化离线压制策略，及时驱逐离线，避免离线长时间持所饿死</a:t>
            </a:r>
            <a:endParaRPr lang="en-US" altLang="zh-CN" sz="112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1125" dirty="0">
              <a:solidFill>
                <a:srgbClr val="1E1E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5860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58445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9939" y="-153228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QA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866056-2202-12B0-028B-4080F2F84BBD}"/>
              </a:ext>
            </a:extLst>
          </p:cNvPr>
          <p:cNvSpPr txBox="1"/>
          <p:nvPr/>
        </p:nvSpPr>
        <p:spPr>
          <a:xfrm>
            <a:off x="120985" y="964244"/>
            <a:ext cx="8902030" cy="54784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75" dirty="0">
                <a:solidFill>
                  <a:srgbClr val="1E1E1E"/>
                </a:solidFill>
              </a:rPr>
              <a:t>在</a:t>
            </a:r>
            <a:r>
              <a:rPr lang="en" altLang="zh-CN" sz="1875" dirty="0">
                <a:solidFill>
                  <a:srgbClr val="1E1E1E"/>
                </a:solidFill>
              </a:rPr>
              <a:t>yarn-nm</a:t>
            </a:r>
            <a:r>
              <a:rPr lang="zh-CN" altLang="en-US" sz="1875" dirty="0">
                <a:solidFill>
                  <a:srgbClr val="1E1E1E"/>
                </a:solidFill>
              </a:rPr>
              <a:t>与应用混合部署的场景下，</a:t>
            </a:r>
            <a:r>
              <a:rPr lang="en" altLang="zh-CN" sz="1875" dirty="0">
                <a:solidFill>
                  <a:srgbClr val="1E1E1E"/>
                </a:solidFill>
              </a:rPr>
              <a:t>yarn-nm</a:t>
            </a:r>
            <a:r>
              <a:rPr lang="zh-CN" altLang="en-US" sz="1875" dirty="0">
                <a:solidFill>
                  <a:srgbClr val="1E1E1E"/>
                </a:solidFill>
              </a:rPr>
              <a:t>存在自研，运维场景怎么兼容</a:t>
            </a:r>
            <a:endParaRPr lang="en-US" altLang="zh-CN" sz="187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30" dirty="0">
                <a:solidFill>
                  <a:srgbClr val="1E1E1E"/>
                </a:solidFill>
              </a:rPr>
              <a:t>代码无需更改，运维场景主要关注：</a:t>
            </a:r>
            <a:r>
              <a:rPr lang="en-US" altLang="zh-CN" sz="1130" dirty="0">
                <a:solidFill>
                  <a:srgbClr val="1E1E1E"/>
                </a:solidFill>
              </a:rPr>
              <a:t>nm</a:t>
            </a:r>
            <a:r>
              <a:rPr lang="zh-CN" altLang="en-US" sz="1130" dirty="0">
                <a:solidFill>
                  <a:srgbClr val="1E1E1E"/>
                </a:solidFill>
              </a:rPr>
              <a:t>发版与升级，</a:t>
            </a:r>
            <a:r>
              <a:rPr lang="en-US" altLang="zh-CN" sz="1130" dirty="0">
                <a:solidFill>
                  <a:srgbClr val="1E1E1E"/>
                </a:solidFill>
              </a:rPr>
              <a:t>nm</a:t>
            </a:r>
            <a:r>
              <a:rPr lang="zh-CN" altLang="en-US" sz="1130" dirty="0">
                <a:solidFill>
                  <a:srgbClr val="1E1E1E"/>
                </a:solidFill>
              </a:rPr>
              <a:t> </a:t>
            </a:r>
            <a:r>
              <a:rPr lang="en-US" altLang="zh-CN" sz="1130" dirty="0">
                <a:solidFill>
                  <a:srgbClr val="1E1E1E"/>
                </a:solidFill>
              </a:rPr>
              <a:t>Pod</a:t>
            </a:r>
            <a:r>
              <a:rPr lang="zh-CN" altLang="en-US" sz="1130" dirty="0">
                <a:solidFill>
                  <a:srgbClr val="1E1E1E"/>
                </a:solidFill>
              </a:rPr>
              <a:t>会重启，相当于节点挂掉重建，尽量控制升级并发度，尽量保持</a:t>
            </a:r>
            <a:r>
              <a:rPr lang="en-US" altLang="zh-CN" sz="1130" dirty="0">
                <a:solidFill>
                  <a:srgbClr val="1E1E1E"/>
                </a:solidFill>
              </a:rPr>
              <a:t>nm</a:t>
            </a:r>
            <a:r>
              <a:rPr lang="zh-CN" altLang="en-US" sz="1130" dirty="0">
                <a:solidFill>
                  <a:srgbClr val="1E1E1E"/>
                </a:solidFill>
              </a:rPr>
              <a:t> 或者</a:t>
            </a:r>
            <a:r>
              <a:rPr lang="en-US" altLang="zh-CN" sz="1130" dirty="0" err="1">
                <a:solidFill>
                  <a:srgbClr val="1E1E1E"/>
                </a:solidFill>
              </a:rPr>
              <a:t>ip</a:t>
            </a:r>
            <a:r>
              <a:rPr lang="zh-CN" altLang="en-US" sz="1130" dirty="0">
                <a:solidFill>
                  <a:srgbClr val="1E1E1E"/>
                </a:solidFill>
              </a:rPr>
              <a:t>固定，避免多</a:t>
            </a:r>
            <a:r>
              <a:rPr lang="en-US" altLang="zh-CN" sz="1130" dirty="0">
                <a:solidFill>
                  <a:srgbClr val="1E1E1E"/>
                </a:solidFill>
              </a:rPr>
              <a:t>nm</a:t>
            </a:r>
            <a:r>
              <a:rPr lang="zh-CN" altLang="en-US" sz="1130" dirty="0">
                <a:solidFill>
                  <a:srgbClr val="1E1E1E"/>
                </a:solidFill>
              </a:rPr>
              <a:t>多注册，注意节点挂掉上面的</a:t>
            </a:r>
            <a:r>
              <a:rPr lang="en-US" altLang="zh-CN" sz="1130" dirty="0">
                <a:solidFill>
                  <a:srgbClr val="1E1E1E"/>
                </a:solidFill>
              </a:rPr>
              <a:t>task</a:t>
            </a:r>
            <a:r>
              <a:rPr lang="zh-CN" altLang="en-US" sz="1130" dirty="0">
                <a:solidFill>
                  <a:srgbClr val="1E1E1E"/>
                </a:solidFill>
              </a:rPr>
              <a:t>尽可能禁止调度消化完成。扩容是扩</a:t>
            </a:r>
            <a:r>
              <a:rPr lang="en-US" altLang="zh-CN" sz="1130" dirty="0">
                <a:solidFill>
                  <a:srgbClr val="1E1E1E"/>
                </a:solidFill>
              </a:rPr>
              <a:t>nm</a:t>
            </a:r>
            <a:r>
              <a:rPr lang="zh-CN" altLang="en-US" sz="1130" dirty="0">
                <a:solidFill>
                  <a:srgbClr val="1E1E1E"/>
                </a:solidFill>
              </a:rPr>
              <a:t> </a:t>
            </a:r>
            <a:r>
              <a:rPr lang="en-US" altLang="zh-CN" sz="1130" dirty="0">
                <a:solidFill>
                  <a:srgbClr val="1E1E1E"/>
                </a:solidFill>
              </a:rPr>
              <a:t>pod</a:t>
            </a:r>
            <a:r>
              <a:rPr lang="zh-CN" altLang="en-US" sz="1130" dirty="0">
                <a:solidFill>
                  <a:srgbClr val="1E1E1E"/>
                </a:solidFill>
              </a:rPr>
              <a:t>，没办法准确给出资源扩容量，只能相对预估出一个可用离线资源量。</a:t>
            </a:r>
            <a:endParaRPr lang="en-US" altLang="zh-CN" sz="1130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80" dirty="0">
                <a:solidFill>
                  <a:srgbClr val="1E1E1E"/>
                </a:solidFill>
              </a:rPr>
              <a:t>资源超分是否可以结合实际案例业务场景分享一下</a:t>
            </a:r>
            <a:endParaRPr lang="en-US" altLang="zh-CN" sz="1880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30" dirty="0">
                <a:solidFill>
                  <a:srgbClr val="1E1E1E"/>
                </a:solidFill>
              </a:rPr>
              <a:t>经验上来讲，所有在线服务基本都可以超分，一种方式是服务级别的超卖，一种方式是节点方面的资源超卖，推荐服务级别超卖，能够超的更加“准”，首先画像层面需要做服务的精确画像，一个服务他的资源用量峰值要尽可能准确。另外要在</a:t>
            </a:r>
            <a:r>
              <a:rPr lang="en-US" altLang="zh-CN" sz="1130" dirty="0">
                <a:solidFill>
                  <a:srgbClr val="1E1E1E"/>
                </a:solidFill>
              </a:rPr>
              <a:t>PaaS</a:t>
            </a:r>
            <a:r>
              <a:rPr lang="zh-CN" altLang="en-US" sz="1130" dirty="0">
                <a:solidFill>
                  <a:srgbClr val="1E1E1E"/>
                </a:solidFill>
              </a:rPr>
              <a:t>平台侧给业务屏蔽掉是做过超卖的，只体现单价的差异，不体现资源实际分配量。</a:t>
            </a:r>
            <a:endParaRPr lang="en-US" altLang="zh-CN" sz="1130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130" dirty="0">
                <a:solidFill>
                  <a:srgbClr val="1E1E1E"/>
                </a:solidFill>
              </a:rPr>
              <a:t>可能踩的坑：负载不均匀导致画的不准，</a:t>
            </a:r>
            <a:r>
              <a:rPr lang="en-US" altLang="zh-CN" sz="1130" dirty="0">
                <a:solidFill>
                  <a:srgbClr val="1E1E1E"/>
                </a:solidFill>
              </a:rPr>
              <a:t>CPU</a:t>
            </a:r>
            <a:r>
              <a:rPr lang="zh-CN" altLang="en-US" sz="1130" dirty="0">
                <a:solidFill>
                  <a:srgbClr val="1E1E1E"/>
                </a:solidFill>
              </a:rPr>
              <a:t>分层导致画的不准。</a:t>
            </a: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80" dirty="0">
                <a:solidFill>
                  <a:srgbClr val="1E1E1E"/>
                </a:solidFill>
              </a:rPr>
              <a:t>混合部署场景，</a:t>
            </a:r>
            <a:r>
              <a:rPr lang="en-US" altLang="zh-CN" sz="1880" dirty="0" err="1">
                <a:solidFill>
                  <a:srgbClr val="1E1E1E"/>
                </a:solidFill>
              </a:rPr>
              <a:t>flink</a:t>
            </a:r>
            <a:r>
              <a:rPr lang="en-US" altLang="zh-CN" sz="1880" dirty="0">
                <a:solidFill>
                  <a:srgbClr val="1E1E1E"/>
                </a:solidFill>
              </a:rPr>
              <a:t>/spark</a:t>
            </a:r>
            <a:r>
              <a:rPr lang="zh-CN" altLang="en-US" sz="1880" dirty="0">
                <a:solidFill>
                  <a:srgbClr val="1E1E1E"/>
                </a:solidFill>
              </a:rPr>
              <a:t>是怎样的方案呢</a:t>
            </a:r>
            <a:endParaRPr lang="en-US" altLang="zh-CN" sz="1880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sz="1130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1875" dirty="0">
              <a:solidFill>
                <a:srgbClr val="1E1E1E"/>
              </a:solidFill>
            </a:endParaRPr>
          </a:p>
          <a:p>
            <a:pPr marL="171450" indent="-171450" defTabSz="914376" hangingPunct="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1125" dirty="0">
              <a:solidFill>
                <a:srgbClr val="1E1E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9665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2128</TotalTime>
  <Words>3213</Words>
  <Application>Microsoft Macintosh PowerPoint</Application>
  <PresentationFormat>全屏显示(16:9)</PresentationFormat>
  <Paragraphs>473</Paragraphs>
  <Slides>38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2" baseType="lpstr">
      <vt:lpstr>-apple-system</vt:lpstr>
      <vt:lpstr>等线</vt:lpstr>
      <vt:lpstr>Microsoft YaHei</vt:lpstr>
      <vt:lpstr>Alibaba PuHuiTi 2 85 Bold</vt:lpstr>
      <vt:lpstr>Alibaba PuHuiTi L</vt:lpstr>
      <vt:lpstr>Alibaba PuHuiTi M</vt:lpstr>
      <vt:lpstr>PingFang SC</vt:lpstr>
      <vt:lpstr>Agency FB</vt:lpstr>
      <vt:lpstr>Arial</vt:lpstr>
      <vt:lpstr>Calibri</vt:lpstr>
      <vt:lpstr>Cambria Math</vt:lpstr>
      <vt:lpstr>Helvetica Neue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桑铎(宋泽辉)</cp:lastModifiedBy>
  <cp:revision>333</cp:revision>
  <dcterms:created xsi:type="dcterms:W3CDTF">2025-05-04T08:29:54Z</dcterms:created>
  <dcterms:modified xsi:type="dcterms:W3CDTF">2025-05-12T02:54:36Z</dcterms:modified>
</cp:coreProperties>
</file>